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  <p:sldId id="269" r:id="rId13"/>
    <p:sldId id="267" r:id="rId14"/>
    <p:sldId id="271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A5597-DE8F-4BA0-8B19-CE8A6E918AA2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0A59A-2B42-4E40-8BE7-D45FB3714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0A59A-2B42-4E40-8BE7-D45FB371466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0A59A-2B42-4E40-8BE7-D45FB37146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5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iyushydv19/Urban-Pulse-Smart-City-Mobility-Intelligenc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28600"/>
            <a:ext cx="192024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4688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1984248"/>
            <a:ext cx="6839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Infosys _Smart Urban Mobility and Traffic Intelligence Dashboard Group 1_Batch-1</a:t>
            </a:r>
            <a:endParaRPr sz="5400" b="1" i="0" dirty="0">
              <a:solidFill>
                <a:srgbClr val="FFFF0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75488" y="3182112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B0C8E0"/>
                </a:solidFill>
                <a:latin typeface="Calibri"/>
              </a:rPr>
              <a:t>Presentation </a:t>
            </a:r>
            <a:endParaRPr sz="2800" b="0" i="0" dirty="0">
              <a:solidFill>
                <a:srgbClr val="B0C8E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574243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Piyush 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Pooja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Parul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Premika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Ramita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02920" y="6693408"/>
            <a:ext cx="777240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7890AA"/>
                </a:solidFill>
                <a:latin typeface="Calibri"/>
              </a:rPr>
              <a:t>Mentor: </a:t>
            </a:r>
            <a:r>
              <a:rPr lang="en-US" sz="1150" b="0" i="0" dirty="0">
                <a:solidFill>
                  <a:srgbClr val="7890AA"/>
                </a:solidFill>
                <a:latin typeface="Calibri"/>
              </a:rPr>
              <a:t>Jayasri V</a:t>
            </a:r>
            <a:r>
              <a:rPr sz="1150" b="0" i="0" dirty="0">
                <a:solidFill>
                  <a:srgbClr val="7890AA"/>
                </a:solidFill>
                <a:latin typeface="Calibri"/>
              </a:rPr>
              <a:t>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15600" y="5989320"/>
            <a:ext cx="361188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077CC"/>
                </a:solidFill>
                <a:latin typeface="Calibri"/>
              </a:rPr>
              <a:t>Infosys Springboard</a:t>
            </a:r>
          </a:p>
          <a:p>
            <a:pPr algn="ctr"/>
            <a:r>
              <a:rPr sz="1000" b="0" i="1" dirty="0">
                <a:solidFill>
                  <a:srgbClr val="7890AA"/>
                </a:solidFill>
                <a:latin typeface="Calibri"/>
              </a:rPr>
              <a:t>Data Analytics</a:t>
            </a:r>
            <a:r>
              <a:rPr lang="en-US" sz="1000" b="0" i="1" dirty="0">
                <a:solidFill>
                  <a:srgbClr val="7890AA"/>
                </a:solidFill>
                <a:latin typeface="Calibri"/>
              </a:rPr>
              <a:t> Project</a:t>
            </a:r>
          </a:p>
          <a:p>
            <a:pPr algn="ctr"/>
            <a:r>
              <a:rPr lang="en-US" sz="1100" b="0" i="0" dirty="0">
                <a:solidFill>
                  <a:srgbClr val="7890AA"/>
                </a:solidFill>
                <a:latin typeface="Calibri"/>
              </a:rPr>
              <a:t>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Why does Bengaluru's mobility data need a unified analytical platform?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·  Infosys Springboard  ·  Trial Presentation –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Fragmented Mobility Data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Bengaluru mobility information is spread across multiple datasets covering public transit, traffic, weather, road safety, demographics, and ride-hailing. Each dataset represents a different aspect of the city's transportation system.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The datasets use different schemas, formats, identifiers, data types, and levels of detail. Without proper cleaning and </a:t>
            </a:r>
            <a:r>
              <a:rPr lang="en-US" sz="1400" dirty="0" err="1"/>
              <a:t>standardisation</a:t>
            </a:r>
            <a:r>
              <a:rPr lang="en-US" sz="1400" dirty="0"/>
              <a:t>, combining these sources for analysis becomes difficult and unreliable.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Limited Spatial Understanding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Individual datasets can show specific patterns, but they do not easily reveal relationships between traffic conditions, transit performance, weather, accidents, population characteristics, and travel demand.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No Unified Mobility View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Without an integrated analytical system, it is difficult to obtain a single view of Bengaluru's mobility performance or compare different mobility indicators together for meaningful decision-making.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r>
              <a:rPr lang="en-US" sz="1400" dirty="0">
                <a:solidFill>
                  <a:schemeClr val="bg2"/>
                </a:solidFill>
              </a:rPr>
              <a:t>Build a unified </a:t>
            </a:r>
            <a:r>
              <a:rPr lang="en-US" sz="1400" b="1" dirty="0">
                <a:solidFill>
                  <a:schemeClr val="bg2"/>
                </a:solidFill>
              </a:rPr>
              <a:t>Smart City Mobility Intelligence system</a:t>
            </a:r>
            <a:r>
              <a:rPr lang="en-US" sz="1400" dirty="0">
                <a:solidFill>
                  <a:schemeClr val="bg2"/>
                </a:solidFill>
              </a:rPr>
              <a:t> that integrates mobility, traffic, accident, route, stop, fare and geospatial information to provide </a:t>
            </a:r>
            <a:r>
              <a:rPr lang="en-US" sz="1400" b="1" dirty="0">
                <a:solidFill>
                  <a:schemeClr val="bg2"/>
                </a:solidFill>
              </a:rPr>
              <a:t>interactive, location-based insights into Bengaluru's transportation patterns and support data-driven mobility analysis.</a:t>
            </a:r>
            <a:r>
              <a:rPr sz="1300" b="0" i="0" dirty="0">
                <a:solidFill>
                  <a:schemeClr val="bg2"/>
                </a:solidFill>
                <a:latin typeface="Calibri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Fragmented Data → Data Integration → Multi-Domain Analytics → Actionable Mobility Insights</a:t>
            </a:r>
            <a:endParaRPr sz="1200" b="1" i="1" dirty="0">
              <a:solidFill>
                <a:srgbClr val="0077CC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End-to-end scope of the Urban Pulse Smart City Mobility Intelligence project</a:t>
            </a:r>
            <a:endParaRPr sz="1100" b="0" i="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" y="2340864"/>
            <a:ext cx="24140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Combine Multiple Mobility Datasets</a:t>
            </a:r>
          </a:p>
          <a:p>
            <a:pPr algn="just"/>
            <a:r>
              <a:rPr lang="en-US" sz="1400" dirty="0"/>
              <a:t>Integrate mobility, traffic, transit, route, stop, accident, fare and location-based datasets into a structured analytical model for unified mobility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72968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8269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975104"/>
            <a:ext cx="245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Multi-Type Coverage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2968" y="2386584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Integrate multiple mobility datasets to provide a combined view of trips, routes, stops, traffic conditions, accidents and geographic mobility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34456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44184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340864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Build interactive Power BI dashboards for Geospatial Analytics, Traffic &amp; Road Safety, and Reliability Metrics with filters and KPI cards.</a:t>
            </a:r>
            <a:endParaRPr sz="12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95944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95944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2374171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Analyse</a:t>
            </a:r>
            <a:r>
              <a:rPr lang="en-US" sz="1400" dirty="0"/>
              <a:t> trip demand, stop arrivals, route activity, traffic speed, congestion, incidents, fares and reliability patterns across time and locations.</a:t>
            </a:r>
            <a:endParaRPr sz="12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457432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7432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671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67160" y="1975104"/>
            <a:ext cx="2450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A1A44"/>
                </a:solidFill>
                <a:latin typeface="Calibri"/>
              </a:rPr>
              <a:t>Interactive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585448" y="2340864"/>
            <a:ext cx="18017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Support   interactive exploration of mobility conditions through date, area, ward and station filters, enabling users to examine changing mobility patterns and performance indicators.</a:t>
            </a:r>
            <a:endParaRPr sz="12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Prepared and structured mobility datasets used as the foundation for the Power BI analysis.</a:t>
            </a:r>
            <a:endParaRPr sz="14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Interactive dashboards covering Geospatial Analytics, Traffic &amp; Road Safety, and Reliability Metrics.</a:t>
            </a:r>
            <a:endParaRPr sz="140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Professional presentation documenting the project, datasets, methodology, completed modules, dashboards and key insights.</a:t>
            </a:r>
            <a:endParaRPr sz="1400" b="0" i="0" dirty="0">
              <a:solidFill>
                <a:srgbClr val="708096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5/16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Dataset collection, cleaning and processing, field standardization, table merging, relationship creation and Power BI data modeling.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425196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Geospatial &amp; Transit</a:t>
            </a:r>
            <a:br>
              <a:rPr lang="en-US" sz="1400" b="1" dirty="0"/>
            </a:br>
            <a:r>
              <a:rPr lang="en-US" sz="1400" b="1" dirty="0"/>
              <a:t>Analytics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Geospatial stop distribution, top routes and stops, trip demand trends, stop-arrival analysis and location-based mobility visualization.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Traffic &amp; Road Safety</a:t>
            </a:r>
            <a:br>
              <a:rPr lang="en-US" sz="1400" b="1" dirty="0"/>
            </a:br>
            <a:r>
              <a:rPr lang="en-US" sz="1400" b="1" dirty="0"/>
              <a:t>Analytics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Traffic speed and volume analysis, congestion levels, road-capacity utilization, transit-stop usage and traffic incident analysis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Reliability Metrics</a:t>
            </a:r>
            <a:br>
              <a:rPr lang="en-US" sz="1400" b="1" dirty="0"/>
            </a:br>
            <a:r>
              <a:rPr lang="en-US" sz="1400" b="1" dirty="0"/>
              <a:t>&amp; Mobility Performance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Traffic reliability, ride reliability, weather reliability and safety metrics with accident distribution, zone analysis and traffic conditions over time.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Final Integration</a:t>
            </a:r>
            <a:br>
              <a:rPr lang="en-US" sz="1400" b="1" dirty="0"/>
            </a:br>
            <a:r>
              <a:rPr lang="en-US" sz="1400" b="1" dirty="0"/>
              <a:t>&amp; Dashboard Delivery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/>
              <a:t>Integrated Power BI modules with interactive filters, KPI cards, analytical measures and consolidated mobility insights for presentation and reporting.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6B6D0D-4F54-CDB1-8AB4-9A87BBEA1ADC}"/>
              </a:ext>
            </a:extLst>
          </p:cNvPr>
          <p:cNvSpPr txBox="1"/>
          <p:nvPr/>
        </p:nvSpPr>
        <p:spPr>
          <a:xfrm>
            <a:off x="11430000" y="425791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7CBC4E-CA71-0110-A98D-BBEB04CC1490}"/>
              </a:ext>
            </a:extLst>
          </p:cNvPr>
          <p:cNvSpPr txBox="1"/>
          <p:nvPr/>
        </p:nvSpPr>
        <p:spPr>
          <a:xfrm>
            <a:off x="8787384" y="4257910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AFF870-FBFB-D7D3-752F-E9ADCF2B1344}"/>
              </a:ext>
            </a:extLst>
          </p:cNvPr>
          <p:cNvSpPr txBox="1"/>
          <p:nvPr/>
        </p:nvSpPr>
        <p:spPr>
          <a:xfrm>
            <a:off x="6025896" y="4281024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337EF2-A237-1278-67EB-18CD7595C336}"/>
              </a:ext>
            </a:extLst>
          </p:cNvPr>
          <p:cNvSpPr txBox="1"/>
          <p:nvPr/>
        </p:nvSpPr>
        <p:spPr>
          <a:xfrm>
            <a:off x="3154680" y="4255737"/>
            <a:ext cx="24140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✅ </a:t>
            </a:r>
            <a:r>
              <a:rPr lang="en-US" sz="900" b="1" dirty="0">
                <a:solidFill>
                  <a:schemeClr val="bg1"/>
                </a:solidFill>
              </a:rPr>
              <a:t>Completed</a:t>
            </a:r>
            <a:endParaRPr sz="900" b="1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Collecting, cleaning, integrating, and modeling multi-source urban mobility data for Power BI analytics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4650" y="1234439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Multiple mobility datasets collected covering traffic conditions, trips/routes, stops/stations, accidents, fares and geographic information for Bengaluru.		</a:t>
            </a:r>
            <a:endParaRPr sz="140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368" y="25052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3439" y="2381049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cleaning and preprocessing completed to improve consistency across datasets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8368" y="297971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439" y="2867767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Datasets merged and connected in Power BI to create a unified analytical model 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8713" y="3363165"/>
            <a:ext cx="5248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Relationships created between related tables, including one-to-many relationships, 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939935"/>
            <a:ext cx="52486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Geospatial fields prepared with latitude/longitude and location attributes to support Bengaluru stop distribution, geographic analysis and route-level visualization.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059936"/>
            <a:ext cx="7406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⏭  Next Steps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54456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27724" y="4454664"/>
            <a:ext cx="70225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Finalize the integrated Power BI data model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and validate relationships across mobility, traffic and geospatial tables.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Build Geospatial Mobility Analytics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stop locations, route information and trip movement patterns.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Develop Origin–Destination analysis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to understand major trip flows and frequently used corridors.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Identify high-demand locations and potential congestion hotspots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available trip, arrival and traffic-related information.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Complete Transit Reliability and Traffic Reliability dashboards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using calculated reliability and safety metrics.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Add interactive filtering and drill-down analysis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by date, station/stop, ward and route wherever the available data supports it.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20" y="509320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675120" y="5641848"/>
            <a:ext cx="73152" cy="731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D4DEABA-B3C7-E8F0-B9DE-AC2F1C226E35}"/>
              </a:ext>
            </a:extLst>
          </p:cNvPr>
          <p:cNvSpPr/>
          <p:nvPr/>
        </p:nvSpPr>
        <p:spPr>
          <a:xfrm>
            <a:off x="664122" y="482001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1E6EC2-F068-7BCA-0AF1-ACD087411E64}"/>
              </a:ext>
            </a:extLst>
          </p:cNvPr>
          <p:cNvSpPr/>
          <p:nvPr/>
        </p:nvSpPr>
        <p:spPr>
          <a:xfrm>
            <a:off x="685013" y="5671025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37A67D0-C4B3-07A3-065C-84796591314C}"/>
              </a:ext>
            </a:extLst>
          </p:cNvPr>
          <p:cNvSpPr txBox="1"/>
          <p:nvPr/>
        </p:nvSpPr>
        <p:spPr>
          <a:xfrm>
            <a:off x="802412" y="4703717"/>
            <a:ext cx="5248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Power BI measures created for key indicators such as Total Trips, Total Stops, Total Routes, Total Accidents and Average Fare, enabling dynamic dashboard calculations.</a:t>
            </a:r>
          </a:p>
          <a:p>
            <a:endParaRPr lang="en-US" sz="1400" dirty="0"/>
          </a:p>
          <a:p>
            <a:r>
              <a:rPr lang="en-US" sz="1400" dirty="0"/>
              <a:t>Date filtering and interactive relationships implemented so visuals respond to selected time periods and other dashboard filters.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81D6CCA-C0DB-4966-53C8-E792F587D317}"/>
              </a:ext>
            </a:extLst>
          </p:cNvPr>
          <p:cNvSpPr/>
          <p:nvPr/>
        </p:nvSpPr>
        <p:spPr>
          <a:xfrm>
            <a:off x="6492240" y="1307592"/>
            <a:ext cx="5651814" cy="2583873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B51C8F-6AF2-6F18-87A0-CA215D7EBFE0}"/>
              </a:ext>
            </a:extLst>
          </p:cNvPr>
          <p:cNvSpPr txBox="1"/>
          <p:nvPr/>
        </p:nvSpPr>
        <p:spPr>
          <a:xfrm>
            <a:off x="6646455" y="1507310"/>
            <a:ext cx="5497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DATA SOURCES</a:t>
            </a:r>
          </a:p>
          <a:p>
            <a:r>
              <a:rPr lang="en-US" sz="1400" b="1" dirty="0"/>
              <a:t>Multi-source mobility data</a:t>
            </a:r>
          </a:p>
          <a:p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Traffic &amp; mobility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Trip and route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Stop/station locations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Accident and safety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Fare and travel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Geographic/location attributes</a:t>
            </a:r>
          </a:p>
          <a:p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Geospatial &amp; Transit Analytics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Geographic mobility patterns • Route and stop analysis • Transit reliability &amp; traffic conditions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7/16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186" y="1266444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14341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218" y="1595628"/>
            <a:ext cx="367588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b="1" dirty="0"/>
              <a:t>Bengaluru geospatial mobility dashboard</a:t>
            </a:r>
            <a:r>
              <a:rPr lang="en-US" sz="1400" dirty="0"/>
              <a:t> developed using stop, route and trip-level location data.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Geographic distribution of mobility stops</a:t>
            </a:r>
            <a:r>
              <a:rPr lang="en-US" sz="1400" dirty="0"/>
              <a:t> visualized using latitude and longitude to understand the spatial spread of the network.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Top routes and high-activity stops identified</a:t>
            </a:r>
            <a:r>
              <a:rPr lang="en-US" sz="1400" dirty="0"/>
              <a:t> using trip counts and stop-level activity.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Origin–Destination mobility analysis</a:t>
            </a:r>
            <a:r>
              <a:rPr lang="en-US" sz="1400" dirty="0"/>
              <a:t> developed to examine movement between starting and ending locations/routes.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Temporal trip analysis implemented</a:t>
            </a:r>
            <a:r>
              <a:rPr lang="en-US" sz="1400" dirty="0"/>
              <a:t> using monthly demand and hourly stop-arrival patterns</a:t>
            </a:r>
          </a:p>
          <a:p>
            <a:pPr lvl="0" algn="just"/>
            <a:r>
              <a:rPr lang="en-US" sz="1400" dirty="0"/>
              <a:t>. </a:t>
            </a:r>
          </a:p>
          <a:p>
            <a:pPr lvl="0" algn="just"/>
            <a:r>
              <a:rPr lang="en-US" sz="1400" b="1" dirty="0"/>
              <a:t>Transit reliability metrics dashboard created</a:t>
            </a:r>
            <a:r>
              <a:rPr lang="en-US" sz="1400" dirty="0"/>
              <a:t> covering traffic reliability, ride reliability, weather reliability and safety performance.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6132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9573" y="3410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6296" y="407396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0046" y="491947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825845" y="1261872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Geospatial Mobility &amp; Transit Analytics</a:t>
            </a:r>
            <a:endParaRPr sz="11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D8EA"/>
                </a:solidFill>
                <a:latin typeface="Calibri"/>
              </a:rPr>
              <a:t>Indian </a:t>
            </a:r>
            <a:r>
              <a:rPr sz="800" b="0" i="0" dirty="0" err="1">
                <a:solidFill>
                  <a:srgbClr val="CCD8EA"/>
                </a:solidFill>
                <a:latin typeface="Calibri"/>
              </a:rPr>
              <a:t>Natinal</a:t>
            </a:r>
            <a:r>
              <a:rPr sz="800" b="0" i="0" dirty="0">
                <a:solidFill>
                  <a:srgbClr val="CCD8EA"/>
                </a:solidFill>
                <a:latin typeface="Calibri"/>
              </a:rPr>
              <a:t> Congress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95160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Dashboard Outcome:</a:t>
            </a:r>
            <a:r>
              <a:rPr lang="en-US" sz="1100" dirty="0"/>
              <a:t> A unified geographic and transit view of Bengaluru that connects </a:t>
            </a:r>
            <a:r>
              <a:rPr lang="en-US" sz="1100" b="1" dirty="0"/>
              <a:t>where mobility occurs, how people move, when demand changes, and how reliable the network is.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D2DB145-23D9-825E-BB86-25D8598CBCFC}"/>
              </a:ext>
            </a:extLst>
          </p:cNvPr>
          <p:cNvSpPr/>
          <p:nvPr/>
        </p:nvSpPr>
        <p:spPr>
          <a:xfrm>
            <a:off x="619776" y="576300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FA201CB-6AB5-C01E-EF9A-A494260F4741}"/>
              </a:ext>
            </a:extLst>
          </p:cNvPr>
          <p:cNvSpPr/>
          <p:nvPr/>
        </p:nvSpPr>
        <p:spPr>
          <a:xfrm>
            <a:off x="4825845" y="1271016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45185F7-761B-AA69-97E2-EEB30A6A635F}"/>
              </a:ext>
            </a:extLst>
          </p:cNvPr>
          <p:cNvSpPr txBox="1"/>
          <p:nvPr/>
        </p:nvSpPr>
        <p:spPr>
          <a:xfrm>
            <a:off x="5010150" y="1429253"/>
            <a:ext cx="439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Geospatial Mobility &amp; Transit Analytics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EC2721DA-0485-9DB9-6643-72E25154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617" y="1460677"/>
            <a:ext cx="3795111" cy="2422258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103C6F9D-5DA9-45C2-23F3-3C9765268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44" y="4018964"/>
            <a:ext cx="3795111" cy="2587576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58358BD6-8951-2AE5-413B-BAE745E981F4}"/>
              </a:ext>
            </a:extLst>
          </p:cNvPr>
          <p:cNvSpPr txBox="1"/>
          <p:nvPr/>
        </p:nvSpPr>
        <p:spPr>
          <a:xfrm>
            <a:off x="5110002" y="1937934"/>
            <a:ext cx="5029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Geospatial Coverage:</a:t>
            </a:r>
            <a:r>
              <a:rPr lang="en-US" sz="1400" dirty="0">
                <a:solidFill>
                  <a:schemeClr val="bg1"/>
                </a:solidFill>
              </a:rPr>
              <a:t> Mapped Bengaluru mobility stops using location coordinates to visualize the spatial distribution of the transport network. </a:t>
            </a:r>
          </a:p>
          <a:p>
            <a:pPr lvl="0"/>
            <a:r>
              <a:rPr lang="en-US" sz="1400" b="1" dirty="0">
                <a:solidFill>
                  <a:schemeClr val="bg1"/>
                </a:solidFill>
              </a:rPr>
              <a:t>Route &amp; Stop Activity:</a:t>
            </a:r>
            <a:r>
              <a:rPr lang="en-US" sz="1400" dirty="0">
                <a:solidFill>
                  <a:schemeClr val="bg1"/>
                </a:solidFill>
              </a:rPr>
              <a:t> Compared routes and stops using trip activity to identify frequently used mobility corridors and high-activity locations.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FDFD16-961D-DE4F-6C90-04E727C71530}"/>
              </a:ext>
            </a:extLst>
          </p:cNvPr>
          <p:cNvSpPr txBox="1"/>
          <p:nvPr/>
        </p:nvSpPr>
        <p:spPr>
          <a:xfrm>
            <a:off x="9535005" y="4762500"/>
            <a:ext cx="45942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bg1"/>
                </a:solidFill>
              </a:rPr>
              <a:t>Temporal Mobility: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Analysed</a:t>
            </a:r>
            <a:r>
              <a:rPr lang="en-US" sz="1400" dirty="0">
                <a:solidFill>
                  <a:schemeClr val="bg1"/>
                </a:solidFill>
              </a:rPr>
              <a:t> trip demand and stop arrivals across different time periods to understand mobility patterns and peak activity. </a:t>
            </a:r>
          </a:p>
          <a:p>
            <a:pPr lvl="0"/>
            <a:r>
              <a:rPr lang="en-US" sz="1400" b="1" dirty="0">
                <a:solidFill>
                  <a:schemeClr val="bg1"/>
                </a:solidFill>
              </a:rPr>
              <a:t>Reliability &amp; Safety:</a:t>
            </a:r>
            <a:r>
              <a:rPr lang="en-US" sz="1400" dirty="0">
                <a:solidFill>
                  <a:schemeClr val="bg1"/>
                </a:solidFill>
              </a:rPr>
              <a:t> Combined traffic, ride, weather and safety indicators with accident distribution to provide an overall view of mobility reliability.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Ride-Hailing &amp; Demand Intelligence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Trip demand patterns • Fare analysis • Temporal mobility </a:t>
            </a:r>
            <a:r>
              <a:rPr lang="en-US" sz="1100" b="1" dirty="0" err="1">
                <a:solidFill>
                  <a:schemeClr val="bg1"/>
                </a:solidFill>
              </a:rPr>
              <a:t>behaviour</a:t>
            </a:r>
            <a:r>
              <a:rPr lang="en-US" sz="1100" b="1" dirty="0">
                <a:solidFill>
                  <a:schemeClr val="bg1"/>
                </a:solidFill>
              </a:rPr>
              <a:t> • Demand intelligence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8/16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This module converts trip-level mobility records into demand intelligence by combining route activity, stop activity, temporal patterns and fare information to understand where, when and how mobility demand is concentrated.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9B50F18-B1DC-7A88-A137-3F6A48EEC11A}"/>
              </a:ext>
            </a:extLst>
          </p:cNvPr>
          <p:cNvSpPr/>
          <p:nvPr/>
        </p:nvSpPr>
        <p:spPr>
          <a:xfrm>
            <a:off x="521208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89D589-F812-0DB8-96FE-7C2E5D918043}"/>
              </a:ext>
            </a:extLst>
          </p:cNvPr>
          <p:cNvSpPr txBox="1"/>
          <p:nvPr/>
        </p:nvSpPr>
        <p:spPr>
          <a:xfrm>
            <a:off x="594360" y="1298447"/>
            <a:ext cx="348386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1400" b="1" dirty="0"/>
              <a:t>Ride/trip demand analysis</a:t>
            </a:r>
            <a:r>
              <a:rPr lang="en-US" sz="1400" dirty="0"/>
              <a:t> developed using trip-level mobility records.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Monthly demand patterns</a:t>
            </a:r>
            <a:r>
              <a:rPr lang="en-US" sz="1400" dirty="0"/>
              <a:t> </a:t>
            </a:r>
            <a:r>
              <a:rPr lang="en-US" sz="1400" dirty="0" err="1"/>
              <a:t>analysed</a:t>
            </a:r>
            <a:r>
              <a:rPr lang="en-US" sz="1400" dirty="0"/>
              <a:t> to understand changes in trip activity across the year.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Hourly arrival analysis</a:t>
            </a:r>
            <a:r>
              <a:rPr lang="en-US" sz="1400" dirty="0"/>
              <a:t> implemented to identify periods of higher and lower mobility activity.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Route-level demand comparison</a:t>
            </a:r>
            <a:r>
              <a:rPr lang="en-US" sz="1400" dirty="0"/>
              <a:t> performed using trip counts to identify frequently used routes.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Stop-level demand analysis</a:t>
            </a:r>
            <a:r>
              <a:rPr lang="en-US" sz="1400" dirty="0"/>
              <a:t> used to identify high-activity mobility locations. </a:t>
            </a:r>
          </a:p>
          <a:p>
            <a:pPr lvl="0" algn="just"/>
            <a:endParaRPr lang="en-US" sz="1400" dirty="0"/>
          </a:p>
          <a:p>
            <a:pPr lvl="0" algn="just"/>
            <a:r>
              <a:rPr lang="en-US" sz="1400" b="1" dirty="0"/>
              <a:t>Fare analysis</a:t>
            </a:r>
            <a:r>
              <a:rPr lang="en-US" sz="1400" dirty="0"/>
              <a:t> incorporated to examine average fare alongside trip and route information.</a:t>
            </a:r>
          </a:p>
          <a:p>
            <a:pPr algn="just"/>
            <a:endParaRPr lang="en-US" sz="1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92462FB-BCDB-5E0F-791D-8BB1F7943EB2}"/>
              </a:ext>
            </a:extLst>
          </p:cNvPr>
          <p:cNvSpPr/>
          <p:nvPr/>
        </p:nvSpPr>
        <p:spPr>
          <a:xfrm>
            <a:off x="4768846" y="1261872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28DC997-63AC-A2EE-0CD8-9C6DFF044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797" y="1465938"/>
            <a:ext cx="4821253" cy="2401598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2B7BD0F0-EB28-B575-E4FD-07E84CD7DC09}"/>
              </a:ext>
            </a:extLst>
          </p:cNvPr>
          <p:cNvSpPr txBox="1"/>
          <p:nvPr/>
        </p:nvSpPr>
        <p:spPr>
          <a:xfrm>
            <a:off x="5010912" y="4044981"/>
            <a:ext cx="869801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Demand Concentration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Booking activity is concentrated across a limited number of high-demand wards and routes.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Temporal Patterns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Monthly and hourly analysis helps identify periods of higher and lower trip activity.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Route &amp; Stop Activity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Frequently used routes and high-activity stops provide a clear view of mobility demand.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Fare &amp; Demand Relationship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Average fare can be compared with trip volume to understand fare patterns across routes and locations.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Dashboard Value</a:t>
            </a:r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</a:rPr>
              <a:t>Interactive filters allow demand patterns to be explored by time, route and location.</a:t>
            </a: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chemeClr val="bg1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chemeClr val="bg1"/>
                </a:solidFill>
                <a:latin typeface="Calibri"/>
              </a:rPr>
              <a:t>-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Equity, Forecasting &amp; Finalization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Mobility accessibility • Demand forecasting • Final dashboard integration &amp; insights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9/16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Integrated mobility analysis brings traffic, transit, reliability and accessibility indicators together for Bengaluru.”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834986B-D1AF-C2C1-A6CB-A850D0685EE1}"/>
              </a:ext>
            </a:extLst>
          </p:cNvPr>
          <p:cNvSpPr/>
          <p:nvPr/>
        </p:nvSpPr>
        <p:spPr>
          <a:xfrm>
            <a:off x="523037" y="123063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11E06E3-A41C-9F86-E0F7-050030C13128}"/>
              </a:ext>
            </a:extLst>
          </p:cNvPr>
          <p:cNvSpPr txBox="1"/>
          <p:nvPr/>
        </p:nvSpPr>
        <p:spPr>
          <a:xfrm>
            <a:off x="509752" y="1234440"/>
            <a:ext cx="404164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 </a:t>
            </a:r>
            <a:r>
              <a:rPr lang="en-US" sz="1400" b="1" dirty="0"/>
              <a:t>Mobility accessibility analysis</a:t>
            </a:r>
            <a:endParaRPr lang="en-US" sz="1400" dirty="0"/>
          </a:p>
          <a:p>
            <a:pPr lvl="0" algn="just"/>
            <a:r>
              <a:rPr lang="en-US" sz="1400" dirty="0"/>
              <a:t>Compared mobility availability across different geographic areas and wards using location-based mobility data. </a:t>
            </a:r>
          </a:p>
          <a:p>
            <a:pPr lvl="0" algn="just"/>
            <a:r>
              <a:rPr lang="en-US" sz="1400" dirty="0"/>
              <a:t>Identified areas with higher and lower access to transport services. </a:t>
            </a:r>
          </a:p>
          <a:p>
            <a:pPr lvl="0" algn="just"/>
            <a:endParaRPr lang="en-US" sz="1400" dirty="0"/>
          </a:p>
          <a:p>
            <a:pPr algn="just"/>
            <a:r>
              <a:rPr lang="en-US" sz="1400" b="1" dirty="0"/>
              <a:t>Demand &amp; usage trend analysis</a:t>
            </a:r>
          </a:p>
          <a:p>
            <a:pPr lvl="0" algn="just"/>
            <a:r>
              <a:rPr lang="en-US" sz="1400" dirty="0" err="1"/>
              <a:t>Analysed</a:t>
            </a:r>
            <a:r>
              <a:rPr lang="en-US" sz="1400" dirty="0"/>
              <a:t> trip volume and mobility demand patterns across available dates and time periods. </a:t>
            </a:r>
          </a:p>
          <a:p>
            <a:pPr lvl="0" algn="just"/>
            <a:r>
              <a:rPr lang="en-US" sz="1400" dirty="0"/>
              <a:t>Used temporal trends to understand periods of higher and lower mobility activity.</a:t>
            </a:r>
          </a:p>
          <a:p>
            <a:pPr lvl="0" algn="just"/>
            <a:r>
              <a:rPr lang="en-US" sz="1400" dirty="0"/>
              <a:t> </a:t>
            </a:r>
          </a:p>
          <a:p>
            <a:pPr algn="just"/>
            <a:r>
              <a:rPr lang="en-US" sz="1400" b="1" dirty="0"/>
              <a:t>Integrated dashboard analysis</a:t>
            </a:r>
          </a:p>
          <a:p>
            <a:pPr lvl="0" algn="just"/>
            <a:r>
              <a:rPr lang="en-US" sz="1400" dirty="0"/>
              <a:t>Combined geospatial, traffic, transit and reliability views into a unified analytical workflow. </a:t>
            </a:r>
          </a:p>
          <a:p>
            <a:pPr lvl="0" algn="just"/>
            <a:r>
              <a:rPr lang="en-US" sz="1400" dirty="0"/>
              <a:t>Added interactive filters for date, station/stop and geographic areas. </a:t>
            </a:r>
          </a:p>
          <a:p>
            <a:pPr lvl="0" algn="just"/>
            <a:endParaRPr lang="en-US" sz="1400" dirty="0"/>
          </a:p>
          <a:p>
            <a:pPr algn="just"/>
            <a:r>
              <a:rPr lang="en-US" sz="1400" b="1" dirty="0"/>
              <a:t>Decision-support insights</a:t>
            </a:r>
            <a:endParaRPr lang="en-US" sz="1400" dirty="0"/>
          </a:p>
          <a:p>
            <a:pPr lvl="0" algn="just"/>
            <a:r>
              <a:rPr lang="en-US" sz="1400" dirty="0"/>
              <a:t>Highlighted high-activity routes/stops, reliability patterns, accident distribution and mobility gaps. </a:t>
            </a:r>
          </a:p>
          <a:p>
            <a:pPr lvl="0" algn="just"/>
            <a:r>
              <a:rPr lang="en-US" sz="1400" dirty="0"/>
              <a:t>Converted raw mobility data into visual insights that can support transport planning and operational decisions. </a:t>
            </a:r>
          </a:p>
          <a:p>
            <a:pPr algn="just"/>
            <a:endParaRPr lang="en-US" sz="14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CE6D0EA-6ECA-1A1B-0476-1710271A01F4}"/>
              </a:ext>
            </a:extLst>
          </p:cNvPr>
          <p:cNvSpPr/>
          <p:nvPr/>
        </p:nvSpPr>
        <p:spPr>
          <a:xfrm>
            <a:off x="4773168" y="1243584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5BDA3D33-7020-F4D6-1C65-F5661595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445" y="1423264"/>
            <a:ext cx="5306165" cy="3334215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F39693B1-6C35-6197-644D-E1A78A4D8324}"/>
              </a:ext>
            </a:extLst>
          </p:cNvPr>
          <p:cNvSpPr txBox="1"/>
          <p:nvPr/>
        </p:nvSpPr>
        <p:spPr>
          <a:xfrm>
            <a:off x="4919472" y="5083669"/>
            <a:ext cx="735040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chemeClr val="bg1"/>
                </a:solidFill>
              </a:rPr>
              <a:t>Final Outcome</a:t>
            </a:r>
            <a:endParaRPr lang="en-US" sz="1600" dirty="0">
              <a:solidFill>
                <a:schemeClr val="bg1"/>
              </a:solidFill>
            </a:endParaRPr>
          </a:p>
          <a:p>
            <a:pPr lvl="0" algn="just"/>
            <a:r>
              <a:rPr lang="en-US" sz="1600" dirty="0">
                <a:solidFill>
                  <a:schemeClr val="bg1"/>
                </a:solidFill>
              </a:rPr>
              <a:t>Multiple mobility datasets were integrated into a unified Power BI analytical workflow. </a:t>
            </a:r>
          </a:p>
          <a:p>
            <a:pPr lvl="0" algn="just"/>
            <a:r>
              <a:rPr lang="en-US" sz="1600" dirty="0">
                <a:solidFill>
                  <a:schemeClr val="bg1"/>
                </a:solidFill>
              </a:rPr>
              <a:t>Interactive dashboards convert the raw Bengaluru mobility data into visual insights for analysis and decision-making.</a:t>
            </a:r>
          </a:p>
          <a:p>
            <a:pPr algn="just"/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Mobility Equity &amp; Executive Intelligence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Mobility access • Performance monitoring • Forecasting &amp; anomaly insights • Executive reporting</a:t>
            </a:r>
            <a:endParaRPr sz="11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10/16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DEMO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0896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The final analytics layer converts individual mobility datasets into a unified decision-support view for identifying accessibility gaps, monitoring performance, detecting unusual patterns and supporting data-driven urban mobility planning.</a:t>
            </a:r>
            <a:endParaRPr sz="1100" b="0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8B3373D-4D16-2638-5B56-83ECBC213083}"/>
              </a:ext>
            </a:extLst>
          </p:cNvPr>
          <p:cNvSpPr/>
          <p:nvPr/>
        </p:nvSpPr>
        <p:spPr>
          <a:xfrm>
            <a:off x="532638" y="1252729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1AD5BC7-4CFE-EDA7-AF82-BB823FC7606C}"/>
              </a:ext>
            </a:extLst>
          </p:cNvPr>
          <p:cNvSpPr txBox="1"/>
          <p:nvPr/>
        </p:nvSpPr>
        <p:spPr>
          <a:xfrm>
            <a:off x="649224" y="1307592"/>
            <a:ext cx="398461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/>
              <a:t>City-wide mobility performance analysis</a:t>
            </a:r>
            <a:r>
              <a:rPr lang="en-US" sz="1400" dirty="0"/>
              <a:t> developed by combining traffic, transit and geospatial indicators.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Mobility Access analysis</a:t>
            </a:r>
            <a:r>
              <a:rPr lang="en-US" sz="1400" dirty="0"/>
              <a:t> used to compare transportation availability and accessibility across geographic areas.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High-demand and underserved areas</a:t>
            </a:r>
            <a:r>
              <a:rPr lang="en-US" sz="1400" dirty="0"/>
              <a:t> identified through spatial distribution of mobility activity</a:t>
            </a:r>
          </a:p>
          <a:p>
            <a:pPr lvl="0"/>
            <a:r>
              <a:rPr lang="en-US" sz="1400" dirty="0"/>
              <a:t>. </a:t>
            </a:r>
          </a:p>
          <a:p>
            <a:pPr lvl="0"/>
            <a:r>
              <a:rPr lang="en-US" sz="1400" b="1" dirty="0"/>
              <a:t>Traffic and transit performance indicators</a:t>
            </a:r>
            <a:r>
              <a:rPr lang="en-US" sz="1400" dirty="0"/>
              <a:t> consolidated to provide an overall view of mobility conditions.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Trend analysis</a:t>
            </a:r>
            <a:r>
              <a:rPr lang="en-US" sz="1400" dirty="0"/>
              <a:t> implemented to compare mobility patterns across available time periods.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Anomaly identification</a:t>
            </a:r>
            <a:r>
              <a:rPr lang="en-US" sz="1400" dirty="0"/>
              <a:t> used to highlight unusual traffic, accident or mobility activity. 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Executive-level KPIs and visual summaries</a:t>
            </a:r>
            <a:r>
              <a:rPr lang="en-US" sz="1400" dirty="0"/>
              <a:t> designed to convert detailed dashboard analysis into actionable insights.</a:t>
            </a:r>
          </a:p>
          <a:p>
            <a:endParaRPr lang="en-US" sz="14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6F9C3ED-0E11-BD9F-B80E-449389B56038}"/>
              </a:ext>
            </a:extLst>
          </p:cNvPr>
          <p:cNvSpPr/>
          <p:nvPr/>
        </p:nvSpPr>
        <p:spPr>
          <a:xfrm>
            <a:off x="4768486" y="1252729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4E9FB78-22DD-C01E-9401-17A16944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469" y="1413189"/>
            <a:ext cx="4191585" cy="2476846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D0F939EA-1989-01AC-EEFF-E3212CF01CEF}"/>
              </a:ext>
            </a:extLst>
          </p:cNvPr>
          <p:cNvSpPr txBox="1"/>
          <p:nvPr/>
        </p:nvSpPr>
        <p:spPr>
          <a:xfrm>
            <a:off x="4988557" y="5213816"/>
            <a:ext cx="4787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</a:rPr>
              <a:t>Combining geographic distribution, mobility activity, reliability and safety indicators provides a city-wide view of where mobility performance is strong, where congestion or disruptions occur, and which areas require attention.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F531DB2-525A-BC60-64DE-1AEF9210D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837" y="3534946"/>
            <a:ext cx="4015379" cy="297267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391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74336" y="155448"/>
            <a:ext cx="152746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 dirty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14/16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7784" y="1709928"/>
            <a:ext cx="4754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Multiple Data Sources</a:t>
            </a:r>
            <a:endParaRPr sz="1200" b="1" i="0" dirty="0">
              <a:solidFill>
                <a:schemeClr val="accent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" y="2088117"/>
            <a:ext cx="4754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Mobility analysis required combining different datasets covering traffic, transit/mobility activity, location and geospatial information.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986927"/>
            <a:ext cx="7022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Collected and consolidated the required datasets into a common Power BI workflow, then standardized the fields needed for combined analysis.</a:t>
            </a:r>
            <a:endParaRPr sz="1400" b="0" i="0" dirty="0">
              <a:solidFill>
                <a:srgbClr val="1A223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Inconsistent Data Formats </a:t>
            </a:r>
          </a:p>
          <a:p>
            <a:br>
              <a:rPr lang="en-US" sz="1400" dirty="0"/>
            </a:br>
            <a:r>
              <a:rPr lang="en-US" sz="1400" dirty="0"/>
              <a:t>Source datasets had differences in column names, data types, date formats and field structure, making direct analysis difficult.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507730"/>
            <a:ext cx="6665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Used Power Query in Power BI to clean, transform and standardize the datasets before loading them into the data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Linking Different Datasets</a:t>
            </a:r>
            <a:endParaRPr sz="1400" b="1" i="0" dirty="0">
              <a:solidFill>
                <a:schemeClr val="accent2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datasets represented different aspects of mobility, so they could not be analyzed together without establishing appropriate relationships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4920719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Created relationships between the relevant tables/fields in Power BI Data Model, allowing filters and visuals to work across the integrated datasets.</a:t>
            </a:r>
            <a:endParaRPr sz="1400" i="0" dirty="0">
              <a:solidFill>
                <a:srgbClr val="1A2230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Roadmap before final evaluation — 5 steps to completion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16/16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9744"/>
            <a:ext cx="13533120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4281404"/>
            <a:ext cx="73152" cy="4572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261872"/>
            <a:ext cx="256032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137160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Bengaluru Dataset Preparation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1956816"/>
            <a:ext cx="23408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Bengaluru mobility datasets collected and consolidated </a:t>
            </a:r>
          </a:p>
          <a:p>
            <a:pPr lvl="0" algn="just"/>
            <a:r>
              <a:rPr lang="en-US" sz="1400" dirty="0"/>
              <a:t>Data cleaned and standardized for analysis </a:t>
            </a:r>
          </a:p>
          <a:p>
            <a:pPr lvl="0" algn="just"/>
            <a:r>
              <a:rPr lang="en-US" sz="1400" dirty="0"/>
              <a:t>Required fields prepared for Power BI dashboards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425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096512" y="4974336"/>
            <a:ext cx="73152" cy="12801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0" y="5102352"/>
            <a:ext cx="2560320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208" y="5212080"/>
            <a:ext cx="2340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Geospatial Analysis</a:t>
            </a:r>
            <a:endParaRPr lang="en-US" sz="1300" b="1" dirty="0">
              <a:solidFill>
                <a:srgbClr val="0A1A4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50208" y="579729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Bengaluru stop locations visualized using latitude and longitude </a:t>
            </a:r>
          </a:p>
          <a:p>
            <a:pPr lvl="0" algn="just"/>
            <a:r>
              <a:rPr lang="en-US" sz="1400" dirty="0"/>
              <a:t>Top routes and high-activity stops identified </a:t>
            </a:r>
          </a:p>
          <a:p>
            <a:pPr lvl="0" algn="just"/>
            <a:r>
              <a:rPr lang="en-US" sz="1400" dirty="0"/>
              <a:t>Origin–Destination mobility patterns analyzed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1753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79792" y="4270248"/>
            <a:ext cx="7315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223760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223760" y="1261872"/>
            <a:ext cx="25603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3488" y="1371600"/>
            <a:ext cx="2340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Transit &amp; Reliability Analysis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33488" y="195681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Transit reliability metrics analyzed </a:t>
            </a:r>
          </a:p>
          <a:p>
            <a:pPr lvl="0" algn="just"/>
            <a:r>
              <a:rPr lang="en-US" sz="1400" dirty="0"/>
              <a:t>Ride reliability and traffic conditions visualized </a:t>
            </a:r>
          </a:p>
          <a:p>
            <a:pPr lvl="0" algn="just"/>
            <a:r>
              <a:rPr lang="en-US" sz="1400" dirty="0"/>
              <a:t>Accident distribution and station-level analysis included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69848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00816" y="4809744"/>
            <a:ext cx="2980944" cy="73152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63072" y="4974336"/>
            <a:ext cx="73152" cy="12801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607040" y="5102352"/>
            <a:ext cx="2560320" cy="2414016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607040" y="5102352"/>
            <a:ext cx="25603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16768" y="521208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Mobility &amp; Ride-Hailing Analysis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16768" y="5797296"/>
            <a:ext cx="23408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Ride-hailing mobility patterns analyzed </a:t>
            </a:r>
          </a:p>
          <a:p>
            <a:pPr lvl="0" algn="just"/>
            <a:r>
              <a:rPr lang="en-US" sz="1400" dirty="0"/>
              <a:t>Trip-level and temporal patterns visualized </a:t>
            </a:r>
          </a:p>
          <a:p>
            <a:pPr lvl="0" algn="just"/>
            <a:r>
              <a:rPr lang="en-US" sz="1400" dirty="0"/>
              <a:t>Mobility insights presented through interactive dashboard visuals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081760" y="464515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081581" y="4352544"/>
            <a:ext cx="7315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1987348" y="1261872"/>
            <a:ext cx="2560320" cy="309067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1987348" y="1261872"/>
            <a:ext cx="25603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097076" y="1371600"/>
            <a:ext cx="2340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Power BI Dashboard &amp; Integration</a:t>
            </a:r>
            <a:endParaRPr sz="13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2097076" y="1956816"/>
            <a:ext cx="23408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/>
              <a:t>Interactive Bengaluru mobility dashboards developed </a:t>
            </a:r>
          </a:p>
          <a:p>
            <a:pPr lvl="0" algn="just"/>
            <a:r>
              <a:rPr lang="en-US" sz="1400" dirty="0"/>
              <a:t>Relationships between dimension and fact tables created </a:t>
            </a:r>
          </a:p>
          <a:p>
            <a:pPr lvl="0" algn="just"/>
            <a:r>
              <a:rPr lang="en-US" sz="1400" dirty="0"/>
              <a:t>Filters and interactive visuals added for analysis </a:t>
            </a:r>
          </a:p>
          <a:p>
            <a:pPr lvl="0" algn="just"/>
            <a:r>
              <a:rPr lang="en-US" sz="1400" dirty="0"/>
              <a:t>Final dashboards integrated for presentation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E6B5-E155-0C36-20DA-5C01A9B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603351-B2F9-FFB1-CEA6-1ED4656C9992}"/>
              </a:ext>
            </a:extLst>
          </p:cNvPr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262DE-F018-52C6-987B-636E0831AC39}"/>
              </a:ext>
            </a:extLst>
          </p:cNvPr>
          <p:cNvSpPr txBox="1"/>
          <p:nvPr/>
        </p:nvSpPr>
        <p:spPr>
          <a:xfrm>
            <a:off x="27432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</a:rPr>
              <a:t>Da</a:t>
            </a:r>
            <a:r>
              <a:rPr lang="en-US" b="1" dirty="0">
                <a:solidFill>
                  <a:schemeClr val="bg1"/>
                </a:solidFill>
              </a:rPr>
              <a:t>shboards</a:t>
            </a:r>
            <a:endParaRPr sz="1800" b="1" i="0" dirty="0">
              <a:solidFill>
                <a:schemeClr val="bg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7F9855D-ABF5-D40D-1649-EC46117A79E4}"/>
              </a:ext>
            </a:extLst>
          </p:cNvPr>
          <p:cNvSpPr/>
          <p:nvPr/>
        </p:nvSpPr>
        <p:spPr>
          <a:xfrm>
            <a:off x="12313227" y="93518"/>
            <a:ext cx="1911927" cy="464564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5FB723E0-E9D4-D6C7-1206-B10FB48884FD}"/>
              </a:ext>
            </a:extLst>
          </p:cNvPr>
          <p:cNvSpPr txBox="1"/>
          <p:nvPr/>
        </p:nvSpPr>
        <p:spPr>
          <a:xfrm>
            <a:off x="12472397" y="101093"/>
            <a:ext cx="159689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 dirty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F1B4FDF-8103-B459-1505-0146D341A21A}"/>
              </a:ext>
            </a:extLst>
          </p:cNvPr>
          <p:cNvSpPr/>
          <p:nvPr/>
        </p:nvSpPr>
        <p:spPr>
          <a:xfrm>
            <a:off x="0" y="769838"/>
            <a:ext cx="146304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AD54E-21AC-070A-79E5-8DDC8CF9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3" y="868680"/>
            <a:ext cx="6602648" cy="3984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69CAB1-4481-DF11-7254-1CEE4AC0B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524" y="860007"/>
            <a:ext cx="7041767" cy="39475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FAB0C3-7DEC-A239-710D-75C346B06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33" y="4465984"/>
            <a:ext cx="6617370" cy="3702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6D9556-53CA-CD31-0A13-9FAC235BBC25}"/>
              </a:ext>
            </a:extLst>
          </p:cNvPr>
          <p:cNvSpPr txBox="1"/>
          <p:nvPr/>
        </p:nvSpPr>
        <p:spPr>
          <a:xfrm>
            <a:off x="7962472" y="5465852"/>
            <a:ext cx="5650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dashboards are uploaded on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</a:p>
        </p:txBody>
      </p:sp>
    </p:spTree>
    <p:extLst>
      <p:ext uri="{BB962C8B-B14F-4D97-AF65-F5344CB8AC3E}">
        <p14:creationId xmlns:p14="http://schemas.microsoft.com/office/powerpoint/2010/main" val="409763900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3000" y="137160"/>
            <a:ext cx="182880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73000" y="1554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08096"/>
                </a:solidFill>
                <a:latin typeface="Calibri"/>
              </a:rPr>
              <a:t>13/16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Piyush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Data Engineer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Collected and consolidated the project datasets.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Merged assigned datasets and validated the data. </a:t>
            </a:r>
          </a:p>
          <a:p>
            <a:pPr lvl="0" algn="just"/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Managed GitHub repository and project files.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Worked on Power BI data preparation and dashboard development.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Developed the geospatial dashboard</a:t>
            </a:r>
          </a:p>
          <a:p>
            <a:pPr lvl="0" algn="just"/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82696" y="226314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Parul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Transit &amp; Ride-Hailing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9272" y="2985135"/>
            <a:ext cx="23225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200" dirty="0"/>
              <a:t>Transit and ride-hailing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Trip and route-level demand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Monthly and hourly mobility pattern analysis </a:t>
            </a:r>
          </a:p>
          <a:p>
            <a:pPr lvl="0" algn="just"/>
            <a:r>
              <a:rPr lang="en-US" sz="1200" dirty="0"/>
              <a:t>Stop and route activity analysis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Fare and trip-related insights </a:t>
            </a:r>
          </a:p>
          <a:p>
            <a:pPr lvl="0" algn="just"/>
            <a:r>
              <a:rPr lang="en-US" sz="1200" dirty="0"/>
              <a:t>Supported development of mobility dashboards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</a:t>
            </a:r>
            <a:r>
              <a:rPr lang="en-US" sz="1400" b="1" i="0" dirty="0">
                <a:solidFill>
                  <a:srgbClr val="0A1A44"/>
                </a:solidFill>
                <a:latin typeface="Calibri"/>
              </a:rPr>
              <a:t>ooja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Geospatial Analyst</a:t>
            </a:r>
          </a:p>
          <a:p>
            <a:pPr algn="ctr"/>
            <a:endParaRPr lang="en-US" sz="900" dirty="0"/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7064" y="2980158"/>
            <a:ext cx="226771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/>
            <a:r>
              <a:rPr lang="en-IN" sz="1200" dirty="0"/>
              <a:t>Conducted origin-destination (OD) flow analysis to understand mobility patterns.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Created accessibility and isochrone maps to measure travel reachability.</a:t>
            </a:r>
            <a:r>
              <a:rPr lang="en-US" sz="1200" dirty="0"/>
              <a:t>​</a:t>
            </a:r>
          </a:p>
          <a:p>
            <a:pPr algn="just" fontAlgn="base"/>
            <a:r>
              <a:rPr lang="en-US" sz="1200" dirty="0"/>
              <a:t>​</a:t>
            </a:r>
          </a:p>
          <a:p>
            <a:pPr lvl="0" algn="just" fontAlgn="base"/>
            <a:r>
              <a:rPr lang="en-IN" sz="1200" dirty="0"/>
              <a:t>Developed heatmaps to visualize mobility and demand patterns.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Identified and visualized congestion hotspots across different geographic areas. 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Performed geographic drill-down analysis and integrated weather overlays to understand their impact on mobility.</a:t>
            </a:r>
            <a:r>
              <a:rPr lang="en-US" sz="1200" dirty="0"/>
              <a:t>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P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Premika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 BI Lead / Project Manager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200" dirty="0"/>
              <a:t>Power BI dashboard development and integration </a:t>
            </a:r>
          </a:p>
          <a:p>
            <a:pPr lvl="0" algn="just"/>
            <a:r>
              <a:rPr lang="en-US" sz="1200" dirty="0"/>
              <a:t>Data model and table relationship review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Dashboard layout and visualization design </a:t>
            </a:r>
          </a:p>
          <a:p>
            <a:pPr lvl="0" algn="just"/>
            <a:r>
              <a:rPr lang="en-US" sz="1200" dirty="0"/>
              <a:t>Interactive filters and dashboard usability </a:t>
            </a:r>
          </a:p>
          <a:p>
            <a:pPr lvl="0" algn="just"/>
            <a:endParaRPr lang="en-US" sz="1200" dirty="0"/>
          </a:p>
          <a:p>
            <a:pPr lvl="0" algn="just"/>
            <a:r>
              <a:rPr lang="en-US" sz="1200" dirty="0"/>
              <a:t>Integration of geospatial, transit, traffic and demand views </a:t>
            </a:r>
          </a:p>
          <a:p>
            <a:pPr lvl="0" algn="just"/>
            <a:r>
              <a:rPr lang="en-US" sz="1200" dirty="0"/>
              <a:t>Final presentation and project coordination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</a:rPr>
              <a:t>R</a:t>
            </a:r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A1A44"/>
                </a:solidFill>
                <a:latin typeface="Calibri"/>
              </a:rPr>
              <a:t>Ramita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dirty="0">
                <a:solidFill>
                  <a:srgbClr val="FFFFFF"/>
                </a:solidFill>
              </a:rPr>
              <a:t> Micromobility &amp; Equity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fontAlgn="base"/>
            <a:r>
              <a:rPr lang="en-IN" sz="1200" dirty="0"/>
              <a:t>Analysed bike-share utilization and station usage patterns.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Monitored station availability and identified supply-demand gaps.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Predicted bike rebalancing needs across stations.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Calculated Mobility Access Index(MAI) to measure accessibility. </a:t>
            </a:r>
            <a:r>
              <a:rPr lang="en-US" sz="1200" dirty="0"/>
              <a:t>​</a:t>
            </a:r>
          </a:p>
          <a:p>
            <a:pPr algn="just" fontAlgn="base"/>
            <a:r>
              <a:rPr lang="en-IN" sz="1200" dirty="0"/>
              <a:t>​</a:t>
            </a:r>
          </a:p>
          <a:p>
            <a:pPr lvl="0" algn="just" fontAlgn="base"/>
            <a:r>
              <a:rPr lang="en-IN" sz="1200" dirty="0"/>
              <a:t>Compared mobility access across demographic groups and   identified underserved </a:t>
            </a:r>
            <a:r>
              <a:rPr lang="en-IN" sz="1200" dirty="0" err="1"/>
              <a:t>neighborhoods</a:t>
            </a:r>
            <a:r>
              <a:rPr lang="en-IN" sz="1200" dirty="0"/>
              <a:t>. </a:t>
            </a:r>
            <a:r>
              <a:rPr lang="en-US" sz="1200" dirty="0"/>
              <a:t>​</a:t>
            </a:r>
          </a:p>
          <a:p>
            <a:pPr algn="just"/>
            <a:endParaRPr lang="en-IN" sz="700" dirty="0">
              <a:solidFill>
                <a:srgbClr val="1A2230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481560" y="201168"/>
            <a:ext cx="1920240" cy="658368"/>
          </a:xfrm>
          <a:prstGeom prst="rect">
            <a:avLst/>
          </a:prstGeom>
          <a:solidFill>
            <a:srgbClr val="002D72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81560" y="219456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Infosys</a:t>
            </a:r>
          </a:p>
          <a:p>
            <a:pPr algn="ctr"/>
            <a:r>
              <a:rPr sz="1000" b="0" i="0">
                <a:solidFill>
                  <a:srgbClr val="0077CC"/>
                </a:solidFill>
                <a:latin typeface="Calibri"/>
              </a:rPr>
              <a:t>Springboard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356616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7890AA"/>
                </a:solidFill>
                <a:latin typeface="Calibri"/>
              </a:rPr>
              <a:t>  Infosys Springboard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0077CC"/>
                </a:solidFill>
                <a:latin typeface="Calibri"/>
              </a:rPr>
              <a:t>Piyush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7AE60"/>
                </a:solidFill>
                <a:latin typeface="Calibri"/>
              </a:rPr>
              <a:t>Pooja</a:t>
            </a:r>
            <a:endParaRPr sz="1400" b="1" i="0" dirty="0">
              <a:solidFill>
                <a:srgbClr val="27AE60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8E44AD"/>
                </a:solidFill>
                <a:latin typeface="Calibri"/>
              </a:rPr>
              <a:t>Parul</a:t>
            </a:r>
            <a:endParaRPr sz="1400" b="1" i="0" dirty="0">
              <a:solidFill>
                <a:srgbClr val="8E44AD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D35400"/>
                </a:solidFill>
                <a:latin typeface="Calibri"/>
              </a:rPr>
              <a:t>Premika</a:t>
            </a:r>
            <a:endParaRPr sz="1400" b="1" i="0" dirty="0">
              <a:solidFill>
                <a:srgbClr val="D3540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F39C12"/>
                </a:solidFill>
                <a:latin typeface="Calibri"/>
              </a:rPr>
              <a:t>Ramita</a:t>
            </a:r>
            <a:endParaRPr sz="1400" b="1" i="0" dirty="0">
              <a:solidFill>
                <a:srgbClr val="F39C12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980176"/>
            <a:ext cx="7772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7890AA"/>
                </a:solidFill>
                <a:latin typeface="Calibri"/>
              </a:rPr>
              <a:t>Infosys Springboard  ·  Data Analytics Project  ·   2026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B0C8E0"/>
                </a:solidFill>
                <a:latin typeface="Calibri"/>
              </a:rPr>
              <a:t>🗂️  GitHub </a:t>
            </a:r>
            <a:r>
              <a:rPr lang="en-US" sz="1050" b="0" i="0" dirty="0">
                <a:solidFill>
                  <a:srgbClr val="B0C8E0"/>
                </a:solidFill>
                <a:latin typeface="Calibri"/>
              </a:rPr>
              <a:t>Re</a:t>
            </a:r>
            <a:r>
              <a:rPr sz="1050" b="0" i="0" dirty="0">
                <a:solidFill>
                  <a:srgbClr val="B0C8E0"/>
                </a:solidFill>
                <a:latin typeface="Calibri"/>
              </a:rPr>
              <a:t>pository</a:t>
            </a:r>
            <a:r>
              <a:rPr lang="en-US" sz="1050" dirty="0">
                <a:solidFill>
                  <a:srgbClr val="B0C8E0"/>
                </a:solidFill>
              </a:rPr>
              <a:t> : </a:t>
            </a:r>
            <a:r>
              <a:rPr lang="en-US" sz="105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https://github.com/Piyushydv19/Urban-Pulse-Smart-City-Mobility-Intelligence</a:t>
            </a:r>
            <a:endParaRPr sz="105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2678</Words>
  <Application>Microsoft Office PowerPoint</Application>
  <PresentationFormat>Custom</PresentationFormat>
  <Paragraphs>480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PIYUSH YADAV</dc:creator>
  <cp:keywords/>
  <dc:description>generated using python-pptx</dc:description>
  <cp:lastModifiedBy>PIYUSH YADAV</cp:lastModifiedBy>
  <cp:revision>15</cp:revision>
  <dcterms:created xsi:type="dcterms:W3CDTF">2013-01-27T09:14:16Z</dcterms:created>
  <dcterms:modified xsi:type="dcterms:W3CDTF">2026-08-26T06:00:13Z</dcterms:modified>
  <cp:category/>
</cp:coreProperties>
</file>