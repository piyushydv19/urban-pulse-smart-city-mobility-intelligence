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Urban Pulse ingests five smart-city data sources in five different formats; raw data can't be analyzed as-is. This engagement cleans, standardizes, and loads everything into one validated star-schema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source is de-duplicated, type-corrected, and normalized, then remapped onto shared naming and formatting conventions so the five feeds can be joined. Output is one clean, standardized dataset ready for dimensional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Fact_Trips sits at the center of a star schema with six surrounding dimensions. Data flows from raw ingestion through cleansing, standardization, and validation before loading into MySQL and surfacing in Power BI. Star schema keeps queries fast and reporting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loading, every record passes duplicate, null, type, key, referential-integrity, row-count, and business-rule checks. Only records that clear all seven pass into the warehouse, guaranteeing reliable downstream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delivered a cleaned, unified, validated star-schema warehouse in MySQL with live Power BI reporting — improving data quality, query speed, and reporting reliability, and setting up a scalable base for future smart-city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8.png"/><Relationship Id="rId10" Type="http://schemas.openxmlformats.org/officeDocument/2006/relationships/image" Target="../media/image-2-6.png"/><Relationship Id="rId11" Type="http://schemas.openxmlformats.org/officeDocument/2006/relationships/image" Target="../media/image-2-4.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502920"/>
            <a:ext cx="73152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Urban Pulse</a:t>
            </a:r>
            <a:endParaRPr lang="en-US" sz="4000" dirty="0"/>
          </a:p>
        </p:txBody>
      </p:sp>
      <p:sp>
        <p:nvSpPr>
          <p:cNvPr id="3" name="Text 1"/>
          <p:cNvSpPr/>
          <p:nvPr/>
        </p:nvSpPr>
        <p:spPr>
          <a:xfrm>
            <a:off x="640080" y="1170432"/>
            <a:ext cx="8229600" cy="457200"/>
          </a:xfrm>
          <a:prstGeom prst="rect">
            <a:avLst/>
          </a:prstGeom>
          <a:noFill/>
          <a:ln/>
        </p:spPr>
        <p:txBody>
          <a:bodyPr wrap="square" rtlCol="0" anchor="ctr"/>
          <a:lstStyle/>
          <a:p>
            <a:pPr indent="0" marL="0">
              <a:buNone/>
            </a:pPr>
            <a:r>
              <a:rPr lang="en-US" sz="1800" i="1" dirty="0">
                <a:solidFill>
                  <a:srgbClr val="AFC9EC"/>
                </a:solidFill>
                <a:latin typeface="Calibri" pitchFamily="34" charset="0"/>
                <a:ea typeface="Calibri" pitchFamily="34" charset="-122"/>
                <a:cs typeface="Calibri" pitchFamily="34" charset="-120"/>
              </a:rPr>
              <a:t>Smart City Mobility Intelligence</a:t>
            </a:r>
            <a:endParaRPr lang="en-US" sz="1800" dirty="0"/>
          </a:p>
        </p:txBody>
      </p:sp>
      <p:sp>
        <p:nvSpPr>
          <p:cNvPr id="4" name="Shape 2"/>
          <p:cNvSpPr/>
          <p:nvPr/>
        </p:nvSpPr>
        <p:spPr>
          <a:xfrm>
            <a:off x="640080" y="1783080"/>
            <a:ext cx="4206240" cy="502920"/>
          </a:xfrm>
          <a:prstGeom prst="rect">
            <a:avLst>
              <a:gd name="adj" fmla="val 14545"/>
            </a:avLst>
          </a:prstGeom>
          <a:solidFill>
            <a:srgbClr val="065A82"/>
          </a:solidFill>
          <a:ln/>
        </p:spPr>
      </p:sp>
      <p:sp>
        <p:nvSpPr>
          <p:cNvPr id="5" name="Text 3"/>
          <p:cNvSpPr/>
          <p:nvPr/>
        </p:nvSpPr>
        <p:spPr>
          <a:xfrm>
            <a:off x="777240" y="1783080"/>
            <a:ext cx="393192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Cleansing · Schema Standardization · Star Schema Load</a:t>
            </a:r>
            <a:endParaRPr lang="en-US" sz="1250" dirty="0"/>
          </a:p>
        </p:txBody>
      </p:sp>
      <p:sp>
        <p:nvSpPr>
          <p:cNvPr id="6" name="Text 4"/>
          <p:cNvSpPr/>
          <p:nvPr/>
        </p:nvSpPr>
        <p:spPr>
          <a:xfrm>
            <a:off x="640080" y="2514600"/>
            <a:ext cx="45720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Objective</a:t>
            </a:r>
            <a:endParaRPr lang="en-US" sz="1600" dirty="0"/>
          </a:p>
        </p:txBody>
      </p:sp>
      <p:sp>
        <p:nvSpPr>
          <p:cNvPr id="7" name="Shape 5"/>
          <p:cNvSpPr/>
          <p:nvPr/>
        </p:nvSpPr>
        <p:spPr>
          <a:xfrm>
            <a:off x="640080" y="2926080"/>
            <a:ext cx="384048" cy="384048"/>
          </a:xfrm>
          <a:prstGeom prst="ellipse">
            <a:avLst/>
          </a:prstGeom>
          <a:solidFill>
            <a:srgbClr val="1C7293"/>
          </a:solidFill>
          <a:ln/>
        </p:spPr>
      </p:sp>
      <p:pic>
        <p:nvPicPr>
          <p:cNvPr id="8" name="Image 0" descr="icons/search.png">    </p:cNvPr>
          <p:cNvPicPr>
            <a:picLocks noChangeAspect="1"/>
          </p:cNvPicPr>
          <p:nvPr/>
        </p:nvPicPr>
        <p:blipFill>
          <a:blip r:embed="rId1"/>
          <a:stretch>
            <a:fillRect/>
          </a:stretch>
        </p:blipFill>
        <p:spPr>
          <a:xfrm>
            <a:off x="682325" y="2968325"/>
            <a:ext cx="299557" cy="299557"/>
          </a:xfrm>
          <a:prstGeom prst="rect">
            <a:avLst/>
          </a:prstGeom>
        </p:spPr>
      </p:pic>
      <p:sp>
        <p:nvSpPr>
          <p:cNvPr id="9" name="Text 6"/>
          <p:cNvSpPr/>
          <p:nvPr/>
        </p:nvSpPr>
        <p:spPr>
          <a:xfrm>
            <a:off x="1188720" y="2880360"/>
            <a:ext cx="448056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Fragmented inputs.  </a:t>
            </a:r>
            <a:pPr indent="0" marL="0">
              <a:buNone/>
            </a:pPr>
            <a:r>
              <a:rPr lang="en-US" sz="1200" dirty="0">
                <a:solidFill>
                  <a:srgbClr val="C7D8EF"/>
                </a:solidFill>
                <a:latin typeface="Calibri" pitchFamily="34" charset="0"/>
                <a:ea typeface="Calibri" pitchFamily="34" charset="-122"/>
                <a:cs typeface="Calibri" pitchFamily="34" charset="-120"/>
              </a:rPr>
              <a:t>5 city data sources, 5 different formats.</a:t>
            </a:r>
            <a:endParaRPr lang="en-US" sz="1300" dirty="0"/>
          </a:p>
        </p:txBody>
      </p:sp>
      <p:sp>
        <p:nvSpPr>
          <p:cNvPr id="10" name="Shape 7"/>
          <p:cNvSpPr/>
          <p:nvPr/>
        </p:nvSpPr>
        <p:spPr>
          <a:xfrm>
            <a:off x="640080" y="3547872"/>
            <a:ext cx="384048" cy="384048"/>
          </a:xfrm>
          <a:prstGeom prst="ellipse">
            <a:avLst/>
          </a:prstGeom>
          <a:solidFill>
            <a:srgbClr val="1C7293"/>
          </a:solidFill>
          <a:ln/>
        </p:spPr>
      </p:sp>
      <p:pic>
        <p:nvPicPr>
          <p:cNvPr id="11" name="Image 1" descr="icons/shield.png">    </p:cNvPr>
          <p:cNvPicPr>
            <a:picLocks noChangeAspect="1"/>
          </p:cNvPicPr>
          <p:nvPr/>
        </p:nvPicPr>
        <p:blipFill>
          <a:blip r:embed="rId2"/>
          <a:stretch>
            <a:fillRect/>
          </a:stretch>
        </p:blipFill>
        <p:spPr>
          <a:xfrm>
            <a:off x="682325" y="3590117"/>
            <a:ext cx="299557" cy="299557"/>
          </a:xfrm>
          <a:prstGeom prst="rect">
            <a:avLst/>
          </a:prstGeom>
        </p:spPr>
      </p:pic>
      <p:sp>
        <p:nvSpPr>
          <p:cNvPr id="12" name="Text 8"/>
          <p:cNvSpPr/>
          <p:nvPr/>
        </p:nvSpPr>
        <p:spPr>
          <a:xfrm>
            <a:off x="1188720" y="3502152"/>
            <a:ext cx="448056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 analytics-ready.  </a:t>
            </a:r>
            <a:pPr indent="0" marL="0">
              <a:buNone/>
            </a:pPr>
            <a:r>
              <a:rPr lang="en-US" sz="1200" dirty="0">
                <a:solidFill>
                  <a:srgbClr val="C7D8EF"/>
                </a:solidFill>
                <a:latin typeface="Calibri" pitchFamily="34" charset="0"/>
                <a:ea typeface="Calibri" pitchFamily="34" charset="-122"/>
                <a:cs typeface="Calibri" pitchFamily="34" charset="-120"/>
              </a:rPr>
              <a:t>Raw data can't be queried reliably as-is.</a:t>
            </a:r>
            <a:endParaRPr lang="en-US" sz="1300" dirty="0"/>
          </a:p>
        </p:txBody>
      </p:sp>
      <p:sp>
        <p:nvSpPr>
          <p:cNvPr id="13" name="Shape 9"/>
          <p:cNvSpPr/>
          <p:nvPr/>
        </p:nvSpPr>
        <p:spPr>
          <a:xfrm>
            <a:off x="640080" y="4169664"/>
            <a:ext cx="384048" cy="384048"/>
          </a:xfrm>
          <a:prstGeom prst="ellipse">
            <a:avLst/>
          </a:prstGeom>
          <a:solidFill>
            <a:srgbClr val="1C7293"/>
          </a:solidFill>
          <a:ln/>
        </p:spPr>
      </p:sp>
      <p:pic>
        <p:nvPicPr>
          <p:cNvPr id="14" name="Image 2" descr="icons/database.png">    </p:cNvPr>
          <p:cNvPicPr>
            <a:picLocks noChangeAspect="1"/>
          </p:cNvPicPr>
          <p:nvPr/>
        </p:nvPicPr>
        <p:blipFill>
          <a:blip r:embed="rId3"/>
          <a:stretch>
            <a:fillRect/>
          </a:stretch>
        </p:blipFill>
        <p:spPr>
          <a:xfrm>
            <a:off x="682325" y="4211909"/>
            <a:ext cx="299557" cy="299557"/>
          </a:xfrm>
          <a:prstGeom prst="rect">
            <a:avLst/>
          </a:prstGeom>
        </p:spPr>
      </p:pic>
      <p:sp>
        <p:nvSpPr>
          <p:cNvPr id="15" name="Text 10"/>
          <p:cNvSpPr/>
          <p:nvPr/>
        </p:nvSpPr>
        <p:spPr>
          <a:xfrm>
            <a:off x="1188720" y="4123944"/>
            <a:ext cx="448056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Target state.  </a:t>
            </a:r>
            <a:pPr indent="0" marL="0">
              <a:buNone/>
            </a:pPr>
            <a:r>
              <a:rPr lang="en-US" sz="1200" dirty="0">
                <a:solidFill>
                  <a:srgbClr val="C7D8EF"/>
                </a:solidFill>
                <a:latin typeface="Calibri" pitchFamily="34" charset="0"/>
                <a:ea typeface="Calibri" pitchFamily="34" charset="-122"/>
                <a:cs typeface="Calibri" pitchFamily="34" charset="-120"/>
              </a:rPr>
              <a:t>One validated, star-schema data warehouse.</a:t>
            </a:r>
            <a:endParaRPr lang="en-US" sz="1300" dirty="0"/>
          </a:p>
        </p:txBody>
      </p:sp>
      <p:sp>
        <p:nvSpPr>
          <p:cNvPr id="16" name="Text 11"/>
          <p:cNvSpPr/>
          <p:nvPr/>
        </p:nvSpPr>
        <p:spPr>
          <a:xfrm>
            <a:off x="5577840" y="502920"/>
            <a:ext cx="59436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Data Sources</a:t>
            </a:r>
            <a:endParaRPr lang="en-US" sz="1600" dirty="0"/>
          </a:p>
        </p:txBody>
      </p:sp>
      <p:sp>
        <p:nvSpPr>
          <p:cNvPr id="17" name="Shape 12"/>
          <p:cNvSpPr/>
          <p:nvPr/>
        </p:nvSpPr>
        <p:spPr>
          <a:xfrm>
            <a:off x="5577840" y="1051560"/>
            <a:ext cx="1920240" cy="1417320"/>
          </a:xfrm>
          <a:prstGeom prst="roundRect">
            <a:avLst>
              <a:gd name="adj" fmla="val 5161"/>
            </a:avLst>
          </a:prstGeom>
          <a:solidFill>
            <a:srgbClr val="1B3466"/>
          </a:solidFill>
          <a:ln/>
        </p:spPr>
      </p:sp>
      <p:sp>
        <p:nvSpPr>
          <p:cNvPr id="18" name="Shape 13"/>
          <p:cNvSpPr/>
          <p:nvPr/>
        </p:nvSpPr>
        <p:spPr>
          <a:xfrm>
            <a:off x="6245352" y="1252728"/>
            <a:ext cx="585216" cy="585216"/>
          </a:xfrm>
          <a:prstGeom prst="ellipse">
            <a:avLst/>
          </a:prstGeom>
          <a:solidFill>
            <a:srgbClr val="065A82"/>
          </a:solidFill>
          <a:ln/>
        </p:spPr>
      </p:sp>
      <p:pic>
        <p:nvPicPr>
          <p:cNvPr id="19" name="Image 3" descr="icons/transit.png">    </p:cNvPr>
          <p:cNvPicPr>
            <a:picLocks noChangeAspect="1"/>
          </p:cNvPicPr>
          <p:nvPr/>
        </p:nvPicPr>
        <p:blipFill>
          <a:blip r:embed="rId4"/>
          <a:stretch>
            <a:fillRect/>
          </a:stretch>
        </p:blipFill>
        <p:spPr>
          <a:xfrm>
            <a:off x="6309726" y="1317102"/>
            <a:ext cx="456468" cy="456468"/>
          </a:xfrm>
          <a:prstGeom prst="rect">
            <a:avLst/>
          </a:prstGeom>
        </p:spPr>
      </p:pic>
      <p:sp>
        <p:nvSpPr>
          <p:cNvPr id="20" name="Text 14"/>
          <p:cNvSpPr/>
          <p:nvPr/>
        </p:nvSpPr>
        <p:spPr>
          <a:xfrm>
            <a:off x="5577840" y="1965960"/>
            <a:ext cx="192024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GTFS Transit</a:t>
            </a:r>
            <a:endParaRPr lang="en-US" sz="1250" dirty="0"/>
          </a:p>
        </p:txBody>
      </p:sp>
      <p:sp>
        <p:nvSpPr>
          <p:cNvPr id="21" name="Shape 15"/>
          <p:cNvSpPr/>
          <p:nvPr/>
        </p:nvSpPr>
        <p:spPr>
          <a:xfrm>
            <a:off x="7680960" y="1051560"/>
            <a:ext cx="1920240" cy="1417320"/>
          </a:xfrm>
          <a:prstGeom prst="roundRect">
            <a:avLst>
              <a:gd name="adj" fmla="val 5161"/>
            </a:avLst>
          </a:prstGeom>
          <a:solidFill>
            <a:srgbClr val="1B3466"/>
          </a:solidFill>
          <a:ln/>
        </p:spPr>
      </p:sp>
      <p:sp>
        <p:nvSpPr>
          <p:cNvPr id="22" name="Shape 16"/>
          <p:cNvSpPr/>
          <p:nvPr/>
        </p:nvSpPr>
        <p:spPr>
          <a:xfrm>
            <a:off x="8348472" y="1252728"/>
            <a:ext cx="585216" cy="585216"/>
          </a:xfrm>
          <a:prstGeom prst="ellipse">
            <a:avLst/>
          </a:prstGeom>
          <a:solidFill>
            <a:srgbClr val="065A82"/>
          </a:solidFill>
          <a:ln/>
        </p:spPr>
      </p:sp>
      <p:pic>
        <p:nvPicPr>
          <p:cNvPr id="23" name="Image 4" descr="icons/ridehail.png">    </p:cNvPr>
          <p:cNvPicPr>
            <a:picLocks noChangeAspect="1"/>
          </p:cNvPicPr>
          <p:nvPr/>
        </p:nvPicPr>
        <p:blipFill>
          <a:blip r:embed="rId5"/>
          <a:stretch>
            <a:fillRect/>
          </a:stretch>
        </p:blipFill>
        <p:spPr>
          <a:xfrm>
            <a:off x="8412846" y="1317102"/>
            <a:ext cx="456468" cy="456468"/>
          </a:xfrm>
          <a:prstGeom prst="rect">
            <a:avLst/>
          </a:prstGeom>
        </p:spPr>
      </p:pic>
      <p:sp>
        <p:nvSpPr>
          <p:cNvPr id="24" name="Text 17"/>
          <p:cNvSpPr/>
          <p:nvPr/>
        </p:nvSpPr>
        <p:spPr>
          <a:xfrm>
            <a:off x="7680960" y="1965960"/>
            <a:ext cx="192024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Ride-Hailing</a:t>
            </a:r>
            <a:endParaRPr lang="en-US" sz="1250" dirty="0"/>
          </a:p>
        </p:txBody>
      </p:sp>
      <p:sp>
        <p:nvSpPr>
          <p:cNvPr id="25" name="Shape 18"/>
          <p:cNvSpPr/>
          <p:nvPr/>
        </p:nvSpPr>
        <p:spPr>
          <a:xfrm>
            <a:off x="5577840" y="2651760"/>
            <a:ext cx="1920240" cy="1417320"/>
          </a:xfrm>
          <a:prstGeom prst="roundRect">
            <a:avLst>
              <a:gd name="adj" fmla="val 5161"/>
            </a:avLst>
          </a:prstGeom>
          <a:solidFill>
            <a:srgbClr val="1B3466"/>
          </a:solidFill>
          <a:ln/>
        </p:spPr>
      </p:sp>
      <p:sp>
        <p:nvSpPr>
          <p:cNvPr id="26" name="Shape 19"/>
          <p:cNvSpPr/>
          <p:nvPr/>
        </p:nvSpPr>
        <p:spPr>
          <a:xfrm>
            <a:off x="6245352" y="2852928"/>
            <a:ext cx="585216" cy="585216"/>
          </a:xfrm>
          <a:prstGeom prst="ellipse">
            <a:avLst/>
          </a:prstGeom>
          <a:solidFill>
            <a:srgbClr val="065A82"/>
          </a:solidFill>
          <a:ln/>
        </p:spPr>
      </p:sp>
      <p:pic>
        <p:nvPicPr>
          <p:cNvPr id="27" name="Image 5" descr="icons/bike.png">    </p:cNvPr>
          <p:cNvPicPr>
            <a:picLocks noChangeAspect="1"/>
          </p:cNvPicPr>
          <p:nvPr/>
        </p:nvPicPr>
        <p:blipFill>
          <a:blip r:embed="rId6"/>
          <a:stretch>
            <a:fillRect/>
          </a:stretch>
        </p:blipFill>
        <p:spPr>
          <a:xfrm>
            <a:off x="6309726" y="2917302"/>
            <a:ext cx="456468" cy="456468"/>
          </a:xfrm>
          <a:prstGeom prst="rect">
            <a:avLst/>
          </a:prstGeom>
        </p:spPr>
      </p:pic>
      <p:sp>
        <p:nvSpPr>
          <p:cNvPr id="28" name="Text 20"/>
          <p:cNvSpPr/>
          <p:nvPr/>
        </p:nvSpPr>
        <p:spPr>
          <a:xfrm>
            <a:off x="5577840" y="3566160"/>
            <a:ext cx="192024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Bike Sharing</a:t>
            </a:r>
            <a:endParaRPr lang="en-US" sz="1250" dirty="0"/>
          </a:p>
        </p:txBody>
      </p:sp>
      <p:sp>
        <p:nvSpPr>
          <p:cNvPr id="29" name="Shape 21"/>
          <p:cNvSpPr/>
          <p:nvPr/>
        </p:nvSpPr>
        <p:spPr>
          <a:xfrm>
            <a:off x="7680960" y="2651760"/>
            <a:ext cx="1920240" cy="1417320"/>
          </a:xfrm>
          <a:prstGeom prst="roundRect">
            <a:avLst>
              <a:gd name="adj" fmla="val 5161"/>
            </a:avLst>
          </a:prstGeom>
          <a:solidFill>
            <a:srgbClr val="1B3466"/>
          </a:solidFill>
          <a:ln/>
        </p:spPr>
      </p:sp>
      <p:sp>
        <p:nvSpPr>
          <p:cNvPr id="30" name="Shape 22"/>
          <p:cNvSpPr/>
          <p:nvPr/>
        </p:nvSpPr>
        <p:spPr>
          <a:xfrm>
            <a:off x="8348472" y="2852928"/>
            <a:ext cx="585216" cy="585216"/>
          </a:xfrm>
          <a:prstGeom prst="ellipse">
            <a:avLst/>
          </a:prstGeom>
          <a:solidFill>
            <a:srgbClr val="065A82"/>
          </a:solidFill>
          <a:ln/>
        </p:spPr>
      </p:sp>
      <p:pic>
        <p:nvPicPr>
          <p:cNvPr id="31" name="Image 6" descr="icons/weather.png">    </p:cNvPr>
          <p:cNvPicPr>
            <a:picLocks noChangeAspect="1"/>
          </p:cNvPicPr>
          <p:nvPr/>
        </p:nvPicPr>
        <p:blipFill>
          <a:blip r:embed="rId7"/>
          <a:stretch>
            <a:fillRect/>
          </a:stretch>
        </p:blipFill>
        <p:spPr>
          <a:xfrm>
            <a:off x="8412846" y="2917302"/>
            <a:ext cx="456468" cy="456468"/>
          </a:xfrm>
          <a:prstGeom prst="rect">
            <a:avLst/>
          </a:prstGeom>
        </p:spPr>
      </p:pic>
      <p:sp>
        <p:nvSpPr>
          <p:cNvPr id="32" name="Text 23"/>
          <p:cNvSpPr/>
          <p:nvPr/>
        </p:nvSpPr>
        <p:spPr>
          <a:xfrm>
            <a:off x="7680960" y="3566160"/>
            <a:ext cx="192024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Weather</a:t>
            </a:r>
            <a:endParaRPr lang="en-US" sz="1250" dirty="0"/>
          </a:p>
        </p:txBody>
      </p:sp>
      <p:sp>
        <p:nvSpPr>
          <p:cNvPr id="33" name="Shape 24"/>
          <p:cNvSpPr/>
          <p:nvPr/>
        </p:nvSpPr>
        <p:spPr>
          <a:xfrm>
            <a:off x="6629400" y="4251960"/>
            <a:ext cx="1920240" cy="1417320"/>
          </a:xfrm>
          <a:prstGeom prst="roundRect">
            <a:avLst>
              <a:gd name="adj" fmla="val 5161"/>
            </a:avLst>
          </a:prstGeom>
          <a:solidFill>
            <a:srgbClr val="1B3466"/>
          </a:solidFill>
          <a:ln/>
        </p:spPr>
      </p:sp>
      <p:sp>
        <p:nvSpPr>
          <p:cNvPr id="34" name="Shape 25"/>
          <p:cNvSpPr/>
          <p:nvPr/>
        </p:nvSpPr>
        <p:spPr>
          <a:xfrm>
            <a:off x="7296912" y="4453128"/>
            <a:ext cx="585216" cy="585216"/>
          </a:xfrm>
          <a:prstGeom prst="ellipse">
            <a:avLst/>
          </a:prstGeom>
          <a:solidFill>
            <a:srgbClr val="065A82"/>
          </a:solidFill>
          <a:ln/>
        </p:spPr>
      </p:sp>
      <p:pic>
        <p:nvPicPr>
          <p:cNvPr id="35" name="Image 7" descr="icons/demographics.png">    </p:cNvPr>
          <p:cNvPicPr>
            <a:picLocks noChangeAspect="1"/>
          </p:cNvPicPr>
          <p:nvPr/>
        </p:nvPicPr>
        <p:blipFill>
          <a:blip r:embed="rId8"/>
          <a:stretch>
            <a:fillRect/>
          </a:stretch>
        </p:blipFill>
        <p:spPr>
          <a:xfrm>
            <a:off x="7361286" y="4517502"/>
            <a:ext cx="456468" cy="456468"/>
          </a:xfrm>
          <a:prstGeom prst="rect">
            <a:avLst/>
          </a:prstGeom>
        </p:spPr>
      </p:pic>
      <p:sp>
        <p:nvSpPr>
          <p:cNvPr id="36" name="Text 26"/>
          <p:cNvSpPr/>
          <p:nvPr/>
        </p:nvSpPr>
        <p:spPr>
          <a:xfrm>
            <a:off x="6629400" y="5166360"/>
            <a:ext cx="192024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Demographics</a:t>
            </a:r>
            <a:endParaRPr lang="en-US" sz="1250" dirty="0"/>
          </a:p>
        </p:txBody>
      </p:sp>
      <p:sp>
        <p:nvSpPr>
          <p:cNvPr id="37" name="Shape 27"/>
          <p:cNvSpPr/>
          <p:nvPr/>
        </p:nvSpPr>
        <p:spPr>
          <a:xfrm>
            <a:off x="640080" y="5623560"/>
            <a:ext cx="1600200" cy="566928"/>
          </a:xfrm>
          <a:prstGeom prst="roundRect">
            <a:avLst>
              <a:gd name="adj" fmla="val 9677"/>
            </a:avLst>
          </a:prstGeom>
          <a:solidFill>
            <a:srgbClr val="1B3466"/>
          </a:solidFill>
          <a:ln/>
        </p:spPr>
      </p:sp>
      <p:sp>
        <p:nvSpPr>
          <p:cNvPr id="38" name="Text 28"/>
          <p:cNvSpPr/>
          <p:nvPr/>
        </p:nvSpPr>
        <p:spPr>
          <a:xfrm>
            <a:off x="640080"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Raw Data</a:t>
            </a:r>
            <a:endParaRPr lang="en-US" sz="1050" dirty="0"/>
          </a:p>
        </p:txBody>
      </p:sp>
      <p:sp>
        <p:nvSpPr>
          <p:cNvPr id="39" name="Shape 29"/>
          <p:cNvSpPr/>
          <p:nvPr/>
        </p:nvSpPr>
        <p:spPr>
          <a:xfrm>
            <a:off x="2221992" y="5852160"/>
            <a:ext cx="292608" cy="109728"/>
          </a:xfrm>
          <a:prstGeom prst="rightArrow">
            <a:avLst/>
          </a:prstGeom>
          <a:solidFill>
            <a:srgbClr val="6E9BD6"/>
          </a:solidFill>
          <a:ln/>
        </p:spPr>
      </p:sp>
      <p:sp>
        <p:nvSpPr>
          <p:cNvPr id="40" name="Shape 30"/>
          <p:cNvSpPr/>
          <p:nvPr/>
        </p:nvSpPr>
        <p:spPr>
          <a:xfrm>
            <a:off x="2496312" y="5623560"/>
            <a:ext cx="1600200" cy="566928"/>
          </a:xfrm>
          <a:prstGeom prst="roundRect">
            <a:avLst>
              <a:gd name="adj" fmla="val 9677"/>
            </a:avLst>
          </a:prstGeom>
          <a:solidFill>
            <a:srgbClr val="1B3466"/>
          </a:solidFill>
          <a:ln/>
        </p:spPr>
      </p:sp>
      <p:sp>
        <p:nvSpPr>
          <p:cNvPr id="41" name="Text 31"/>
          <p:cNvSpPr/>
          <p:nvPr/>
        </p:nvSpPr>
        <p:spPr>
          <a:xfrm>
            <a:off x="2496312"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Cleansing</a:t>
            </a:r>
            <a:endParaRPr lang="en-US" sz="1050" dirty="0"/>
          </a:p>
        </p:txBody>
      </p:sp>
      <p:sp>
        <p:nvSpPr>
          <p:cNvPr id="42" name="Shape 32"/>
          <p:cNvSpPr/>
          <p:nvPr/>
        </p:nvSpPr>
        <p:spPr>
          <a:xfrm>
            <a:off x="4078224" y="5852160"/>
            <a:ext cx="292608" cy="109728"/>
          </a:xfrm>
          <a:prstGeom prst="rightArrow">
            <a:avLst/>
          </a:prstGeom>
          <a:solidFill>
            <a:srgbClr val="6E9BD6"/>
          </a:solidFill>
          <a:ln/>
        </p:spPr>
      </p:sp>
      <p:sp>
        <p:nvSpPr>
          <p:cNvPr id="43" name="Shape 33"/>
          <p:cNvSpPr/>
          <p:nvPr/>
        </p:nvSpPr>
        <p:spPr>
          <a:xfrm>
            <a:off x="4352544" y="5623560"/>
            <a:ext cx="1600200" cy="566928"/>
          </a:xfrm>
          <a:prstGeom prst="roundRect">
            <a:avLst>
              <a:gd name="adj" fmla="val 9677"/>
            </a:avLst>
          </a:prstGeom>
          <a:solidFill>
            <a:srgbClr val="1B3466"/>
          </a:solidFill>
          <a:ln/>
        </p:spPr>
      </p:sp>
      <p:sp>
        <p:nvSpPr>
          <p:cNvPr id="44" name="Text 34"/>
          <p:cNvSpPr/>
          <p:nvPr/>
        </p:nvSpPr>
        <p:spPr>
          <a:xfrm>
            <a:off x="4352544"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Standardization</a:t>
            </a:r>
            <a:endParaRPr lang="en-US" sz="1050" dirty="0"/>
          </a:p>
        </p:txBody>
      </p:sp>
      <p:sp>
        <p:nvSpPr>
          <p:cNvPr id="45" name="Shape 35"/>
          <p:cNvSpPr/>
          <p:nvPr/>
        </p:nvSpPr>
        <p:spPr>
          <a:xfrm>
            <a:off x="5934456" y="5852160"/>
            <a:ext cx="292608" cy="109728"/>
          </a:xfrm>
          <a:prstGeom prst="rightArrow">
            <a:avLst/>
          </a:prstGeom>
          <a:solidFill>
            <a:srgbClr val="6E9BD6"/>
          </a:solidFill>
          <a:ln/>
        </p:spPr>
      </p:sp>
      <p:sp>
        <p:nvSpPr>
          <p:cNvPr id="46" name="Shape 36"/>
          <p:cNvSpPr/>
          <p:nvPr/>
        </p:nvSpPr>
        <p:spPr>
          <a:xfrm>
            <a:off x="6208776" y="5623560"/>
            <a:ext cx="1600200" cy="566928"/>
          </a:xfrm>
          <a:prstGeom prst="roundRect">
            <a:avLst>
              <a:gd name="adj" fmla="val 9677"/>
            </a:avLst>
          </a:prstGeom>
          <a:solidFill>
            <a:srgbClr val="1B3466"/>
          </a:solidFill>
          <a:ln/>
        </p:spPr>
      </p:sp>
      <p:sp>
        <p:nvSpPr>
          <p:cNvPr id="47" name="Text 37"/>
          <p:cNvSpPr/>
          <p:nvPr/>
        </p:nvSpPr>
        <p:spPr>
          <a:xfrm>
            <a:off x="6208776"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p>
        </p:txBody>
      </p:sp>
      <p:sp>
        <p:nvSpPr>
          <p:cNvPr id="48" name="Shape 38"/>
          <p:cNvSpPr/>
          <p:nvPr/>
        </p:nvSpPr>
        <p:spPr>
          <a:xfrm>
            <a:off x="7790688" y="5852160"/>
            <a:ext cx="292608" cy="109728"/>
          </a:xfrm>
          <a:prstGeom prst="rightArrow">
            <a:avLst/>
          </a:prstGeom>
          <a:solidFill>
            <a:srgbClr val="6E9BD6"/>
          </a:solidFill>
          <a:ln/>
        </p:spPr>
      </p:sp>
      <p:sp>
        <p:nvSpPr>
          <p:cNvPr id="49" name="Shape 39"/>
          <p:cNvSpPr/>
          <p:nvPr/>
        </p:nvSpPr>
        <p:spPr>
          <a:xfrm>
            <a:off x="8065008" y="5623560"/>
            <a:ext cx="1600200" cy="566928"/>
          </a:xfrm>
          <a:prstGeom prst="roundRect">
            <a:avLst>
              <a:gd name="adj" fmla="val 9677"/>
            </a:avLst>
          </a:prstGeom>
          <a:solidFill>
            <a:srgbClr val="1B3466"/>
          </a:solidFill>
          <a:ln/>
        </p:spPr>
      </p:sp>
      <p:sp>
        <p:nvSpPr>
          <p:cNvPr id="50" name="Text 40"/>
          <p:cNvSpPr/>
          <p:nvPr/>
        </p:nvSpPr>
        <p:spPr>
          <a:xfrm>
            <a:off x="8065008"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Star Schema</a:t>
            </a:r>
            <a:endParaRPr lang="en-US" sz="1050" dirty="0"/>
          </a:p>
        </p:txBody>
      </p:sp>
      <p:sp>
        <p:nvSpPr>
          <p:cNvPr id="51" name="Shape 41"/>
          <p:cNvSpPr/>
          <p:nvPr/>
        </p:nvSpPr>
        <p:spPr>
          <a:xfrm>
            <a:off x="9646920" y="5852160"/>
            <a:ext cx="292608" cy="109728"/>
          </a:xfrm>
          <a:prstGeom prst="rightArrow">
            <a:avLst/>
          </a:prstGeom>
          <a:solidFill>
            <a:srgbClr val="6E9BD6"/>
          </a:solidFill>
          <a:ln/>
        </p:spPr>
      </p:sp>
      <p:sp>
        <p:nvSpPr>
          <p:cNvPr id="52" name="Shape 42"/>
          <p:cNvSpPr/>
          <p:nvPr/>
        </p:nvSpPr>
        <p:spPr>
          <a:xfrm>
            <a:off x="9921240" y="5623560"/>
            <a:ext cx="1600200" cy="566928"/>
          </a:xfrm>
          <a:prstGeom prst="roundRect">
            <a:avLst>
              <a:gd name="adj" fmla="val 9677"/>
            </a:avLst>
          </a:prstGeom>
          <a:solidFill>
            <a:srgbClr val="065A82"/>
          </a:solidFill>
          <a:ln/>
        </p:spPr>
      </p:sp>
      <p:sp>
        <p:nvSpPr>
          <p:cNvPr id="53" name="Text 43"/>
          <p:cNvSpPr/>
          <p:nvPr/>
        </p:nvSpPr>
        <p:spPr>
          <a:xfrm>
            <a:off x="9921240" y="5623560"/>
            <a:ext cx="160020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Warehouse</a:t>
            </a:r>
            <a:endParaRPr lang="en-US" sz="1050" dirty="0"/>
          </a:p>
        </p:txBody>
      </p:sp>
      <p:sp>
        <p:nvSpPr>
          <p:cNvPr id="54" name="Text 44"/>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9FB6D9"/>
                </a:solidFill>
                <a:latin typeface="Calibri" pitchFamily="34" charset="0"/>
                <a:ea typeface="Calibri" pitchFamily="34" charset="-122"/>
                <a:cs typeface="Calibri" pitchFamily="34" charset="-120"/>
              </a:rPr>
              <a:t>Urban Pulse  |  Smart City Mobility Intelligence</a:t>
            </a:r>
            <a:endParaRPr lang="en-US" sz="900" dirty="0"/>
          </a:p>
        </p:txBody>
      </p:sp>
      <p:sp>
        <p:nvSpPr>
          <p:cNvPr id="55" name="Text 45"/>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9FB6D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Data Cleansing &amp; Schema Standardization</a:t>
            </a:r>
            <a:endParaRPr lang="en-US" sz="2600" dirty="0"/>
          </a:p>
        </p:txBody>
      </p:sp>
      <p:sp>
        <p:nvSpPr>
          <p:cNvPr id="3" name="Text 1"/>
          <p:cNvSpPr/>
          <p:nvPr/>
        </p:nvSpPr>
        <p:spPr>
          <a:xfrm>
            <a:off x="548640" y="868680"/>
            <a:ext cx="10972800" cy="320040"/>
          </a:xfrm>
          <a:prstGeom prst="rect">
            <a:avLst/>
          </a:prstGeom>
          <a:noFill/>
          <a:ln/>
        </p:spPr>
        <p:txBody>
          <a:bodyPr wrap="square"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Turning five raw feeds into one clean, analytics-ready dataset</a:t>
            </a:r>
            <a:endParaRPr lang="en-US" sz="1300" dirty="0"/>
          </a:p>
        </p:txBody>
      </p:sp>
      <p:sp>
        <p:nvSpPr>
          <p:cNvPr id="4" name="Shape 2"/>
          <p:cNvSpPr/>
          <p:nvPr/>
        </p:nvSpPr>
        <p:spPr>
          <a:xfrm>
            <a:off x="548640" y="1371600"/>
            <a:ext cx="5394960" cy="3703320"/>
          </a:xfrm>
          <a:prstGeom prst="roundRect">
            <a:avLst>
              <a:gd name="adj" fmla="val 1975"/>
            </a:avLst>
          </a:prstGeom>
          <a:solidFill>
            <a:srgbClr val="F4F7FA"/>
          </a:solidFill>
          <a:ln/>
        </p:spPr>
      </p:sp>
      <p:sp>
        <p:nvSpPr>
          <p:cNvPr id="5" name="Shape 3"/>
          <p:cNvSpPr/>
          <p:nvPr/>
        </p:nvSpPr>
        <p:spPr>
          <a:xfrm>
            <a:off x="822960" y="1572768"/>
            <a:ext cx="420624" cy="420624"/>
          </a:xfrm>
          <a:prstGeom prst="ellipse">
            <a:avLst/>
          </a:prstGeom>
          <a:solidFill>
            <a:srgbClr val="065A82"/>
          </a:solidFill>
          <a:ln/>
        </p:spPr>
      </p:sp>
      <p:pic>
        <p:nvPicPr>
          <p:cNvPr id="6" name="Image 0" descr="icons/dedupe.png">    </p:cNvPr>
          <p:cNvPicPr>
            <a:picLocks noChangeAspect="1"/>
          </p:cNvPicPr>
          <p:nvPr/>
        </p:nvPicPr>
        <p:blipFill>
          <a:blip r:embed="rId1"/>
          <a:stretch>
            <a:fillRect/>
          </a:stretch>
        </p:blipFill>
        <p:spPr>
          <a:xfrm>
            <a:off x="869229" y="1619037"/>
            <a:ext cx="328087" cy="328087"/>
          </a:xfrm>
          <a:prstGeom prst="rect">
            <a:avLst/>
          </a:prstGeom>
        </p:spPr>
      </p:pic>
      <p:sp>
        <p:nvSpPr>
          <p:cNvPr id="7" name="Text 4"/>
          <p:cNvSpPr/>
          <p:nvPr/>
        </p:nvSpPr>
        <p:spPr>
          <a:xfrm>
            <a:off x="1371600" y="1572768"/>
            <a:ext cx="4297680" cy="420624"/>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Data Cleansing</a:t>
            </a:r>
            <a:endParaRPr lang="en-US" sz="1600" dirty="0"/>
          </a:p>
        </p:txBody>
      </p:sp>
      <p:sp>
        <p:nvSpPr>
          <p:cNvPr id="8" name="Shape 5"/>
          <p:cNvSpPr/>
          <p:nvPr/>
        </p:nvSpPr>
        <p:spPr>
          <a:xfrm>
            <a:off x="822960" y="2148840"/>
            <a:ext cx="274320" cy="274320"/>
          </a:xfrm>
          <a:prstGeom prst="ellipse">
            <a:avLst/>
          </a:prstGeom>
          <a:solidFill>
            <a:srgbClr val="065A82"/>
          </a:solidFill>
          <a:ln/>
        </p:spPr>
      </p:sp>
      <p:pic>
        <p:nvPicPr>
          <p:cNvPr id="9" name="Image 1" descr="icons/dedupe.png">    </p:cNvPr>
          <p:cNvPicPr>
            <a:picLocks noChangeAspect="1"/>
          </p:cNvPicPr>
          <p:nvPr/>
        </p:nvPicPr>
        <p:blipFill>
          <a:blip r:embed="rId2"/>
          <a:stretch>
            <a:fillRect/>
          </a:stretch>
        </p:blipFill>
        <p:spPr>
          <a:xfrm>
            <a:off x="853135" y="2179015"/>
            <a:ext cx="213970" cy="213970"/>
          </a:xfrm>
          <a:prstGeom prst="rect">
            <a:avLst/>
          </a:prstGeom>
        </p:spPr>
      </p:pic>
      <p:sp>
        <p:nvSpPr>
          <p:cNvPr id="10" name="Text 6"/>
          <p:cNvSpPr/>
          <p:nvPr/>
        </p:nvSpPr>
        <p:spPr>
          <a:xfrm>
            <a:off x="1298448" y="2103120"/>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Remove duplicate records  </a:t>
            </a:r>
            <a:pPr indent="0" marL="0">
              <a:buNone/>
            </a:pPr>
            <a:endParaRPr lang="en-US" sz="1200" dirty="0"/>
          </a:p>
        </p:txBody>
      </p:sp>
      <p:sp>
        <p:nvSpPr>
          <p:cNvPr id="11" name="Shape 7"/>
          <p:cNvSpPr/>
          <p:nvPr/>
        </p:nvSpPr>
        <p:spPr>
          <a:xfrm>
            <a:off x="822960" y="2592324"/>
            <a:ext cx="274320" cy="274320"/>
          </a:xfrm>
          <a:prstGeom prst="ellipse">
            <a:avLst/>
          </a:prstGeom>
          <a:solidFill>
            <a:srgbClr val="065A82"/>
          </a:solidFill>
          <a:ln/>
        </p:spPr>
      </p:sp>
      <p:pic>
        <p:nvPicPr>
          <p:cNvPr id="12" name="Image 2" descr="icons/invalid.png">    </p:cNvPr>
          <p:cNvPicPr>
            <a:picLocks noChangeAspect="1"/>
          </p:cNvPicPr>
          <p:nvPr/>
        </p:nvPicPr>
        <p:blipFill>
          <a:blip r:embed="rId3"/>
          <a:stretch>
            <a:fillRect/>
          </a:stretch>
        </p:blipFill>
        <p:spPr>
          <a:xfrm>
            <a:off x="853135" y="2622499"/>
            <a:ext cx="213970" cy="213970"/>
          </a:xfrm>
          <a:prstGeom prst="rect">
            <a:avLst/>
          </a:prstGeom>
        </p:spPr>
      </p:pic>
      <p:sp>
        <p:nvSpPr>
          <p:cNvPr id="13" name="Text 8"/>
          <p:cNvSpPr/>
          <p:nvPr/>
        </p:nvSpPr>
        <p:spPr>
          <a:xfrm>
            <a:off x="1298448" y="2546604"/>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Handle missing &amp; invalid values  </a:t>
            </a:r>
            <a:pPr indent="0" marL="0">
              <a:buNone/>
            </a:pPr>
            <a:endParaRPr lang="en-US" sz="1200" dirty="0"/>
          </a:p>
        </p:txBody>
      </p:sp>
      <p:sp>
        <p:nvSpPr>
          <p:cNvPr id="14" name="Shape 9"/>
          <p:cNvSpPr/>
          <p:nvPr/>
        </p:nvSpPr>
        <p:spPr>
          <a:xfrm>
            <a:off x="822960" y="3035808"/>
            <a:ext cx="274320" cy="274320"/>
          </a:xfrm>
          <a:prstGeom prst="ellipse">
            <a:avLst/>
          </a:prstGeom>
          <a:solidFill>
            <a:srgbClr val="065A82"/>
          </a:solidFill>
          <a:ln/>
        </p:spPr>
      </p:sp>
      <p:pic>
        <p:nvPicPr>
          <p:cNvPr id="15" name="Image 3" descr="icons/dtype.png">    </p:cNvPr>
          <p:cNvPicPr>
            <a:picLocks noChangeAspect="1"/>
          </p:cNvPicPr>
          <p:nvPr/>
        </p:nvPicPr>
        <p:blipFill>
          <a:blip r:embed="rId4"/>
          <a:stretch>
            <a:fillRect/>
          </a:stretch>
        </p:blipFill>
        <p:spPr>
          <a:xfrm>
            <a:off x="853135" y="3065983"/>
            <a:ext cx="213970" cy="213970"/>
          </a:xfrm>
          <a:prstGeom prst="rect">
            <a:avLst/>
          </a:prstGeom>
        </p:spPr>
      </p:pic>
      <p:sp>
        <p:nvSpPr>
          <p:cNvPr id="16" name="Text 10"/>
          <p:cNvSpPr/>
          <p:nvPr/>
        </p:nvSpPr>
        <p:spPr>
          <a:xfrm>
            <a:off x="1298448" y="2990088"/>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Convert incorrect data types  </a:t>
            </a:r>
            <a:pPr indent="0" marL="0">
              <a:buNone/>
            </a:pPr>
            <a:endParaRPr lang="en-US" sz="1200" dirty="0"/>
          </a:p>
        </p:txBody>
      </p:sp>
      <p:sp>
        <p:nvSpPr>
          <p:cNvPr id="17" name="Shape 11"/>
          <p:cNvSpPr/>
          <p:nvPr/>
        </p:nvSpPr>
        <p:spPr>
          <a:xfrm>
            <a:off x="822960" y="3479292"/>
            <a:ext cx="274320" cy="274320"/>
          </a:xfrm>
          <a:prstGeom prst="ellipse">
            <a:avLst/>
          </a:prstGeom>
          <a:solidFill>
            <a:srgbClr val="065A82"/>
          </a:solidFill>
          <a:ln/>
        </p:spPr>
      </p:sp>
      <p:pic>
        <p:nvPicPr>
          <p:cNvPr id="18" name="Image 4" descr="icons/timestamp.png">    </p:cNvPr>
          <p:cNvPicPr>
            <a:picLocks noChangeAspect="1"/>
          </p:cNvPicPr>
          <p:nvPr/>
        </p:nvPicPr>
        <p:blipFill>
          <a:blip r:embed="rId5"/>
          <a:stretch>
            <a:fillRect/>
          </a:stretch>
        </p:blipFill>
        <p:spPr>
          <a:xfrm>
            <a:off x="853135" y="3509467"/>
            <a:ext cx="213970" cy="213970"/>
          </a:xfrm>
          <a:prstGeom prst="rect">
            <a:avLst/>
          </a:prstGeom>
        </p:spPr>
      </p:pic>
      <p:sp>
        <p:nvSpPr>
          <p:cNvPr id="19" name="Text 12"/>
          <p:cNvSpPr/>
          <p:nvPr/>
        </p:nvSpPr>
        <p:spPr>
          <a:xfrm>
            <a:off x="1298448" y="3433572"/>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Standardize timestamps  </a:t>
            </a:r>
            <a:pPr indent="0" marL="0">
              <a:buNone/>
            </a:pPr>
            <a:endParaRPr lang="en-US" sz="1200" dirty="0"/>
          </a:p>
        </p:txBody>
      </p:sp>
      <p:sp>
        <p:nvSpPr>
          <p:cNvPr id="20" name="Shape 13"/>
          <p:cNvSpPr/>
          <p:nvPr/>
        </p:nvSpPr>
        <p:spPr>
          <a:xfrm>
            <a:off x="822960" y="3922776"/>
            <a:ext cx="274320" cy="274320"/>
          </a:xfrm>
          <a:prstGeom prst="ellipse">
            <a:avLst/>
          </a:prstGeom>
          <a:solidFill>
            <a:srgbClr val="065A82"/>
          </a:solidFill>
          <a:ln/>
        </p:spPr>
      </p:sp>
      <p:pic>
        <p:nvPicPr>
          <p:cNvPr id="21" name="Image 5" descr="icons/categorical.png">    </p:cNvPr>
          <p:cNvPicPr>
            <a:picLocks noChangeAspect="1"/>
          </p:cNvPicPr>
          <p:nvPr/>
        </p:nvPicPr>
        <p:blipFill>
          <a:blip r:embed="rId6"/>
          <a:stretch>
            <a:fillRect/>
          </a:stretch>
        </p:blipFill>
        <p:spPr>
          <a:xfrm>
            <a:off x="853135" y="3952951"/>
            <a:ext cx="213970" cy="213970"/>
          </a:xfrm>
          <a:prstGeom prst="rect">
            <a:avLst/>
          </a:prstGeom>
        </p:spPr>
      </p:pic>
      <p:sp>
        <p:nvSpPr>
          <p:cNvPr id="22" name="Text 14"/>
          <p:cNvSpPr/>
          <p:nvPr/>
        </p:nvSpPr>
        <p:spPr>
          <a:xfrm>
            <a:off x="1298448" y="3877056"/>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Normalize categorical values  </a:t>
            </a:r>
            <a:pPr indent="0" marL="0">
              <a:buNone/>
            </a:pPr>
            <a:endParaRPr lang="en-US" sz="1200" dirty="0"/>
          </a:p>
        </p:txBody>
      </p:sp>
      <p:sp>
        <p:nvSpPr>
          <p:cNvPr id="23" name="Shape 15"/>
          <p:cNvSpPr/>
          <p:nvPr/>
        </p:nvSpPr>
        <p:spPr>
          <a:xfrm>
            <a:off x="822960" y="4366260"/>
            <a:ext cx="274320" cy="274320"/>
          </a:xfrm>
          <a:prstGeom prst="ellipse">
            <a:avLst/>
          </a:prstGeom>
          <a:solidFill>
            <a:srgbClr val="065A82"/>
          </a:solidFill>
          <a:ln/>
        </p:spPr>
      </p:sp>
      <p:pic>
        <p:nvPicPr>
          <p:cNvPr id="24" name="Image 6" descr="icons/pkey.png">    </p:cNvPr>
          <p:cNvPicPr>
            <a:picLocks noChangeAspect="1"/>
          </p:cNvPicPr>
          <p:nvPr/>
        </p:nvPicPr>
        <p:blipFill>
          <a:blip r:embed="rId7"/>
          <a:stretch>
            <a:fillRect/>
          </a:stretch>
        </p:blipFill>
        <p:spPr>
          <a:xfrm>
            <a:off x="853135" y="4396435"/>
            <a:ext cx="213970" cy="213970"/>
          </a:xfrm>
          <a:prstGeom prst="rect">
            <a:avLst/>
          </a:prstGeom>
        </p:spPr>
      </p:pic>
      <p:sp>
        <p:nvSpPr>
          <p:cNvPr id="25" name="Text 16"/>
          <p:cNvSpPr/>
          <p:nvPr/>
        </p:nvSpPr>
        <p:spPr>
          <a:xfrm>
            <a:off x="1298448" y="4320540"/>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Validate primary keys  </a:t>
            </a:r>
            <a:pPr indent="0" marL="0">
              <a:buNone/>
            </a:pPr>
            <a:endParaRPr lang="en-US" sz="1200" dirty="0"/>
          </a:p>
        </p:txBody>
      </p:sp>
      <p:sp>
        <p:nvSpPr>
          <p:cNvPr id="26" name="Shape 17"/>
          <p:cNvSpPr/>
          <p:nvPr/>
        </p:nvSpPr>
        <p:spPr>
          <a:xfrm>
            <a:off x="6217920" y="1371600"/>
            <a:ext cx="5394960" cy="3703320"/>
          </a:xfrm>
          <a:prstGeom prst="roundRect">
            <a:avLst>
              <a:gd name="adj" fmla="val 1975"/>
            </a:avLst>
          </a:prstGeom>
          <a:solidFill>
            <a:srgbClr val="F4F7FA"/>
          </a:solidFill>
          <a:ln/>
        </p:spPr>
      </p:sp>
      <p:sp>
        <p:nvSpPr>
          <p:cNvPr id="27" name="Shape 18"/>
          <p:cNvSpPr/>
          <p:nvPr/>
        </p:nvSpPr>
        <p:spPr>
          <a:xfrm>
            <a:off x="6492240" y="1572768"/>
            <a:ext cx="420624" cy="420624"/>
          </a:xfrm>
          <a:prstGeom prst="ellipse">
            <a:avLst/>
          </a:prstGeom>
          <a:solidFill>
            <a:srgbClr val="1C7293"/>
          </a:solidFill>
          <a:ln/>
        </p:spPr>
      </p:sp>
      <p:pic>
        <p:nvPicPr>
          <p:cNvPr id="28" name="Image 7" descr="icons/rename.png">    </p:cNvPr>
          <p:cNvPicPr>
            <a:picLocks noChangeAspect="1"/>
          </p:cNvPicPr>
          <p:nvPr/>
        </p:nvPicPr>
        <p:blipFill>
          <a:blip r:embed="rId8"/>
          <a:stretch>
            <a:fillRect/>
          </a:stretch>
        </p:blipFill>
        <p:spPr>
          <a:xfrm>
            <a:off x="6538509" y="1619037"/>
            <a:ext cx="328087" cy="328087"/>
          </a:xfrm>
          <a:prstGeom prst="rect">
            <a:avLst/>
          </a:prstGeom>
        </p:spPr>
      </p:pic>
      <p:sp>
        <p:nvSpPr>
          <p:cNvPr id="29" name="Text 19"/>
          <p:cNvSpPr/>
          <p:nvPr/>
        </p:nvSpPr>
        <p:spPr>
          <a:xfrm>
            <a:off x="7040880" y="1572768"/>
            <a:ext cx="4389120" cy="420624"/>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Schema Standardization</a:t>
            </a:r>
            <a:endParaRPr lang="en-US" sz="1600" dirty="0"/>
          </a:p>
        </p:txBody>
      </p:sp>
      <p:sp>
        <p:nvSpPr>
          <p:cNvPr id="30" name="Shape 20"/>
          <p:cNvSpPr/>
          <p:nvPr/>
        </p:nvSpPr>
        <p:spPr>
          <a:xfrm>
            <a:off x="6492240" y="2148840"/>
            <a:ext cx="274320" cy="274320"/>
          </a:xfrm>
          <a:prstGeom prst="ellipse">
            <a:avLst/>
          </a:prstGeom>
          <a:solidFill>
            <a:srgbClr val="1C7293"/>
          </a:solidFill>
          <a:ln/>
        </p:spPr>
      </p:sp>
      <p:pic>
        <p:nvPicPr>
          <p:cNvPr id="31" name="Image 8" descr="icons/rename.png">    </p:cNvPr>
          <p:cNvPicPr>
            <a:picLocks noChangeAspect="1"/>
          </p:cNvPicPr>
          <p:nvPr/>
        </p:nvPicPr>
        <p:blipFill>
          <a:blip r:embed="rId9"/>
          <a:stretch>
            <a:fillRect/>
          </a:stretch>
        </p:blipFill>
        <p:spPr>
          <a:xfrm>
            <a:off x="6522415" y="2179015"/>
            <a:ext cx="213970" cy="213970"/>
          </a:xfrm>
          <a:prstGeom prst="rect">
            <a:avLst/>
          </a:prstGeom>
        </p:spPr>
      </p:pic>
      <p:sp>
        <p:nvSpPr>
          <p:cNvPr id="32" name="Text 21"/>
          <p:cNvSpPr/>
          <p:nvPr/>
        </p:nvSpPr>
        <p:spPr>
          <a:xfrm>
            <a:off x="6967728" y="2103120"/>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Rename inconsistent columns  </a:t>
            </a:r>
            <a:pPr indent="0" marL="0">
              <a:buNone/>
            </a:pPr>
            <a:endParaRPr lang="en-US" sz="1200" dirty="0"/>
          </a:p>
        </p:txBody>
      </p:sp>
      <p:sp>
        <p:nvSpPr>
          <p:cNvPr id="33" name="Shape 22"/>
          <p:cNvSpPr/>
          <p:nvPr/>
        </p:nvSpPr>
        <p:spPr>
          <a:xfrm>
            <a:off x="6492240" y="2592324"/>
            <a:ext cx="274320" cy="274320"/>
          </a:xfrm>
          <a:prstGeom prst="ellipse">
            <a:avLst/>
          </a:prstGeom>
          <a:solidFill>
            <a:srgbClr val="1C7293"/>
          </a:solidFill>
          <a:ln/>
        </p:spPr>
      </p:sp>
      <p:pic>
        <p:nvPicPr>
          <p:cNvPr id="34" name="Image 9" descr="icons/categorical.png">    </p:cNvPr>
          <p:cNvPicPr>
            <a:picLocks noChangeAspect="1"/>
          </p:cNvPicPr>
          <p:nvPr/>
        </p:nvPicPr>
        <p:blipFill>
          <a:blip r:embed="rId10"/>
          <a:stretch>
            <a:fillRect/>
          </a:stretch>
        </p:blipFill>
        <p:spPr>
          <a:xfrm>
            <a:off x="6522415" y="2622499"/>
            <a:ext cx="213970" cy="213970"/>
          </a:xfrm>
          <a:prstGeom prst="rect">
            <a:avLst/>
          </a:prstGeom>
        </p:spPr>
      </p:pic>
      <p:sp>
        <p:nvSpPr>
          <p:cNvPr id="35" name="Text 23"/>
          <p:cNvSpPr/>
          <p:nvPr/>
        </p:nvSpPr>
        <p:spPr>
          <a:xfrm>
            <a:off x="6967728" y="2546604"/>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Common naming conventions  </a:t>
            </a:r>
            <a:pPr indent="0" marL="0">
              <a:buNone/>
            </a:pPr>
            <a:endParaRPr lang="en-US" sz="1200" dirty="0"/>
          </a:p>
        </p:txBody>
      </p:sp>
      <p:sp>
        <p:nvSpPr>
          <p:cNvPr id="36" name="Shape 24"/>
          <p:cNvSpPr/>
          <p:nvPr/>
        </p:nvSpPr>
        <p:spPr>
          <a:xfrm>
            <a:off x="6492240" y="3035808"/>
            <a:ext cx="274320" cy="274320"/>
          </a:xfrm>
          <a:prstGeom prst="ellipse">
            <a:avLst/>
          </a:prstGeom>
          <a:solidFill>
            <a:srgbClr val="1C7293"/>
          </a:solidFill>
          <a:ln/>
        </p:spPr>
      </p:sp>
      <p:pic>
        <p:nvPicPr>
          <p:cNvPr id="37" name="Image 10" descr="icons/dtype.png">    </p:cNvPr>
          <p:cNvPicPr>
            <a:picLocks noChangeAspect="1"/>
          </p:cNvPicPr>
          <p:nvPr/>
        </p:nvPicPr>
        <p:blipFill>
          <a:blip r:embed="rId11"/>
          <a:stretch>
            <a:fillRect/>
          </a:stretch>
        </p:blipFill>
        <p:spPr>
          <a:xfrm>
            <a:off x="6522415" y="3065983"/>
            <a:ext cx="213970" cy="213970"/>
          </a:xfrm>
          <a:prstGeom prst="rect">
            <a:avLst/>
          </a:prstGeom>
        </p:spPr>
      </p:pic>
      <p:sp>
        <p:nvSpPr>
          <p:cNvPr id="38" name="Text 25"/>
          <p:cNvSpPr/>
          <p:nvPr/>
        </p:nvSpPr>
        <p:spPr>
          <a:xfrm>
            <a:off x="6967728" y="2990088"/>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Standardize formats across sources  </a:t>
            </a:r>
            <a:pPr indent="0" marL="0">
              <a:buNone/>
            </a:pPr>
            <a:endParaRPr lang="en-US" sz="1200" dirty="0"/>
          </a:p>
        </p:txBody>
      </p:sp>
      <p:sp>
        <p:nvSpPr>
          <p:cNvPr id="39" name="Shape 26"/>
          <p:cNvSpPr/>
          <p:nvPr/>
        </p:nvSpPr>
        <p:spPr>
          <a:xfrm>
            <a:off x="6492240" y="3479292"/>
            <a:ext cx="274320" cy="274320"/>
          </a:xfrm>
          <a:prstGeom prst="ellipse">
            <a:avLst/>
          </a:prstGeom>
          <a:solidFill>
            <a:srgbClr val="1C7293"/>
          </a:solidFill>
          <a:ln/>
        </p:spPr>
      </p:sp>
      <p:pic>
        <p:nvPicPr>
          <p:cNvPr id="40" name="Image 11" descr="icons/relate.png">    </p:cNvPr>
          <p:cNvPicPr>
            <a:picLocks noChangeAspect="1"/>
          </p:cNvPicPr>
          <p:nvPr/>
        </p:nvPicPr>
        <p:blipFill>
          <a:blip r:embed="rId12"/>
          <a:stretch>
            <a:fillRect/>
          </a:stretch>
        </p:blipFill>
        <p:spPr>
          <a:xfrm>
            <a:off x="6522415" y="3509467"/>
            <a:ext cx="213970" cy="213970"/>
          </a:xfrm>
          <a:prstGeom prst="rect">
            <a:avLst/>
          </a:prstGeom>
        </p:spPr>
      </p:pic>
      <p:sp>
        <p:nvSpPr>
          <p:cNvPr id="41" name="Text 27"/>
          <p:cNvSpPr/>
          <p:nvPr/>
        </p:nvSpPr>
        <p:spPr>
          <a:xfrm>
            <a:off x="6967728" y="3433572"/>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Establish dataset relationships  </a:t>
            </a:r>
            <a:pPr indent="0" marL="0">
              <a:buNone/>
            </a:pPr>
            <a:endParaRPr lang="en-US" sz="1200" dirty="0"/>
          </a:p>
        </p:txBody>
      </p:sp>
      <p:sp>
        <p:nvSpPr>
          <p:cNvPr id="42" name="Shape 28"/>
          <p:cNvSpPr/>
          <p:nvPr/>
        </p:nvSpPr>
        <p:spPr>
          <a:xfrm>
            <a:off x="6492240" y="3922776"/>
            <a:ext cx="274320" cy="274320"/>
          </a:xfrm>
          <a:prstGeom prst="ellipse">
            <a:avLst/>
          </a:prstGeom>
          <a:solidFill>
            <a:srgbClr val="1C7293"/>
          </a:solidFill>
          <a:ln/>
        </p:spPr>
      </p:sp>
      <p:pic>
        <p:nvPicPr>
          <p:cNvPr id="43" name="Image 12" descr="icons/dimensional.png">    </p:cNvPr>
          <p:cNvPicPr>
            <a:picLocks noChangeAspect="1"/>
          </p:cNvPicPr>
          <p:nvPr/>
        </p:nvPicPr>
        <p:blipFill>
          <a:blip r:embed="rId13"/>
          <a:stretch>
            <a:fillRect/>
          </a:stretch>
        </p:blipFill>
        <p:spPr>
          <a:xfrm>
            <a:off x="6522415" y="3952951"/>
            <a:ext cx="213970" cy="213970"/>
          </a:xfrm>
          <a:prstGeom prst="rect">
            <a:avLst/>
          </a:prstGeom>
        </p:spPr>
      </p:pic>
      <p:sp>
        <p:nvSpPr>
          <p:cNvPr id="44" name="Text 29"/>
          <p:cNvSpPr/>
          <p:nvPr/>
        </p:nvSpPr>
        <p:spPr>
          <a:xfrm>
            <a:off x="6967728" y="3877056"/>
            <a:ext cx="4187952" cy="365760"/>
          </a:xfrm>
          <a:prstGeom prst="rect">
            <a:avLst/>
          </a:prstGeom>
          <a:noFill/>
          <a:ln/>
        </p:spPr>
        <p:txBody>
          <a:bodyPr wrap="square"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Prepare for dimensional modeling  </a:t>
            </a:r>
            <a:pPr indent="0" marL="0">
              <a:buNone/>
            </a:pPr>
            <a:endParaRPr lang="en-US" sz="1200" dirty="0"/>
          </a:p>
        </p:txBody>
      </p:sp>
      <p:sp>
        <p:nvSpPr>
          <p:cNvPr id="45" name="Shape 30"/>
          <p:cNvSpPr/>
          <p:nvPr/>
        </p:nvSpPr>
        <p:spPr>
          <a:xfrm>
            <a:off x="548640" y="5349240"/>
            <a:ext cx="2491740" cy="713232"/>
          </a:xfrm>
          <a:prstGeom prst="roundRect">
            <a:avLst>
              <a:gd name="adj" fmla="val 8974"/>
            </a:avLst>
          </a:prstGeom>
          <a:solidFill>
            <a:srgbClr val="21295C"/>
          </a:solidFill>
          <a:ln/>
        </p:spPr>
      </p:sp>
      <p:sp>
        <p:nvSpPr>
          <p:cNvPr id="46" name="Text 31"/>
          <p:cNvSpPr/>
          <p:nvPr/>
        </p:nvSpPr>
        <p:spPr>
          <a:xfrm>
            <a:off x="548640" y="5349240"/>
            <a:ext cx="2491740" cy="7132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Raw Data</a:t>
            </a:r>
            <a:endParaRPr lang="en-US" sz="1300" dirty="0"/>
          </a:p>
        </p:txBody>
      </p:sp>
      <p:sp>
        <p:nvSpPr>
          <p:cNvPr id="47" name="Shape 32"/>
          <p:cNvSpPr/>
          <p:nvPr/>
        </p:nvSpPr>
        <p:spPr>
          <a:xfrm>
            <a:off x="3040380" y="5623560"/>
            <a:ext cx="292608" cy="164592"/>
          </a:xfrm>
          <a:prstGeom prst="rightArrow">
            <a:avLst/>
          </a:prstGeom>
          <a:solidFill>
            <a:srgbClr val="1C7293"/>
          </a:solidFill>
          <a:ln/>
        </p:spPr>
      </p:sp>
      <p:sp>
        <p:nvSpPr>
          <p:cNvPr id="48" name="Shape 33"/>
          <p:cNvSpPr/>
          <p:nvPr/>
        </p:nvSpPr>
        <p:spPr>
          <a:xfrm>
            <a:off x="3406140" y="5349240"/>
            <a:ext cx="2491740" cy="713232"/>
          </a:xfrm>
          <a:prstGeom prst="roundRect">
            <a:avLst>
              <a:gd name="adj" fmla="val 8974"/>
            </a:avLst>
          </a:prstGeom>
          <a:solidFill>
            <a:srgbClr val="21295C"/>
          </a:solidFill>
          <a:ln/>
        </p:spPr>
      </p:sp>
      <p:sp>
        <p:nvSpPr>
          <p:cNvPr id="49" name="Text 34"/>
          <p:cNvSpPr/>
          <p:nvPr/>
        </p:nvSpPr>
        <p:spPr>
          <a:xfrm>
            <a:off x="3406140" y="5349240"/>
            <a:ext cx="2491740" cy="7132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Cleansing</a:t>
            </a:r>
            <a:endParaRPr lang="en-US" sz="1300" dirty="0"/>
          </a:p>
        </p:txBody>
      </p:sp>
      <p:sp>
        <p:nvSpPr>
          <p:cNvPr id="50" name="Shape 35"/>
          <p:cNvSpPr/>
          <p:nvPr/>
        </p:nvSpPr>
        <p:spPr>
          <a:xfrm>
            <a:off x="5897880" y="5623560"/>
            <a:ext cx="292608" cy="164592"/>
          </a:xfrm>
          <a:prstGeom prst="rightArrow">
            <a:avLst/>
          </a:prstGeom>
          <a:solidFill>
            <a:srgbClr val="1C7293"/>
          </a:solidFill>
          <a:ln/>
        </p:spPr>
      </p:sp>
      <p:sp>
        <p:nvSpPr>
          <p:cNvPr id="51" name="Shape 36"/>
          <p:cNvSpPr/>
          <p:nvPr/>
        </p:nvSpPr>
        <p:spPr>
          <a:xfrm>
            <a:off x="6263640" y="5349240"/>
            <a:ext cx="2491740" cy="713232"/>
          </a:xfrm>
          <a:prstGeom prst="roundRect">
            <a:avLst>
              <a:gd name="adj" fmla="val 8974"/>
            </a:avLst>
          </a:prstGeom>
          <a:solidFill>
            <a:srgbClr val="21295C"/>
          </a:solidFill>
          <a:ln/>
        </p:spPr>
      </p:sp>
      <p:sp>
        <p:nvSpPr>
          <p:cNvPr id="52" name="Text 37"/>
          <p:cNvSpPr/>
          <p:nvPr/>
        </p:nvSpPr>
        <p:spPr>
          <a:xfrm>
            <a:off x="6263640" y="5349240"/>
            <a:ext cx="2491740" cy="7132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Standardization</a:t>
            </a:r>
            <a:endParaRPr lang="en-US" sz="1300" dirty="0"/>
          </a:p>
        </p:txBody>
      </p:sp>
      <p:sp>
        <p:nvSpPr>
          <p:cNvPr id="53" name="Shape 38"/>
          <p:cNvSpPr/>
          <p:nvPr/>
        </p:nvSpPr>
        <p:spPr>
          <a:xfrm>
            <a:off x="8755380" y="5623560"/>
            <a:ext cx="292608" cy="164592"/>
          </a:xfrm>
          <a:prstGeom prst="rightArrow">
            <a:avLst/>
          </a:prstGeom>
          <a:solidFill>
            <a:srgbClr val="1C7293"/>
          </a:solidFill>
          <a:ln/>
        </p:spPr>
      </p:sp>
      <p:sp>
        <p:nvSpPr>
          <p:cNvPr id="54" name="Shape 39"/>
          <p:cNvSpPr/>
          <p:nvPr/>
        </p:nvSpPr>
        <p:spPr>
          <a:xfrm>
            <a:off x="9121140" y="5349240"/>
            <a:ext cx="2491740" cy="713232"/>
          </a:xfrm>
          <a:prstGeom prst="roundRect">
            <a:avLst>
              <a:gd name="adj" fmla="val 8974"/>
            </a:avLst>
          </a:prstGeom>
          <a:solidFill>
            <a:srgbClr val="065A82"/>
          </a:solidFill>
          <a:ln/>
        </p:spPr>
      </p:sp>
      <p:sp>
        <p:nvSpPr>
          <p:cNvPr id="55" name="Text 40"/>
          <p:cNvSpPr/>
          <p:nvPr/>
        </p:nvSpPr>
        <p:spPr>
          <a:xfrm>
            <a:off x="9121140" y="5349240"/>
            <a:ext cx="2491740" cy="7132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Clean Dataset</a:t>
            </a:r>
            <a:endParaRPr lang="en-US" sz="1300" dirty="0"/>
          </a:p>
        </p:txBody>
      </p:sp>
      <p:sp>
        <p:nvSpPr>
          <p:cNvPr id="56" name="Text 41"/>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Urban Pulse  |  Smart City Mobility Intelligence</a:t>
            </a:r>
            <a:endParaRPr lang="en-US" sz="900" dirty="0"/>
          </a:p>
        </p:txBody>
      </p:sp>
      <p:sp>
        <p:nvSpPr>
          <p:cNvPr id="57" name="Text 42"/>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Star Schema &amp; ETL Workflow</a:t>
            </a:r>
            <a:endParaRPr lang="en-US" sz="2600" dirty="0"/>
          </a:p>
        </p:txBody>
      </p:sp>
      <p:sp>
        <p:nvSpPr>
          <p:cNvPr id="3" name="Text 1"/>
          <p:cNvSpPr/>
          <p:nvPr/>
        </p:nvSpPr>
        <p:spPr>
          <a:xfrm>
            <a:off x="548640" y="868680"/>
            <a:ext cx="10972800" cy="320040"/>
          </a:xfrm>
          <a:prstGeom prst="rect">
            <a:avLst/>
          </a:prstGeom>
          <a:noFill/>
          <a:ln/>
        </p:spPr>
        <p:txBody>
          <a:bodyPr wrap="square"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Clean data modeled into a fact table surrounded by six dimensions</a:t>
            </a:r>
            <a:endParaRPr lang="en-US" sz="1300" dirty="0"/>
          </a:p>
        </p:txBody>
      </p:sp>
      <p:sp>
        <p:nvSpPr>
          <p:cNvPr id="4" name="Shape 2"/>
          <p:cNvSpPr/>
          <p:nvPr/>
        </p:nvSpPr>
        <p:spPr>
          <a:xfrm>
            <a:off x="3200400" y="3383280"/>
            <a:ext cx="0" cy="-1874520"/>
          </a:xfrm>
          <a:prstGeom prst="line">
            <a:avLst/>
          </a:prstGeom>
          <a:noFill/>
          <a:ln w="19050">
            <a:solidFill>
              <a:srgbClr val="C7D2DE"/>
            </a:solidFill>
            <a:prstDash val="solid"/>
          </a:ln>
        </p:spPr>
      </p:sp>
      <p:sp>
        <p:nvSpPr>
          <p:cNvPr id="5" name="Shape 3"/>
          <p:cNvSpPr/>
          <p:nvPr/>
        </p:nvSpPr>
        <p:spPr>
          <a:xfrm>
            <a:off x="3200400" y="3383280"/>
            <a:ext cx="1691640" cy="-1051560"/>
          </a:xfrm>
          <a:prstGeom prst="line">
            <a:avLst/>
          </a:prstGeom>
          <a:noFill/>
          <a:ln w="19050">
            <a:solidFill>
              <a:srgbClr val="C7D2DE"/>
            </a:solidFill>
            <a:prstDash val="solid"/>
          </a:ln>
        </p:spPr>
      </p:sp>
      <p:sp>
        <p:nvSpPr>
          <p:cNvPr id="6" name="Shape 4"/>
          <p:cNvSpPr/>
          <p:nvPr/>
        </p:nvSpPr>
        <p:spPr>
          <a:xfrm>
            <a:off x="3200400" y="3383280"/>
            <a:ext cx="1691640" cy="1051560"/>
          </a:xfrm>
          <a:prstGeom prst="line">
            <a:avLst/>
          </a:prstGeom>
          <a:noFill/>
          <a:ln w="19050">
            <a:solidFill>
              <a:srgbClr val="C7D2DE"/>
            </a:solidFill>
            <a:prstDash val="solid"/>
          </a:ln>
        </p:spPr>
      </p:sp>
      <p:sp>
        <p:nvSpPr>
          <p:cNvPr id="7" name="Shape 5"/>
          <p:cNvSpPr/>
          <p:nvPr/>
        </p:nvSpPr>
        <p:spPr>
          <a:xfrm>
            <a:off x="3200400" y="3383280"/>
            <a:ext cx="0" cy="1874520"/>
          </a:xfrm>
          <a:prstGeom prst="line">
            <a:avLst/>
          </a:prstGeom>
          <a:noFill/>
          <a:ln w="19050">
            <a:solidFill>
              <a:srgbClr val="C7D2DE"/>
            </a:solidFill>
            <a:prstDash val="solid"/>
          </a:ln>
        </p:spPr>
      </p:sp>
      <p:sp>
        <p:nvSpPr>
          <p:cNvPr id="8" name="Shape 6"/>
          <p:cNvSpPr/>
          <p:nvPr/>
        </p:nvSpPr>
        <p:spPr>
          <a:xfrm>
            <a:off x="3200400" y="3383280"/>
            <a:ext cx="-1691640" cy="1051560"/>
          </a:xfrm>
          <a:prstGeom prst="line">
            <a:avLst/>
          </a:prstGeom>
          <a:noFill/>
          <a:ln w="19050">
            <a:solidFill>
              <a:srgbClr val="C7D2DE"/>
            </a:solidFill>
            <a:prstDash val="solid"/>
          </a:ln>
        </p:spPr>
      </p:sp>
      <p:sp>
        <p:nvSpPr>
          <p:cNvPr id="9" name="Shape 7"/>
          <p:cNvSpPr/>
          <p:nvPr/>
        </p:nvSpPr>
        <p:spPr>
          <a:xfrm>
            <a:off x="3200400" y="3383280"/>
            <a:ext cx="-1691640" cy="-1051560"/>
          </a:xfrm>
          <a:prstGeom prst="line">
            <a:avLst/>
          </a:prstGeom>
          <a:noFill/>
          <a:ln w="19050">
            <a:solidFill>
              <a:srgbClr val="C7D2DE"/>
            </a:solidFill>
            <a:prstDash val="solid"/>
          </a:ln>
        </p:spPr>
      </p:sp>
      <p:sp>
        <p:nvSpPr>
          <p:cNvPr id="10" name="Shape 8"/>
          <p:cNvSpPr/>
          <p:nvPr/>
        </p:nvSpPr>
        <p:spPr>
          <a:xfrm>
            <a:off x="2423160" y="1257300"/>
            <a:ext cx="1554480" cy="502920"/>
          </a:xfrm>
          <a:prstGeom prst="roundRect">
            <a:avLst>
              <a:gd name="adj" fmla="val 10909"/>
            </a:avLst>
          </a:prstGeom>
          <a:solidFill>
            <a:srgbClr val="F4F7FA"/>
          </a:solidFill>
          <a:ln w="12700">
            <a:solidFill>
              <a:srgbClr val="1C7293"/>
            </a:solidFill>
            <a:prstDash val="solid"/>
          </a:ln>
        </p:spPr>
      </p:sp>
      <p:sp>
        <p:nvSpPr>
          <p:cNvPr id="11" name="Text 9"/>
          <p:cNvSpPr/>
          <p:nvPr/>
        </p:nvSpPr>
        <p:spPr>
          <a:xfrm>
            <a:off x="2423160" y="125730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Dim_Date</a:t>
            </a:r>
            <a:endParaRPr lang="en-US" sz="1100" dirty="0"/>
          </a:p>
        </p:txBody>
      </p:sp>
      <p:sp>
        <p:nvSpPr>
          <p:cNvPr id="12" name="Shape 10"/>
          <p:cNvSpPr/>
          <p:nvPr/>
        </p:nvSpPr>
        <p:spPr>
          <a:xfrm>
            <a:off x="4114800" y="2080260"/>
            <a:ext cx="1554480" cy="502920"/>
          </a:xfrm>
          <a:prstGeom prst="roundRect">
            <a:avLst>
              <a:gd name="adj" fmla="val 10909"/>
            </a:avLst>
          </a:prstGeom>
          <a:solidFill>
            <a:srgbClr val="F4F7FA"/>
          </a:solidFill>
          <a:ln w="12700">
            <a:solidFill>
              <a:srgbClr val="1C7293"/>
            </a:solidFill>
            <a:prstDash val="solid"/>
          </a:ln>
        </p:spPr>
      </p:sp>
      <p:sp>
        <p:nvSpPr>
          <p:cNvPr id="13" name="Text 11"/>
          <p:cNvSpPr/>
          <p:nvPr/>
        </p:nvSpPr>
        <p:spPr>
          <a:xfrm>
            <a:off x="4114800" y="208026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Dim_Time</a:t>
            </a:r>
            <a:endParaRPr lang="en-US" sz="1100" dirty="0"/>
          </a:p>
        </p:txBody>
      </p:sp>
      <p:sp>
        <p:nvSpPr>
          <p:cNvPr id="14" name="Shape 12"/>
          <p:cNvSpPr/>
          <p:nvPr/>
        </p:nvSpPr>
        <p:spPr>
          <a:xfrm>
            <a:off x="4114800" y="4183380"/>
            <a:ext cx="1554480" cy="502920"/>
          </a:xfrm>
          <a:prstGeom prst="roundRect">
            <a:avLst>
              <a:gd name="adj" fmla="val 10909"/>
            </a:avLst>
          </a:prstGeom>
          <a:solidFill>
            <a:srgbClr val="F4F7FA"/>
          </a:solidFill>
          <a:ln w="12700">
            <a:solidFill>
              <a:srgbClr val="1C7293"/>
            </a:solidFill>
            <a:prstDash val="solid"/>
          </a:ln>
        </p:spPr>
      </p:sp>
      <p:sp>
        <p:nvSpPr>
          <p:cNvPr id="15" name="Text 13"/>
          <p:cNvSpPr/>
          <p:nvPr/>
        </p:nvSpPr>
        <p:spPr>
          <a:xfrm>
            <a:off x="4114800" y="418338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Dim_Location</a:t>
            </a:r>
            <a:endParaRPr lang="en-US" sz="1100" dirty="0"/>
          </a:p>
        </p:txBody>
      </p:sp>
      <p:sp>
        <p:nvSpPr>
          <p:cNvPr id="16" name="Shape 14"/>
          <p:cNvSpPr/>
          <p:nvPr/>
        </p:nvSpPr>
        <p:spPr>
          <a:xfrm>
            <a:off x="2423160" y="5006340"/>
            <a:ext cx="1554480" cy="502920"/>
          </a:xfrm>
          <a:prstGeom prst="roundRect">
            <a:avLst>
              <a:gd name="adj" fmla="val 10909"/>
            </a:avLst>
          </a:prstGeom>
          <a:solidFill>
            <a:srgbClr val="F4F7FA"/>
          </a:solidFill>
          <a:ln w="12700">
            <a:solidFill>
              <a:srgbClr val="1C7293"/>
            </a:solidFill>
            <a:prstDash val="solid"/>
          </a:ln>
        </p:spPr>
      </p:sp>
      <p:sp>
        <p:nvSpPr>
          <p:cNvPr id="17" name="Text 15"/>
          <p:cNvSpPr/>
          <p:nvPr/>
        </p:nvSpPr>
        <p:spPr>
          <a:xfrm>
            <a:off x="2423160" y="500634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Dim_Transit</a:t>
            </a:r>
            <a:endParaRPr lang="en-US" sz="1100" dirty="0"/>
          </a:p>
        </p:txBody>
      </p:sp>
      <p:sp>
        <p:nvSpPr>
          <p:cNvPr id="18" name="Shape 16"/>
          <p:cNvSpPr/>
          <p:nvPr/>
        </p:nvSpPr>
        <p:spPr>
          <a:xfrm>
            <a:off x="731520" y="4183380"/>
            <a:ext cx="1554480" cy="502920"/>
          </a:xfrm>
          <a:prstGeom prst="roundRect">
            <a:avLst>
              <a:gd name="adj" fmla="val 10909"/>
            </a:avLst>
          </a:prstGeom>
          <a:solidFill>
            <a:srgbClr val="F4F7FA"/>
          </a:solidFill>
          <a:ln w="12700">
            <a:solidFill>
              <a:srgbClr val="1C7293"/>
            </a:solidFill>
            <a:prstDash val="solid"/>
          </a:ln>
        </p:spPr>
      </p:sp>
      <p:sp>
        <p:nvSpPr>
          <p:cNvPr id="19" name="Text 17"/>
          <p:cNvSpPr/>
          <p:nvPr/>
        </p:nvSpPr>
        <p:spPr>
          <a:xfrm>
            <a:off x="731520" y="418338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Dim_Weather</a:t>
            </a:r>
            <a:endParaRPr lang="en-US" sz="1100" dirty="0"/>
          </a:p>
        </p:txBody>
      </p:sp>
      <p:sp>
        <p:nvSpPr>
          <p:cNvPr id="20" name="Shape 18"/>
          <p:cNvSpPr/>
          <p:nvPr/>
        </p:nvSpPr>
        <p:spPr>
          <a:xfrm>
            <a:off x="731520" y="2080260"/>
            <a:ext cx="1554480" cy="502920"/>
          </a:xfrm>
          <a:prstGeom prst="roundRect">
            <a:avLst>
              <a:gd name="adj" fmla="val 10909"/>
            </a:avLst>
          </a:prstGeom>
          <a:solidFill>
            <a:srgbClr val="F4F7FA"/>
          </a:solidFill>
          <a:ln w="12700">
            <a:solidFill>
              <a:srgbClr val="1C7293"/>
            </a:solidFill>
            <a:prstDash val="solid"/>
          </a:ln>
        </p:spPr>
      </p:sp>
      <p:sp>
        <p:nvSpPr>
          <p:cNvPr id="21" name="Text 19"/>
          <p:cNvSpPr/>
          <p:nvPr/>
        </p:nvSpPr>
        <p:spPr>
          <a:xfrm>
            <a:off x="731520" y="2080260"/>
            <a:ext cx="1554480" cy="502920"/>
          </a:xfrm>
          <a:prstGeom prst="rect">
            <a:avLst/>
          </a:prstGeom>
          <a:noFill/>
          <a:ln/>
        </p:spPr>
        <p:txBody>
          <a:bodyPr wrap="square"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Dim_Demographics</a:t>
            </a:r>
            <a:endParaRPr lang="en-US" sz="1100" dirty="0"/>
          </a:p>
        </p:txBody>
      </p:sp>
      <p:sp>
        <p:nvSpPr>
          <p:cNvPr id="22" name="Shape 20"/>
          <p:cNvSpPr/>
          <p:nvPr/>
        </p:nvSpPr>
        <p:spPr>
          <a:xfrm>
            <a:off x="2240280" y="3040380"/>
            <a:ext cx="1920240" cy="685800"/>
          </a:xfrm>
          <a:prstGeom prst="roundRect">
            <a:avLst>
              <a:gd name="adj" fmla="val 10667"/>
            </a:avLst>
          </a:prstGeom>
          <a:solidFill>
            <a:srgbClr val="065A82"/>
          </a:solidFill>
          <a:ln/>
        </p:spPr>
      </p:sp>
      <p:sp>
        <p:nvSpPr>
          <p:cNvPr id="23" name="Text 21"/>
          <p:cNvSpPr/>
          <p:nvPr/>
        </p:nvSpPr>
        <p:spPr>
          <a:xfrm>
            <a:off x="2240280" y="3040380"/>
            <a:ext cx="192024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Fact_Trips</a:t>
            </a:r>
            <a:endParaRPr lang="en-US" sz="1400" dirty="0"/>
          </a:p>
        </p:txBody>
      </p:sp>
      <p:sp>
        <p:nvSpPr>
          <p:cNvPr id="24" name="Text 22"/>
          <p:cNvSpPr/>
          <p:nvPr/>
        </p:nvSpPr>
        <p:spPr>
          <a:xfrm>
            <a:off x="6675120" y="1417320"/>
            <a:ext cx="5029200" cy="36576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ETL Pipeline</a:t>
            </a:r>
            <a:endParaRPr lang="en-US" sz="1500" dirty="0"/>
          </a:p>
        </p:txBody>
      </p:sp>
      <p:sp>
        <p:nvSpPr>
          <p:cNvPr id="25" name="Shape 23"/>
          <p:cNvSpPr/>
          <p:nvPr/>
        </p:nvSpPr>
        <p:spPr>
          <a:xfrm>
            <a:off x="6675120" y="1828800"/>
            <a:ext cx="4206240" cy="384048"/>
          </a:xfrm>
          <a:prstGeom prst="roundRect">
            <a:avLst>
              <a:gd name="adj" fmla="val 11905"/>
            </a:avLst>
          </a:prstGeom>
          <a:solidFill>
            <a:srgbClr val="E8EEF5"/>
          </a:solidFill>
          <a:ln/>
        </p:spPr>
      </p:sp>
      <p:sp>
        <p:nvSpPr>
          <p:cNvPr id="26" name="Text 24"/>
          <p:cNvSpPr/>
          <p:nvPr/>
        </p:nvSpPr>
        <p:spPr>
          <a:xfrm>
            <a:off x="6675120" y="182880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Raw Data</a:t>
            </a:r>
            <a:endParaRPr lang="en-US" sz="1150" dirty="0"/>
          </a:p>
        </p:txBody>
      </p:sp>
      <p:sp>
        <p:nvSpPr>
          <p:cNvPr id="27" name="Shape 25"/>
          <p:cNvSpPr/>
          <p:nvPr/>
        </p:nvSpPr>
        <p:spPr>
          <a:xfrm>
            <a:off x="8714232" y="2212848"/>
            <a:ext cx="128016" cy="100584"/>
          </a:xfrm>
          <a:prstGeom prst="downArrow">
            <a:avLst/>
          </a:prstGeom>
          <a:solidFill>
            <a:srgbClr val="1C7293"/>
          </a:solidFill>
          <a:ln/>
        </p:spPr>
      </p:sp>
      <p:sp>
        <p:nvSpPr>
          <p:cNvPr id="28" name="Shape 26"/>
          <p:cNvSpPr/>
          <p:nvPr/>
        </p:nvSpPr>
        <p:spPr>
          <a:xfrm>
            <a:off x="6675120" y="2331720"/>
            <a:ext cx="4206240" cy="384048"/>
          </a:xfrm>
          <a:prstGeom prst="roundRect">
            <a:avLst>
              <a:gd name="adj" fmla="val 11905"/>
            </a:avLst>
          </a:prstGeom>
          <a:solidFill>
            <a:srgbClr val="E8EEF5"/>
          </a:solidFill>
          <a:ln/>
        </p:spPr>
      </p:sp>
      <p:sp>
        <p:nvSpPr>
          <p:cNvPr id="29" name="Text 27"/>
          <p:cNvSpPr/>
          <p:nvPr/>
        </p:nvSpPr>
        <p:spPr>
          <a:xfrm>
            <a:off x="6675120" y="233172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Data Cleansing</a:t>
            </a:r>
            <a:endParaRPr lang="en-US" sz="1150" dirty="0"/>
          </a:p>
        </p:txBody>
      </p:sp>
      <p:sp>
        <p:nvSpPr>
          <p:cNvPr id="30" name="Shape 28"/>
          <p:cNvSpPr/>
          <p:nvPr/>
        </p:nvSpPr>
        <p:spPr>
          <a:xfrm>
            <a:off x="8714232" y="2715768"/>
            <a:ext cx="128016" cy="100584"/>
          </a:xfrm>
          <a:prstGeom prst="downArrow">
            <a:avLst/>
          </a:prstGeom>
          <a:solidFill>
            <a:srgbClr val="1C7293"/>
          </a:solidFill>
          <a:ln/>
        </p:spPr>
      </p:sp>
      <p:sp>
        <p:nvSpPr>
          <p:cNvPr id="31" name="Shape 29"/>
          <p:cNvSpPr/>
          <p:nvPr/>
        </p:nvSpPr>
        <p:spPr>
          <a:xfrm>
            <a:off x="6675120" y="2834640"/>
            <a:ext cx="4206240" cy="384048"/>
          </a:xfrm>
          <a:prstGeom prst="roundRect">
            <a:avLst>
              <a:gd name="adj" fmla="val 11905"/>
            </a:avLst>
          </a:prstGeom>
          <a:solidFill>
            <a:srgbClr val="E8EEF5"/>
          </a:solidFill>
          <a:ln/>
        </p:spPr>
      </p:sp>
      <p:sp>
        <p:nvSpPr>
          <p:cNvPr id="32" name="Text 30"/>
          <p:cNvSpPr/>
          <p:nvPr/>
        </p:nvSpPr>
        <p:spPr>
          <a:xfrm>
            <a:off x="6675120" y="283464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Schema Standardization</a:t>
            </a:r>
            <a:endParaRPr lang="en-US" sz="1150" dirty="0"/>
          </a:p>
        </p:txBody>
      </p:sp>
      <p:sp>
        <p:nvSpPr>
          <p:cNvPr id="33" name="Shape 31"/>
          <p:cNvSpPr/>
          <p:nvPr/>
        </p:nvSpPr>
        <p:spPr>
          <a:xfrm>
            <a:off x="8714232" y="3218688"/>
            <a:ext cx="128016" cy="100584"/>
          </a:xfrm>
          <a:prstGeom prst="downArrow">
            <a:avLst/>
          </a:prstGeom>
          <a:solidFill>
            <a:srgbClr val="1C7293"/>
          </a:solidFill>
          <a:ln/>
        </p:spPr>
      </p:sp>
      <p:sp>
        <p:nvSpPr>
          <p:cNvPr id="34" name="Shape 32"/>
          <p:cNvSpPr/>
          <p:nvPr/>
        </p:nvSpPr>
        <p:spPr>
          <a:xfrm>
            <a:off x="6675120" y="3337560"/>
            <a:ext cx="4206240" cy="384048"/>
          </a:xfrm>
          <a:prstGeom prst="roundRect">
            <a:avLst>
              <a:gd name="adj" fmla="val 11905"/>
            </a:avLst>
          </a:prstGeom>
          <a:solidFill>
            <a:srgbClr val="E8EEF5"/>
          </a:solidFill>
          <a:ln/>
        </p:spPr>
      </p:sp>
      <p:sp>
        <p:nvSpPr>
          <p:cNvPr id="35" name="Text 33"/>
          <p:cNvSpPr/>
          <p:nvPr/>
        </p:nvSpPr>
        <p:spPr>
          <a:xfrm>
            <a:off x="6675120" y="333756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Validation</a:t>
            </a:r>
            <a:endParaRPr lang="en-US" sz="1150" dirty="0"/>
          </a:p>
        </p:txBody>
      </p:sp>
      <p:sp>
        <p:nvSpPr>
          <p:cNvPr id="36" name="Shape 34"/>
          <p:cNvSpPr/>
          <p:nvPr/>
        </p:nvSpPr>
        <p:spPr>
          <a:xfrm>
            <a:off x="8714232" y="3721608"/>
            <a:ext cx="128016" cy="100584"/>
          </a:xfrm>
          <a:prstGeom prst="downArrow">
            <a:avLst/>
          </a:prstGeom>
          <a:solidFill>
            <a:srgbClr val="1C7293"/>
          </a:solidFill>
          <a:ln/>
        </p:spPr>
      </p:sp>
      <p:sp>
        <p:nvSpPr>
          <p:cNvPr id="37" name="Shape 35"/>
          <p:cNvSpPr/>
          <p:nvPr/>
        </p:nvSpPr>
        <p:spPr>
          <a:xfrm>
            <a:off x="6675120" y="3840480"/>
            <a:ext cx="4206240" cy="384048"/>
          </a:xfrm>
          <a:prstGeom prst="roundRect">
            <a:avLst>
              <a:gd name="adj" fmla="val 11905"/>
            </a:avLst>
          </a:prstGeom>
          <a:solidFill>
            <a:srgbClr val="E8EEF5"/>
          </a:solidFill>
          <a:ln/>
        </p:spPr>
      </p:sp>
      <p:sp>
        <p:nvSpPr>
          <p:cNvPr id="38" name="Text 36"/>
          <p:cNvSpPr/>
          <p:nvPr/>
        </p:nvSpPr>
        <p:spPr>
          <a:xfrm>
            <a:off x="6675120" y="384048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Star Schema</a:t>
            </a:r>
            <a:endParaRPr lang="en-US" sz="1150" dirty="0"/>
          </a:p>
        </p:txBody>
      </p:sp>
      <p:sp>
        <p:nvSpPr>
          <p:cNvPr id="39" name="Shape 37"/>
          <p:cNvSpPr/>
          <p:nvPr/>
        </p:nvSpPr>
        <p:spPr>
          <a:xfrm>
            <a:off x="8714232" y="4224528"/>
            <a:ext cx="128016" cy="100584"/>
          </a:xfrm>
          <a:prstGeom prst="downArrow">
            <a:avLst/>
          </a:prstGeom>
          <a:solidFill>
            <a:srgbClr val="1C7293"/>
          </a:solidFill>
          <a:ln/>
        </p:spPr>
      </p:sp>
      <p:sp>
        <p:nvSpPr>
          <p:cNvPr id="40" name="Shape 38"/>
          <p:cNvSpPr/>
          <p:nvPr/>
        </p:nvSpPr>
        <p:spPr>
          <a:xfrm>
            <a:off x="6675120" y="4343400"/>
            <a:ext cx="4206240" cy="384048"/>
          </a:xfrm>
          <a:prstGeom prst="roundRect">
            <a:avLst>
              <a:gd name="adj" fmla="val 11905"/>
            </a:avLst>
          </a:prstGeom>
          <a:solidFill>
            <a:srgbClr val="E8EEF5"/>
          </a:solidFill>
          <a:ln/>
        </p:spPr>
      </p:sp>
      <p:sp>
        <p:nvSpPr>
          <p:cNvPr id="41" name="Text 39"/>
          <p:cNvSpPr/>
          <p:nvPr/>
        </p:nvSpPr>
        <p:spPr>
          <a:xfrm>
            <a:off x="6675120" y="4343400"/>
            <a:ext cx="4206240" cy="384048"/>
          </a:xfrm>
          <a:prstGeom prst="rect">
            <a:avLst/>
          </a:prstGeom>
          <a:noFill/>
          <a:ln/>
        </p:spPr>
        <p:txBody>
          <a:bodyPr wrap="square" rtlCol="0" anchor="ctr"/>
          <a:lstStyle/>
          <a:p>
            <a:pPr algn="ctr" indent="0" marL="0">
              <a:buNone/>
            </a:pPr>
            <a:r>
              <a:rPr lang="en-US" sz="1150" b="1" dirty="0">
                <a:solidFill>
                  <a:srgbClr val="21295C"/>
                </a:solidFill>
                <a:latin typeface="Calibri" pitchFamily="34" charset="0"/>
                <a:ea typeface="Calibri" pitchFamily="34" charset="-122"/>
                <a:cs typeface="Calibri" pitchFamily="34" charset="-120"/>
              </a:rPr>
              <a:t>MySQL Warehouse</a:t>
            </a:r>
            <a:endParaRPr lang="en-US" sz="1150" dirty="0"/>
          </a:p>
        </p:txBody>
      </p:sp>
      <p:sp>
        <p:nvSpPr>
          <p:cNvPr id="42" name="Shape 40"/>
          <p:cNvSpPr/>
          <p:nvPr/>
        </p:nvSpPr>
        <p:spPr>
          <a:xfrm>
            <a:off x="8714232" y="4727448"/>
            <a:ext cx="128016" cy="100584"/>
          </a:xfrm>
          <a:prstGeom prst="downArrow">
            <a:avLst/>
          </a:prstGeom>
          <a:solidFill>
            <a:srgbClr val="1C7293"/>
          </a:solidFill>
          <a:ln/>
        </p:spPr>
      </p:sp>
      <p:sp>
        <p:nvSpPr>
          <p:cNvPr id="43" name="Shape 41"/>
          <p:cNvSpPr/>
          <p:nvPr/>
        </p:nvSpPr>
        <p:spPr>
          <a:xfrm>
            <a:off x="6675120" y="4846320"/>
            <a:ext cx="4206240" cy="384048"/>
          </a:xfrm>
          <a:prstGeom prst="roundRect">
            <a:avLst>
              <a:gd name="adj" fmla="val 11905"/>
            </a:avLst>
          </a:prstGeom>
          <a:solidFill>
            <a:srgbClr val="065A82"/>
          </a:solidFill>
          <a:ln/>
        </p:spPr>
      </p:sp>
      <p:sp>
        <p:nvSpPr>
          <p:cNvPr id="44" name="Text 42"/>
          <p:cNvSpPr/>
          <p:nvPr/>
        </p:nvSpPr>
        <p:spPr>
          <a:xfrm>
            <a:off x="6675120" y="4846320"/>
            <a:ext cx="42062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Power BI Dashboard</a:t>
            </a:r>
            <a:endParaRPr lang="en-US" sz="1150" dirty="0"/>
          </a:p>
        </p:txBody>
      </p:sp>
      <p:sp>
        <p:nvSpPr>
          <p:cNvPr id="45" name="Shape 43"/>
          <p:cNvSpPr/>
          <p:nvPr/>
        </p:nvSpPr>
        <p:spPr>
          <a:xfrm>
            <a:off x="548640" y="5989320"/>
            <a:ext cx="11064240" cy="502920"/>
          </a:xfrm>
          <a:prstGeom prst="rect">
            <a:avLst/>
          </a:prstGeom>
          <a:solidFill>
            <a:srgbClr val="21295C"/>
          </a:solidFill>
          <a:ln/>
        </p:spPr>
      </p:sp>
      <p:sp>
        <p:nvSpPr>
          <p:cNvPr id="46" name="Text 44"/>
          <p:cNvSpPr/>
          <p:nvPr/>
        </p:nvSpPr>
        <p:spPr>
          <a:xfrm>
            <a:off x="548640" y="5989320"/>
            <a:ext cx="276606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Faster queries</a:t>
            </a:r>
            <a:endParaRPr lang="en-US" sz="1200" dirty="0"/>
          </a:p>
        </p:txBody>
      </p:sp>
      <p:sp>
        <p:nvSpPr>
          <p:cNvPr id="47" name="Text 45"/>
          <p:cNvSpPr/>
          <p:nvPr/>
        </p:nvSpPr>
        <p:spPr>
          <a:xfrm>
            <a:off x="3314700" y="5989320"/>
            <a:ext cx="276606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Simplified analytics</a:t>
            </a:r>
            <a:endParaRPr lang="en-US" sz="1200" dirty="0"/>
          </a:p>
        </p:txBody>
      </p:sp>
      <p:sp>
        <p:nvSpPr>
          <p:cNvPr id="48" name="Text 46"/>
          <p:cNvSpPr/>
          <p:nvPr/>
        </p:nvSpPr>
        <p:spPr>
          <a:xfrm>
            <a:off x="6080760" y="5989320"/>
            <a:ext cx="276606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Better reporting</a:t>
            </a:r>
            <a:endParaRPr lang="en-US" sz="1200" dirty="0"/>
          </a:p>
        </p:txBody>
      </p:sp>
      <p:sp>
        <p:nvSpPr>
          <p:cNvPr id="49" name="Text 47"/>
          <p:cNvSpPr/>
          <p:nvPr/>
        </p:nvSpPr>
        <p:spPr>
          <a:xfrm>
            <a:off x="8846820" y="5989320"/>
            <a:ext cx="276606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Scalable design</a:t>
            </a:r>
            <a:endParaRPr lang="en-US" sz="1200" dirty="0"/>
          </a:p>
        </p:txBody>
      </p:sp>
      <p:sp>
        <p:nvSpPr>
          <p:cNvPr id="50" name="Text 48"/>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Urban Pulse  |  Smart City Mobility Intelligence</a:t>
            </a:r>
            <a:endParaRPr lang="en-US" sz="900" dirty="0"/>
          </a:p>
        </p:txBody>
      </p:sp>
      <p:sp>
        <p:nvSpPr>
          <p:cNvPr id="51" name="Text 49"/>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Data Validation &amp; Final Warehouse</a:t>
            </a:r>
            <a:endParaRPr lang="en-US" sz="2600" dirty="0"/>
          </a:p>
        </p:txBody>
      </p:sp>
      <p:sp>
        <p:nvSpPr>
          <p:cNvPr id="3" name="Text 1"/>
          <p:cNvSpPr/>
          <p:nvPr/>
        </p:nvSpPr>
        <p:spPr>
          <a:xfrm>
            <a:off x="548640" y="868680"/>
            <a:ext cx="10972800" cy="320040"/>
          </a:xfrm>
          <a:prstGeom prst="rect">
            <a:avLst/>
          </a:prstGeom>
          <a:noFill/>
          <a:ln/>
        </p:spPr>
        <p:txBody>
          <a:bodyPr wrap="square"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Only validated records are loaded into the warehouse</a:t>
            </a:r>
            <a:endParaRPr lang="en-US" sz="1300" dirty="0"/>
          </a:p>
        </p:txBody>
      </p:sp>
      <p:sp>
        <p:nvSpPr>
          <p:cNvPr id="4" name="Shape 2"/>
          <p:cNvSpPr/>
          <p:nvPr/>
        </p:nvSpPr>
        <p:spPr>
          <a:xfrm>
            <a:off x="640080" y="1600200"/>
            <a:ext cx="384048" cy="384048"/>
          </a:xfrm>
          <a:prstGeom prst="ellipse">
            <a:avLst/>
          </a:prstGeom>
          <a:solidFill>
            <a:srgbClr val="065A82"/>
          </a:solidFill>
          <a:ln/>
        </p:spPr>
      </p:sp>
      <p:pic>
        <p:nvPicPr>
          <p:cNvPr id="5" name="Image 0" descr="icons/dedupe.png">    </p:cNvPr>
          <p:cNvPicPr>
            <a:picLocks noChangeAspect="1"/>
          </p:cNvPicPr>
          <p:nvPr/>
        </p:nvPicPr>
        <p:blipFill>
          <a:blip r:embed="rId1"/>
          <a:stretch>
            <a:fillRect/>
          </a:stretch>
        </p:blipFill>
        <p:spPr>
          <a:xfrm>
            <a:off x="682325" y="1642445"/>
            <a:ext cx="299557" cy="299557"/>
          </a:xfrm>
          <a:prstGeom prst="rect">
            <a:avLst/>
          </a:prstGeom>
        </p:spPr>
      </p:pic>
      <p:sp>
        <p:nvSpPr>
          <p:cNvPr id="6" name="Text 3"/>
          <p:cNvSpPr/>
          <p:nvPr/>
        </p:nvSpPr>
        <p:spPr>
          <a:xfrm>
            <a:off x="1225296" y="1554480"/>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Duplicate validation  </a:t>
            </a:r>
            <a:pPr indent="0" marL="0">
              <a:buNone/>
            </a:pPr>
            <a:endParaRPr lang="en-US" sz="1300" dirty="0"/>
          </a:p>
        </p:txBody>
      </p:sp>
      <p:sp>
        <p:nvSpPr>
          <p:cNvPr id="7" name="Shape 4"/>
          <p:cNvSpPr/>
          <p:nvPr/>
        </p:nvSpPr>
        <p:spPr>
          <a:xfrm>
            <a:off x="640080" y="2221992"/>
            <a:ext cx="384048" cy="384048"/>
          </a:xfrm>
          <a:prstGeom prst="ellipse">
            <a:avLst/>
          </a:prstGeom>
          <a:solidFill>
            <a:srgbClr val="065A82"/>
          </a:solidFill>
          <a:ln/>
        </p:spPr>
      </p:sp>
      <p:pic>
        <p:nvPicPr>
          <p:cNvPr id="8" name="Image 1" descr="icons/invalid.png">    </p:cNvPr>
          <p:cNvPicPr>
            <a:picLocks noChangeAspect="1"/>
          </p:cNvPicPr>
          <p:nvPr/>
        </p:nvPicPr>
        <p:blipFill>
          <a:blip r:embed="rId2"/>
          <a:stretch>
            <a:fillRect/>
          </a:stretch>
        </p:blipFill>
        <p:spPr>
          <a:xfrm>
            <a:off x="682325" y="2264237"/>
            <a:ext cx="299557" cy="299557"/>
          </a:xfrm>
          <a:prstGeom prst="rect">
            <a:avLst/>
          </a:prstGeom>
        </p:spPr>
      </p:pic>
      <p:sp>
        <p:nvSpPr>
          <p:cNvPr id="9" name="Text 5"/>
          <p:cNvSpPr/>
          <p:nvPr/>
        </p:nvSpPr>
        <p:spPr>
          <a:xfrm>
            <a:off x="1225296" y="2176272"/>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Null value checks  </a:t>
            </a:r>
            <a:pPr indent="0" marL="0">
              <a:buNone/>
            </a:pPr>
            <a:endParaRPr lang="en-US" sz="1300" dirty="0"/>
          </a:p>
        </p:txBody>
      </p:sp>
      <p:sp>
        <p:nvSpPr>
          <p:cNvPr id="10" name="Shape 6"/>
          <p:cNvSpPr/>
          <p:nvPr/>
        </p:nvSpPr>
        <p:spPr>
          <a:xfrm>
            <a:off x="640080" y="2843784"/>
            <a:ext cx="384048" cy="384048"/>
          </a:xfrm>
          <a:prstGeom prst="ellipse">
            <a:avLst/>
          </a:prstGeom>
          <a:solidFill>
            <a:srgbClr val="065A82"/>
          </a:solidFill>
          <a:ln/>
        </p:spPr>
      </p:sp>
      <p:pic>
        <p:nvPicPr>
          <p:cNvPr id="11" name="Image 2" descr="icons/dtype.png">    </p:cNvPr>
          <p:cNvPicPr>
            <a:picLocks noChangeAspect="1"/>
          </p:cNvPicPr>
          <p:nvPr/>
        </p:nvPicPr>
        <p:blipFill>
          <a:blip r:embed="rId3"/>
          <a:stretch>
            <a:fillRect/>
          </a:stretch>
        </p:blipFill>
        <p:spPr>
          <a:xfrm>
            <a:off x="682325" y="2886029"/>
            <a:ext cx="299557" cy="299557"/>
          </a:xfrm>
          <a:prstGeom prst="rect">
            <a:avLst/>
          </a:prstGeom>
        </p:spPr>
      </p:pic>
      <p:sp>
        <p:nvSpPr>
          <p:cNvPr id="12" name="Text 7"/>
          <p:cNvSpPr/>
          <p:nvPr/>
        </p:nvSpPr>
        <p:spPr>
          <a:xfrm>
            <a:off x="1225296" y="2798064"/>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Data type validation  </a:t>
            </a:r>
            <a:pPr indent="0" marL="0">
              <a:buNone/>
            </a:pPr>
            <a:endParaRPr lang="en-US" sz="1300" dirty="0"/>
          </a:p>
        </p:txBody>
      </p:sp>
      <p:sp>
        <p:nvSpPr>
          <p:cNvPr id="13" name="Shape 8"/>
          <p:cNvSpPr/>
          <p:nvPr/>
        </p:nvSpPr>
        <p:spPr>
          <a:xfrm>
            <a:off x="640080" y="3465576"/>
            <a:ext cx="384048" cy="384048"/>
          </a:xfrm>
          <a:prstGeom prst="ellipse">
            <a:avLst/>
          </a:prstGeom>
          <a:solidFill>
            <a:srgbClr val="065A82"/>
          </a:solidFill>
          <a:ln/>
        </p:spPr>
      </p:sp>
      <p:pic>
        <p:nvPicPr>
          <p:cNvPr id="14" name="Image 3" descr="icons/pkey.png">    </p:cNvPr>
          <p:cNvPicPr>
            <a:picLocks noChangeAspect="1"/>
          </p:cNvPicPr>
          <p:nvPr/>
        </p:nvPicPr>
        <p:blipFill>
          <a:blip r:embed="rId4"/>
          <a:stretch>
            <a:fillRect/>
          </a:stretch>
        </p:blipFill>
        <p:spPr>
          <a:xfrm>
            <a:off x="682325" y="3507821"/>
            <a:ext cx="299557" cy="299557"/>
          </a:xfrm>
          <a:prstGeom prst="rect">
            <a:avLst/>
          </a:prstGeom>
        </p:spPr>
      </p:pic>
      <p:sp>
        <p:nvSpPr>
          <p:cNvPr id="15" name="Text 9"/>
          <p:cNvSpPr/>
          <p:nvPr/>
        </p:nvSpPr>
        <p:spPr>
          <a:xfrm>
            <a:off x="1225296" y="3419856"/>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Foreign key validation  </a:t>
            </a:r>
            <a:pPr indent="0" marL="0">
              <a:buNone/>
            </a:pPr>
            <a:endParaRPr lang="en-US" sz="1300" dirty="0"/>
          </a:p>
        </p:txBody>
      </p:sp>
      <p:sp>
        <p:nvSpPr>
          <p:cNvPr id="16" name="Shape 10"/>
          <p:cNvSpPr/>
          <p:nvPr/>
        </p:nvSpPr>
        <p:spPr>
          <a:xfrm>
            <a:off x="640080" y="4087368"/>
            <a:ext cx="384048" cy="384048"/>
          </a:xfrm>
          <a:prstGeom prst="ellipse">
            <a:avLst/>
          </a:prstGeom>
          <a:solidFill>
            <a:srgbClr val="065A82"/>
          </a:solidFill>
          <a:ln/>
        </p:spPr>
      </p:sp>
      <p:pic>
        <p:nvPicPr>
          <p:cNvPr id="17" name="Image 4" descr="icons/relate.png">    </p:cNvPr>
          <p:cNvPicPr>
            <a:picLocks noChangeAspect="1"/>
          </p:cNvPicPr>
          <p:nvPr/>
        </p:nvPicPr>
        <p:blipFill>
          <a:blip r:embed="rId5"/>
          <a:stretch>
            <a:fillRect/>
          </a:stretch>
        </p:blipFill>
        <p:spPr>
          <a:xfrm>
            <a:off x="682325" y="4129613"/>
            <a:ext cx="299557" cy="299557"/>
          </a:xfrm>
          <a:prstGeom prst="rect">
            <a:avLst/>
          </a:prstGeom>
        </p:spPr>
      </p:pic>
      <p:sp>
        <p:nvSpPr>
          <p:cNvPr id="18" name="Text 11"/>
          <p:cNvSpPr/>
          <p:nvPr/>
        </p:nvSpPr>
        <p:spPr>
          <a:xfrm>
            <a:off x="1225296" y="4041648"/>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Referential integrity  </a:t>
            </a:r>
            <a:pPr indent="0" marL="0">
              <a:buNone/>
            </a:pPr>
            <a:endParaRPr lang="en-US" sz="1300" dirty="0"/>
          </a:p>
        </p:txBody>
      </p:sp>
      <p:sp>
        <p:nvSpPr>
          <p:cNvPr id="19" name="Shape 12"/>
          <p:cNvSpPr/>
          <p:nvPr/>
        </p:nvSpPr>
        <p:spPr>
          <a:xfrm>
            <a:off x="640080" y="4709160"/>
            <a:ext cx="384048" cy="384048"/>
          </a:xfrm>
          <a:prstGeom prst="ellipse">
            <a:avLst/>
          </a:prstGeom>
          <a:solidFill>
            <a:srgbClr val="065A82"/>
          </a:solidFill>
          <a:ln/>
        </p:spPr>
      </p:sp>
      <p:pic>
        <p:nvPicPr>
          <p:cNvPr id="20" name="Image 5" descr="icons/rowcount.png">    </p:cNvPr>
          <p:cNvPicPr>
            <a:picLocks noChangeAspect="1"/>
          </p:cNvPicPr>
          <p:nvPr/>
        </p:nvPicPr>
        <p:blipFill>
          <a:blip r:embed="rId6"/>
          <a:stretch>
            <a:fillRect/>
          </a:stretch>
        </p:blipFill>
        <p:spPr>
          <a:xfrm>
            <a:off x="682325" y="4751405"/>
            <a:ext cx="299557" cy="299557"/>
          </a:xfrm>
          <a:prstGeom prst="rect">
            <a:avLst/>
          </a:prstGeom>
        </p:spPr>
      </p:pic>
      <p:sp>
        <p:nvSpPr>
          <p:cNvPr id="21" name="Text 13"/>
          <p:cNvSpPr/>
          <p:nvPr/>
        </p:nvSpPr>
        <p:spPr>
          <a:xfrm>
            <a:off x="1225296" y="4663440"/>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Row count verification  </a:t>
            </a:r>
            <a:pPr indent="0" marL="0">
              <a:buNone/>
            </a:pPr>
            <a:endParaRPr lang="en-US" sz="1300" dirty="0"/>
          </a:p>
        </p:txBody>
      </p:sp>
      <p:sp>
        <p:nvSpPr>
          <p:cNvPr id="22" name="Shape 14"/>
          <p:cNvSpPr/>
          <p:nvPr/>
        </p:nvSpPr>
        <p:spPr>
          <a:xfrm>
            <a:off x="640080" y="5330952"/>
            <a:ext cx="384048" cy="384048"/>
          </a:xfrm>
          <a:prstGeom prst="ellipse">
            <a:avLst/>
          </a:prstGeom>
          <a:solidFill>
            <a:srgbClr val="065A82"/>
          </a:solidFill>
          <a:ln/>
        </p:spPr>
      </p:sp>
      <p:pic>
        <p:nvPicPr>
          <p:cNvPr id="23" name="Image 6" descr="icons/business.png">    </p:cNvPr>
          <p:cNvPicPr>
            <a:picLocks noChangeAspect="1"/>
          </p:cNvPicPr>
          <p:nvPr/>
        </p:nvPicPr>
        <p:blipFill>
          <a:blip r:embed="rId7"/>
          <a:stretch>
            <a:fillRect/>
          </a:stretch>
        </p:blipFill>
        <p:spPr>
          <a:xfrm>
            <a:off x="682325" y="5373197"/>
            <a:ext cx="299557" cy="299557"/>
          </a:xfrm>
          <a:prstGeom prst="rect">
            <a:avLst/>
          </a:prstGeom>
        </p:spPr>
      </p:pic>
      <p:sp>
        <p:nvSpPr>
          <p:cNvPr id="24" name="Text 15"/>
          <p:cNvSpPr/>
          <p:nvPr/>
        </p:nvSpPr>
        <p:spPr>
          <a:xfrm>
            <a:off x="1225296" y="5285232"/>
            <a:ext cx="3986784" cy="475488"/>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Business rule validation  </a:t>
            </a:r>
            <a:pPr indent="0" marL="0">
              <a:buNone/>
            </a:pPr>
            <a:endParaRPr lang="en-US" sz="1300" dirty="0"/>
          </a:p>
        </p:txBody>
      </p:sp>
      <p:sp>
        <p:nvSpPr>
          <p:cNvPr id="25" name="Shape 16"/>
          <p:cNvSpPr/>
          <p:nvPr/>
        </p:nvSpPr>
        <p:spPr>
          <a:xfrm>
            <a:off x="5532120" y="2834640"/>
            <a:ext cx="914400" cy="457200"/>
          </a:xfrm>
          <a:prstGeom prst="rightArrow">
            <a:avLst/>
          </a:prstGeom>
          <a:solidFill>
            <a:srgbClr val="1C7293"/>
          </a:solidFill>
          <a:ln/>
        </p:spPr>
      </p:sp>
      <p:sp>
        <p:nvSpPr>
          <p:cNvPr id="26" name="Shape 17"/>
          <p:cNvSpPr/>
          <p:nvPr/>
        </p:nvSpPr>
        <p:spPr>
          <a:xfrm>
            <a:off x="6675120" y="1737360"/>
            <a:ext cx="4480560" cy="3017520"/>
          </a:xfrm>
          <a:prstGeom prst="roundRect">
            <a:avLst>
              <a:gd name="adj" fmla="val 3030"/>
            </a:avLst>
          </a:prstGeom>
          <a:solidFill>
            <a:srgbClr val="21295C"/>
          </a:solidFill>
          <a:ln/>
        </p:spPr>
      </p:sp>
      <p:sp>
        <p:nvSpPr>
          <p:cNvPr id="27" name="Shape 18"/>
          <p:cNvSpPr/>
          <p:nvPr/>
        </p:nvSpPr>
        <p:spPr>
          <a:xfrm>
            <a:off x="8549640" y="2057400"/>
            <a:ext cx="822960" cy="822960"/>
          </a:xfrm>
          <a:prstGeom prst="ellipse">
            <a:avLst/>
          </a:prstGeom>
          <a:solidFill>
            <a:srgbClr val="065A82"/>
          </a:solidFill>
          <a:ln/>
        </p:spPr>
      </p:sp>
      <p:pic>
        <p:nvPicPr>
          <p:cNvPr id="28" name="Image 7" descr="icons/database.png">    </p:cNvPr>
          <p:cNvPicPr>
            <a:picLocks noChangeAspect="1"/>
          </p:cNvPicPr>
          <p:nvPr/>
        </p:nvPicPr>
        <p:blipFill>
          <a:blip r:embed="rId8"/>
          <a:stretch>
            <a:fillRect/>
          </a:stretch>
        </p:blipFill>
        <p:spPr>
          <a:xfrm>
            <a:off x="8640166" y="2147926"/>
            <a:ext cx="641909" cy="641909"/>
          </a:xfrm>
          <a:prstGeom prst="rect">
            <a:avLst/>
          </a:prstGeom>
        </p:spPr>
      </p:pic>
      <p:sp>
        <p:nvSpPr>
          <p:cNvPr id="29" name="Text 19"/>
          <p:cNvSpPr/>
          <p:nvPr/>
        </p:nvSpPr>
        <p:spPr>
          <a:xfrm>
            <a:off x="6949440" y="3063240"/>
            <a:ext cx="393192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Validated Data Warehouse</a:t>
            </a:r>
            <a:endParaRPr lang="en-US" sz="1500" dirty="0"/>
          </a:p>
        </p:txBody>
      </p:sp>
      <p:sp>
        <p:nvSpPr>
          <p:cNvPr id="30" name="Text 20"/>
          <p:cNvSpPr/>
          <p:nvPr/>
        </p:nvSpPr>
        <p:spPr>
          <a:xfrm>
            <a:off x="6949440" y="3520440"/>
            <a:ext cx="3931920" cy="548640"/>
          </a:xfrm>
          <a:prstGeom prst="rect">
            <a:avLst/>
          </a:prstGeom>
          <a:noFill/>
          <a:ln/>
        </p:spPr>
        <p:txBody>
          <a:bodyPr wrap="square" rtlCol="0" anchor="ctr"/>
          <a:lstStyle/>
          <a:p>
            <a:pPr algn="ctr" indent="0" marL="0">
              <a:buNone/>
            </a:pPr>
            <a:r>
              <a:rPr lang="en-US" sz="1150" dirty="0">
                <a:solidFill>
                  <a:srgbClr val="C7D8EF"/>
                </a:solidFill>
                <a:latin typeface="Calibri" pitchFamily="34" charset="0"/>
                <a:ea typeface="Calibri" pitchFamily="34" charset="-122"/>
                <a:cs typeface="Calibri" pitchFamily="34" charset="-120"/>
              </a:rPr>
              <a:t>High-quality, reliable data ready for analytics</a:t>
            </a:r>
            <a:endParaRPr lang="en-US" sz="1150" dirty="0"/>
          </a:p>
        </p:txBody>
      </p:sp>
      <p:sp>
        <p:nvSpPr>
          <p:cNvPr id="31" name="Text 21"/>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Urban Pulse  |  Smart City Mobility Intelligence</a:t>
            </a:r>
            <a:endParaRPr lang="en-US" sz="900" dirty="0"/>
          </a:p>
        </p:txBody>
      </p:sp>
      <p:sp>
        <p:nvSpPr>
          <p:cNvPr id="32" name="Text 22"/>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109728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Results &amp; Impact</a:t>
            </a:r>
            <a:endParaRPr lang="en-US" sz="2800" dirty="0"/>
          </a:p>
        </p:txBody>
      </p:sp>
      <p:sp>
        <p:nvSpPr>
          <p:cNvPr id="3" name="Shape 1"/>
          <p:cNvSpPr/>
          <p:nvPr/>
        </p:nvSpPr>
        <p:spPr>
          <a:xfrm>
            <a:off x="548640" y="1234440"/>
            <a:ext cx="5394960" cy="4023360"/>
          </a:xfrm>
          <a:prstGeom prst="roundRect">
            <a:avLst>
              <a:gd name="adj" fmla="val 1818"/>
            </a:avLst>
          </a:prstGeom>
          <a:solidFill>
            <a:srgbClr val="1B3466"/>
          </a:solidFill>
          <a:ln/>
        </p:spPr>
      </p:sp>
      <p:sp>
        <p:nvSpPr>
          <p:cNvPr id="4" name="Text 2"/>
          <p:cNvSpPr/>
          <p:nvPr/>
        </p:nvSpPr>
        <p:spPr>
          <a:xfrm>
            <a:off x="822960" y="1417320"/>
            <a:ext cx="484632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Achievements</a:t>
            </a:r>
            <a:endParaRPr lang="en-US" sz="1600" dirty="0"/>
          </a:p>
        </p:txBody>
      </p:sp>
      <p:sp>
        <p:nvSpPr>
          <p:cNvPr id="5" name="Shape 3"/>
          <p:cNvSpPr/>
          <p:nvPr/>
        </p:nvSpPr>
        <p:spPr>
          <a:xfrm>
            <a:off x="822960" y="1920240"/>
            <a:ext cx="329184" cy="329184"/>
          </a:xfrm>
          <a:prstGeom prst="ellipse">
            <a:avLst/>
          </a:prstGeom>
          <a:solidFill>
            <a:srgbClr val="065A82"/>
          </a:solidFill>
          <a:ln/>
        </p:spPr>
      </p:sp>
      <p:pic>
        <p:nvPicPr>
          <p:cNvPr id="6" name="Image 0" descr="icons/check.png">    </p:cNvPr>
          <p:cNvPicPr>
            <a:picLocks noChangeAspect="1"/>
          </p:cNvPicPr>
          <p:nvPr/>
        </p:nvPicPr>
        <p:blipFill>
          <a:blip r:embed="rId1"/>
          <a:stretch>
            <a:fillRect/>
          </a:stretch>
        </p:blipFill>
        <p:spPr>
          <a:xfrm>
            <a:off x="859170" y="1956450"/>
            <a:ext cx="256764" cy="256764"/>
          </a:xfrm>
          <a:prstGeom prst="rect">
            <a:avLst/>
          </a:prstGeom>
        </p:spPr>
      </p:pic>
      <p:sp>
        <p:nvSpPr>
          <p:cNvPr id="7" name="Text 4"/>
          <p:cNvSpPr/>
          <p:nvPr/>
        </p:nvSpPr>
        <p:spPr>
          <a:xfrm>
            <a:off x="1353312" y="1874520"/>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Cleaned &amp; standardized data from 5 sources  </a:t>
            </a:r>
            <a:pPr indent="0" marL="0">
              <a:buNone/>
            </a:pPr>
            <a:endParaRPr lang="en-US" sz="1300" dirty="0"/>
          </a:p>
        </p:txBody>
      </p:sp>
      <p:sp>
        <p:nvSpPr>
          <p:cNvPr id="8" name="Shape 5"/>
          <p:cNvSpPr/>
          <p:nvPr/>
        </p:nvSpPr>
        <p:spPr>
          <a:xfrm>
            <a:off x="822960" y="2487168"/>
            <a:ext cx="329184" cy="329184"/>
          </a:xfrm>
          <a:prstGeom prst="ellipse">
            <a:avLst/>
          </a:prstGeom>
          <a:solidFill>
            <a:srgbClr val="065A82"/>
          </a:solidFill>
          <a:ln/>
        </p:spPr>
      </p:sp>
      <p:pic>
        <p:nvPicPr>
          <p:cNvPr id="9" name="Image 1" descr="icons/check.png">    </p:cNvPr>
          <p:cNvPicPr>
            <a:picLocks noChangeAspect="1"/>
          </p:cNvPicPr>
          <p:nvPr/>
        </p:nvPicPr>
        <p:blipFill>
          <a:blip r:embed="rId2"/>
          <a:stretch>
            <a:fillRect/>
          </a:stretch>
        </p:blipFill>
        <p:spPr>
          <a:xfrm>
            <a:off x="859170" y="2523378"/>
            <a:ext cx="256764" cy="256764"/>
          </a:xfrm>
          <a:prstGeom prst="rect">
            <a:avLst/>
          </a:prstGeom>
        </p:spPr>
      </p:pic>
      <p:sp>
        <p:nvSpPr>
          <p:cNvPr id="10" name="Text 6"/>
          <p:cNvSpPr/>
          <p:nvPr/>
        </p:nvSpPr>
        <p:spPr>
          <a:xfrm>
            <a:off x="1353312" y="2441448"/>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Unified all datasets into a common schema  </a:t>
            </a:r>
            <a:pPr indent="0" marL="0">
              <a:buNone/>
            </a:pPr>
            <a:endParaRPr lang="en-US" sz="1300" dirty="0"/>
          </a:p>
        </p:txBody>
      </p:sp>
      <p:sp>
        <p:nvSpPr>
          <p:cNvPr id="11" name="Shape 7"/>
          <p:cNvSpPr/>
          <p:nvPr/>
        </p:nvSpPr>
        <p:spPr>
          <a:xfrm>
            <a:off x="822960" y="3054096"/>
            <a:ext cx="329184" cy="329184"/>
          </a:xfrm>
          <a:prstGeom prst="ellipse">
            <a:avLst/>
          </a:prstGeom>
          <a:solidFill>
            <a:srgbClr val="065A82"/>
          </a:solidFill>
          <a:ln/>
        </p:spPr>
      </p:sp>
      <p:pic>
        <p:nvPicPr>
          <p:cNvPr id="12" name="Image 2" descr="icons/check.png">    </p:cNvPr>
          <p:cNvPicPr>
            <a:picLocks noChangeAspect="1"/>
          </p:cNvPicPr>
          <p:nvPr/>
        </p:nvPicPr>
        <p:blipFill>
          <a:blip r:embed="rId3"/>
          <a:stretch>
            <a:fillRect/>
          </a:stretch>
        </p:blipFill>
        <p:spPr>
          <a:xfrm>
            <a:off x="859170" y="3090306"/>
            <a:ext cx="256764" cy="256764"/>
          </a:xfrm>
          <a:prstGeom prst="rect">
            <a:avLst/>
          </a:prstGeom>
        </p:spPr>
      </p:pic>
      <p:sp>
        <p:nvSpPr>
          <p:cNvPr id="13" name="Text 8"/>
          <p:cNvSpPr/>
          <p:nvPr/>
        </p:nvSpPr>
        <p:spPr>
          <a:xfrm>
            <a:off x="1353312" y="3008376"/>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Designed &amp; populated a Star Schema warehouse  </a:t>
            </a:r>
            <a:pPr indent="0" marL="0">
              <a:buNone/>
            </a:pPr>
            <a:endParaRPr lang="en-US" sz="1300" dirty="0"/>
          </a:p>
        </p:txBody>
      </p:sp>
      <p:sp>
        <p:nvSpPr>
          <p:cNvPr id="14" name="Shape 9"/>
          <p:cNvSpPr/>
          <p:nvPr/>
        </p:nvSpPr>
        <p:spPr>
          <a:xfrm>
            <a:off x="822960" y="3621024"/>
            <a:ext cx="329184" cy="329184"/>
          </a:xfrm>
          <a:prstGeom prst="ellipse">
            <a:avLst/>
          </a:prstGeom>
          <a:solidFill>
            <a:srgbClr val="065A82"/>
          </a:solidFill>
          <a:ln/>
        </p:spPr>
      </p:sp>
      <p:pic>
        <p:nvPicPr>
          <p:cNvPr id="15" name="Image 3" descr="icons/check.png">    </p:cNvPr>
          <p:cNvPicPr>
            <a:picLocks noChangeAspect="1"/>
          </p:cNvPicPr>
          <p:nvPr/>
        </p:nvPicPr>
        <p:blipFill>
          <a:blip r:embed="rId4"/>
          <a:stretch>
            <a:fillRect/>
          </a:stretch>
        </p:blipFill>
        <p:spPr>
          <a:xfrm>
            <a:off x="859170" y="3657234"/>
            <a:ext cx="256764" cy="256764"/>
          </a:xfrm>
          <a:prstGeom prst="rect">
            <a:avLst/>
          </a:prstGeom>
        </p:spPr>
      </p:pic>
      <p:sp>
        <p:nvSpPr>
          <p:cNvPr id="16" name="Text 10"/>
          <p:cNvSpPr/>
          <p:nvPr/>
        </p:nvSpPr>
        <p:spPr>
          <a:xfrm>
            <a:off x="1353312" y="3575304"/>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Validated data before loading  </a:t>
            </a:r>
            <a:pPr indent="0" marL="0">
              <a:buNone/>
            </a:pPr>
            <a:endParaRPr lang="en-US" sz="1300" dirty="0"/>
          </a:p>
        </p:txBody>
      </p:sp>
      <p:sp>
        <p:nvSpPr>
          <p:cNvPr id="17" name="Shape 11"/>
          <p:cNvSpPr/>
          <p:nvPr/>
        </p:nvSpPr>
        <p:spPr>
          <a:xfrm>
            <a:off x="822960" y="4187952"/>
            <a:ext cx="329184" cy="329184"/>
          </a:xfrm>
          <a:prstGeom prst="ellipse">
            <a:avLst/>
          </a:prstGeom>
          <a:solidFill>
            <a:srgbClr val="065A82"/>
          </a:solidFill>
          <a:ln/>
        </p:spPr>
      </p:sp>
      <p:pic>
        <p:nvPicPr>
          <p:cNvPr id="18" name="Image 4" descr="icons/check.png">    </p:cNvPr>
          <p:cNvPicPr>
            <a:picLocks noChangeAspect="1"/>
          </p:cNvPicPr>
          <p:nvPr/>
        </p:nvPicPr>
        <p:blipFill>
          <a:blip r:embed="rId5"/>
          <a:stretch>
            <a:fillRect/>
          </a:stretch>
        </p:blipFill>
        <p:spPr>
          <a:xfrm>
            <a:off x="859170" y="4224162"/>
            <a:ext cx="256764" cy="256764"/>
          </a:xfrm>
          <a:prstGeom prst="rect">
            <a:avLst/>
          </a:prstGeom>
        </p:spPr>
      </p:pic>
      <p:sp>
        <p:nvSpPr>
          <p:cNvPr id="19" name="Text 12"/>
          <p:cNvSpPr/>
          <p:nvPr/>
        </p:nvSpPr>
        <p:spPr>
          <a:xfrm>
            <a:off x="1353312" y="4142232"/>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Built an analytics-ready MySQL warehouse  </a:t>
            </a:r>
            <a:pPr indent="0" marL="0">
              <a:buNone/>
            </a:pPr>
            <a:endParaRPr lang="en-US" sz="1300" dirty="0"/>
          </a:p>
        </p:txBody>
      </p:sp>
      <p:sp>
        <p:nvSpPr>
          <p:cNvPr id="20" name="Shape 13"/>
          <p:cNvSpPr/>
          <p:nvPr/>
        </p:nvSpPr>
        <p:spPr>
          <a:xfrm>
            <a:off x="822960" y="4754880"/>
            <a:ext cx="329184" cy="329184"/>
          </a:xfrm>
          <a:prstGeom prst="ellipse">
            <a:avLst/>
          </a:prstGeom>
          <a:solidFill>
            <a:srgbClr val="065A82"/>
          </a:solidFill>
          <a:ln/>
        </p:spPr>
      </p:sp>
      <p:pic>
        <p:nvPicPr>
          <p:cNvPr id="21" name="Image 5" descr="icons/check.png">    </p:cNvPr>
          <p:cNvPicPr>
            <a:picLocks noChangeAspect="1"/>
          </p:cNvPicPr>
          <p:nvPr/>
        </p:nvPicPr>
        <p:blipFill>
          <a:blip r:embed="rId6"/>
          <a:stretch>
            <a:fillRect/>
          </a:stretch>
        </p:blipFill>
        <p:spPr>
          <a:xfrm>
            <a:off x="859170" y="4791090"/>
            <a:ext cx="256764" cy="256764"/>
          </a:xfrm>
          <a:prstGeom prst="rect">
            <a:avLst/>
          </a:prstGeom>
        </p:spPr>
      </p:pic>
      <p:sp>
        <p:nvSpPr>
          <p:cNvPr id="22" name="Text 14"/>
          <p:cNvSpPr/>
          <p:nvPr/>
        </p:nvSpPr>
        <p:spPr>
          <a:xfrm>
            <a:off x="1353312" y="4709160"/>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Enabled seamless Power BI reporting  </a:t>
            </a:r>
            <a:pPr indent="0" marL="0">
              <a:buNone/>
            </a:pPr>
            <a:endParaRPr lang="en-US" sz="1300" dirty="0"/>
          </a:p>
        </p:txBody>
      </p:sp>
      <p:sp>
        <p:nvSpPr>
          <p:cNvPr id="23" name="Shape 15"/>
          <p:cNvSpPr/>
          <p:nvPr/>
        </p:nvSpPr>
        <p:spPr>
          <a:xfrm>
            <a:off x="6217920" y="1234440"/>
            <a:ext cx="5394960" cy="4023360"/>
          </a:xfrm>
          <a:prstGeom prst="roundRect">
            <a:avLst>
              <a:gd name="adj" fmla="val 1818"/>
            </a:avLst>
          </a:prstGeom>
          <a:solidFill>
            <a:srgbClr val="1B3466"/>
          </a:solidFill>
          <a:ln/>
        </p:spPr>
      </p:sp>
      <p:sp>
        <p:nvSpPr>
          <p:cNvPr id="24" name="Text 16"/>
          <p:cNvSpPr/>
          <p:nvPr/>
        </p:nvSpPr>
        <p:spPr>
          <a:xfrm>
            <a:off x="6492240" y="1417320"/>
            <a:ext cx="484632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Key Benefits</a:t>
            </a:r>
            <a:endParaRPr lang="en-US" sz="1600" dirty="0"/>
          </a:p>
        </p:txBody>
      </p:sp>
      <p:sp>
        <p:nvSpPr>
          <p:cNvPr id="25" name="Shape 17"/>
          <p:cNvSpPr/>
          <p:nvPr/>
        </p:nvSpPr>
        <p:spPr>
          <a:xfrm>
            <a:off x="6492240" y="1920240"/>
            <a:ext cx="329184" cy="329184"/>
          </a:xfrm>
          <a:prstGeom prst="ellipse">
            <a:avLst/>
          </a:prstGeom>
          <a:solidFill>
            <a:srgbClr val="1C7293"/>
          </a:solidFill>
          <a:ln/>
        </p:spPr>
      </p:sp>
      <p:pic>
        <p:nvPicPr>
          <p:cNvPr id="26" name="Image 6" descr="icons/shield.png">    </p:cNvPr>
          <p:cNvPicPr>
            <a:picLocks noChangeAspect="1"/>
          </p:cNvPicPr>
          <p:nvPr/>
        </p:nvPicPr>
        <p:blipFill>
          <a:blip r:embed="rId7"/>
          <a:stretch>
            <a:fillRect/>
          </a:stretch>
        </p:blipFill>
        <p:spPr>
          <a:xfrm>
            <a:off x="6528450" y="1956450"/>
            <a:ext cx="256764" cy="256764"/>
          </a:xfrm>
          <a:prstGeom prst="rect">
            <a:avLst/>
          </a:prstGeom>
        </p:spPr>
      </p:pic>
      <p:sp>
        <p:nvSpPr>
          <p:cNvPr id="27" name="Text 18"/>
          <p:cNvSpPr/>
          <p:nvPr/>
        </p:nvSpPr>
        <p:spPr>
          <a:xfrm>
            <a:off x="7022592" y="1874520"/>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Improved data quality  </a:t>
            </a:r>
            <a:pPr indent="0" marL="0">
              <a:buNone/>
            </a:pPr>
            <a:endParaRPr lang="en-US" sz="1300" dirty="0"/>
          </a:p>
        </p:txBody>
      </p:sp>
      <p:sp>
        <p:nvSpPr>
          <p:cNvPr id="28" name="Shape 19"/>
          <p:cNvSpPr/>
          <p:nvPr/>
        </p:nvSpPr>
        <p:spPr>
          <a:xfrm>
            <a:off x="6492240" y="2487168"/>
            <a:ext cx="329184" cy="329184"/>
          </a:xfrm>
          <a:prstGeom prst="ellipse">
            <a:avLst/>
          </a:prstGeom>
          <a:solidFill>
            <a:srgbClr val="1C7293"/>
          </a:solidFill>
          <a:ln/>
        </p:spPr>
      </p:sp>
      <p:pic>
        <p:nvPicPr>
          <p:cNvPr id="29" name="Image 7" descr="icons/relate.png">    </p:cNvPr>
          <p:cNvPicPr>
            <a:picLocks noChangeAspect="1"/>
          </p:cNvPicPr>
          <p:nvPr/>
        </p:nvPicPr>
        <p:blipFill>
          <a:blip r:embed="rId8"/>
          <a:stretch>
            <a:fillRect/>
          </a:stretch>
        </p:blipFill>
        <p:spPr>
          <a:xfrm>
            <a:off x="6528450" y="2523378"/>
            <a:ext cx="256764" cy="256764"/>
          </a:xfrm>
          <a:prstGeom prst="rect">
            <a:avLst/>
          </a:prstGeom>
        </p:spPr>
      </p:pic>
      <p:sp>
        <p:nvSpPr>
          <p:cNvPr id="30" name="Text 20"/>
          <p:cNvSpPr/>
          <p:nvPr/>
        </p:nvSpPr>
        <p:spPr>
          <a:xfrm>
            <a:off x="7022592" y="2441448"/>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Consistent schema across sources  </a:t>
            </a:r>
            <a:pPr indent="0" marL="0">
              <a:buNone/>
            </a:pPr>
            <a:endParaRPr lang="en-US" sz="1300" dirty="0"/>
          </a:p>
        </p:txBody>
      </p:sp>
      <p:sp>
        <p:nvSpPr>
          <p:cNvPr id="31" name="Shape 21"/>
          <p:cNvSpPr/>
          <p:nvPr/>
        </p:nvSpPr>
        <p:spPr>
          <a:xfrm>
            <a:off x="6492240" y="3054096"/>
            <a:ext cx="329184" cy="329184"/>
          </a:xfrm>
          <a:prstGeom prst="ellipse">
            <a:avLst/>
          </a:prstGeom>
          <a:solidFill>
            <a:srgbClr val="1C7293"/>
          </a:solidFill>
          <a:ln/>
        </p:spPr>
      </p:sp>
      <p:pic>
        <p:nvPicPr>
          <p:cNvPr id="32" name="Image 8" descr="icons/speed.png">    </p:cNvPr>
          <p:cNvPicPr>
            <a:picLocks noChangeAspect="1"/>
          </p:cNvPicPr>
          <p:nvPr/>
        </p:nvPicPr>
        <p:blipFill>
          <a:blip r:embed="rId9"/>
          <a:stretch>
            <a:fillRect/>
          </a:stretch>
        </p:blipFill>
        <p:spPr>
          <a:xfrm>
            <a:off x="6528450" y="3090306"/>
            <a:ext cx="256764" cy="256764"/>
          </a:xfrm>
          <a:prstGeom prst="rect">
            <a:avLst/>
          </a:prstGeom>
        </p:spPr>
      </p:pic>
      <p:sp>
        <p:nvSpPr>
          <p:cNvPr id="33" name="Text 22"/>
          <p:cNvSpPr/>
          <p:nvPr/>
        </p:nvSpPr>
        <p:spPr>
          <a:xfrm>
            <a:off x="7022592" y="3008376"/>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Faster analytical queries  </a:t>
            </a:r>
            <a:pPr indent="0" marL="0">
              <a:buNone/>
            </a:pPr>
            <a:endParaRPr lang="en-US" sz="1300" dirty="0"/>
          </a:p>
        </p:txBody>
      </p:sp>
      <p:sp>
        <p:nvSpPr>
          <p:cNvPr id="34" name="Shape 23"/>
          <p:cNvSpPr/>
          <p:nvPr/>
        </p:nvSpPr>
        <p:spPr>
          <a:xfrm>
            <a:off x="6492240" y="3621024"/>
            <a:ext cx="329184" cy="329184"/>
          </a:xfrm>
          <a:prstGeom prst="ellipse">
            <a:avLst/>
          </a:prstGeom>
          <a:solidFill>
            <a:srgbClr val="1C7293"/>
          </a:solidFill>
          <a:ln/>
        </p:spPr>
      </p:sp>
      <p:pic>
        <p:nvPicPr>
          <p:cNvPr id="35" name="Image 9" descr="icons/reporting.png">    </p:cNvPr>
          <p:cNvPicPr>
            <a:picLocks noChangeAspect="1"/>
          </p:cNvPicPr>
          <p:nvPr/>
        </p:nvPicPr>
        <p:blipFill>
          <a:blip r:embed="rId10"/>
          <a:stretch>
            <a:fillRect/>
          </a:stretch>
        </p:blipFill>
        <p:spPr>
          <a:xfrm>
            <a:off x="6528450" y="3657234"/>
            <a:ext cx="256764" cy="256764"/>
          </a:xfrm>
          <a:prstGeom prst="rect">
            <a:avLst/>
          </a:prstGeom>
        </p:spPr>
      </p:pic>
      <p:sp>
        <p:nvSpPr>
          <p:cNvPr id="36" name="Text 24"/>
          <p:cNvSpPr/>
          <p:nvPr/>
        </p:nvSpPr>
        <p:spPr>
          <a:xfrm>
            <a:off x="7022592" y="3575304"/>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Reliable reporting  </a:t>
            </a:r>
            <a:pPr indent="0" marL="0">
              <a:buNone/>
            </a:pPr>
            <a:endParaRPr lang="en-US" sz="1300" dirty="0"/>
          </a:p>
        </p:txBody>
      </p:sp>
      <p:sp>
        <p:nvSpPr>
          <p:cNvPr id="37" name="Shape 25"/>
          <p:cNvSpPr/>
          <p:nvPr/>
        </p:nvSpPr>
        <p:spPr>
          <a:xfrm>
            <a:off x="6492240" y="4187952"/>
            <a:ext cx="329184" cy="329184"/>
          </a:xfrm>
          <a:prstGeom prst="ellipse">
            <a:avLst/>
          </a:prstGeom>
          <a:solidFill>
            <a:srgbClr val="1C7293"/>
          </a:solidFill>
          <a:ln/>
        </p:spPr>
      </p:sp>
      <p:pic>
        <p:nvPicPr>
          <p:cNvPr id="38" name="Image 10" descr="icons/dimensional.png">    </p:cNvPr>
          <p:cNvPicPr>
            <a:picLocks noChangeAspect="1"/>
          </p:cNvPicPr>
          <p:nvPr/>
        </p:nvPicPr>
        <p:blipFill>
          <a:blip r:embed="rId11"/>
          <a:stretch>
            <a:fillRect/>
          </a:stretch>
        </p:blipFill>
        <p:spPr>
          <a:xfrm>
            <a:off x="6528450" y="4224162"/>
            <a:ext cx="256764" cy="256764"/>
          </a:xfrm>
          <a:prstGeom prst="rect">
            <a:avLst/>
          </a:prstGeom>
        </p:spPr>
      </p:pic>
      <p:sp>
        <p:nvSpPr>
          <p:cNvPr id="39" name="Text 26"/>
          <p:cNvSpPr/>
          <p:nvPr/>
        </p:nvSpPr>
        <p:spPr>
          <a:xfrm>
            <a:off x="7022592" y="4142232"/>
            <a:ext cx="4133088" cy="420624"/>
          </a:xfrm>
          <a:prstGeom prst="rect">
            <a:avLst/>
          </a:prstGeom>
          <a:noFill/>
          <a:ln/>
        </p:spPr>
        <p:txBody>
          <a:bodyPr wrap="square"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Scalable architecture for future use cases  </a:t>
            </a:r>
            <a:pPr indent="0" marL="0">
              <a:buNone/>
            </a:pPr>
            <a:endParaRPr lang="en-US" sz="1300" dirty="0"/>
          </a:p>
        </p:txBody>
      </p:sp>
      <p:sp>
        <p:nvSpPr>
          <p:cNvPr id="40" name="Shape 27"/>
          <p:cNvSpPr/>
          <p:nvPr/>
        </p:nvSpPr>
        <p:spPr>
          <a:xfrm>
            <a:off x="548640" y="5532120"/>
            <a:ext cx="11064240" cy="777240"/>
          </a:xfrm>
          <a:prstGeom prst="rect">
            <a:avLst/>
          </a:prstGeom>
          <a:solidFill>
            <a:srgbClr val="065A82"/>
          </a:solidFill>
          <a:ln/>
        </p:spPr>
      </p:sp>
      <p:sp>
        <p:nvSpPr>
          <p:cNvPr id="41" name="Text 28"/>
          <p:cNvSpPr/>
          <p:nvPr/>
        </p:nvSpPr>
        <p:spPr>
          <a:xfrm>
            <a:off x="548640" y="5532120"/>
            <a:ext cx="11064240" cy="7772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Validated Data Warehouse Successfully Delivered</a:t>
            </a:r>
            <a:endParaRPr lang="en-US" sz="2000" dirty="0"/>
          </a:p>
        </p:txBody>
      </p:sp>
      <p:sp>
        <p:nvSpPr>
          <p:cNvPr id="42" name="Text 2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9FB6D9"/>
                </a:solidFill>
                <a:latin typeface="Calibri" pitchFamily="34" charset="0"/>
                <a:ea typeface="Calibri" pitchFamily="34" charset="-122"/>
                <a:cs typeface="Calibri" pitchFamily="34" charset="-120"/>
              </a:rPr>
              <a:t>Urban Pulse  |  Smart City Mobility Intelligence</a:t>
            </a:r>
            <a:endParaRPr lang="en-US" sz="900" dirty="0"/>
          </a:p>
        </p:txBody>
      </p:sp>
      <p:sp>
        <p:nvSpPr>
          <p:cNvPr id="43" name="Text 30"/>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9FB6D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2026-07-28T11:50:06Z</dcterms:created>
  <dcterms:modified xsi:type="dcterms:W3CDTF">2026-07-28T11:50:06Z</dcterms:modified>
</cp:coreProperties>
</file>