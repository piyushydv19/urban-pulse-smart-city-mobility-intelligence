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8" r:id="rId11"/>
    <p:sldId id="270" r:id="rId12"/>
    <p:sldId id="269" r:id="rId13"/>
    <p:sldId id="267" r:id="rId14"/>
    <p:sldId id="271" r:id="rId15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52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AA5597-DE8F-4BA0-8B19-CE8A6E918AA2}" type="datetimeFigureOut">
              <a:rPr lang="en-US" smtClean="0"/>
              <a:t>31-Aug-26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80A59A-2B42-4E40-8BE7-D45FB37146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010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0A59A-2B42-4E40-8BE7-D45FB371466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967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0A59A-2B42-4E40-8BE7-D45FB371466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0562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31-Aug-26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31-Aug-26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31-Aug-26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31-Aug-26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iyushydv19/Urban-Pulse-Smart-City-Mobility-Intelligence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4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778240" cy="8229600"/>
          </a:xfrm>
          <a:prstGeom prst="rect">
            <a:avLst/>
          </a:prstGeom>
          <a:solidFill>
            <a:srgbClr val="08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6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0" y="0"/>
            <a:ext cx="54864" cy="8229600"/>
          </a:xfrm>
          <a:prstGeom prst="rect">
            <a:avLst/>
          </a:prstGeom>
          <a:solidFill>
            <a:srgbClr val="00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321040" y="0"/>
            <a:ext cx="54864" cy="8229600"/>
          </a:xfrm>
          <a:prstGeom prst="rect">
            <a:avLst/>
          </a:prstGeom>
          <a:solidFill>
            <a:srgbClr val="004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12480" y="0"/>
            <a:ext cx="54864" cy="8229600"/>
          </a:xfrm>
          <a:prstGeom prst="rect">
            <a:avLst/>
          </a:prstGeom>
          <a:solidFill>
            <a:srgbClr val="00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03920" y="0"/>
            <a:ext cx="54864" cy="8229600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595360" y="0"/>
            <a:ext cx="54864" cy="8229600"/>
          </a:xfrm>
          <a:prstGeom prst="rect">
            <a:avLst/>
          </a:prstGeom>
          <a:solidFill>
            <a:srgbClr val="003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0" y="0"/>
            <a:ext cx="54864" cy="8229600"/>
          </a:xfrm>
          <a:prstGeom prst="rect">
            <a:avLst/>
          </a:prstGeom>
          <a:solidFill>
            <a:srgbClr val="003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778240" y="0"/>
            <a:ext cx="54864" cy="8229600"/>
          </a:xfrm>
          <a:prstGeom prst="rect">
            <a:avLst/>
          </a:prstGeom>
          <a:solidFill>
            <a:srgbClr val="002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869680" y="0"/>
            <a:ext cx="54864" cy="8229600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-2286000" y="3200400"/>
            <a:ext cx="6400800" cy="6400800"/>
          </a:xfrm>
          <a:prstGeom prst="ellipse">
            <a:avLst/>
          </a:prstGeom>
          <a:solidFill>
            <a:srgbClr val="00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-1645920" y="3840480"/>
            <a:ext cx="5120640" cy="5120640"/>
          </a:xfrm>
          <a:prstGeom prst="ellipse">
            <a:avLst/>
          </a:prstGeom>
          <a:solidFill>
            <a:srgbClr val="00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-1005840" y="4480560"/>
            <a:ext cx="3840480" cy="3840480"/>
          </a:xfrm>
          <a:prstGeom prst="ellipse">
            <a:avLst/>
          </a:prstGeom>
          <a:solidFill>
            <a:srgbClr val="00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2710160" y="320040"/>
            <a:ext cx="475488" cy="475488"/>
          </a:xfrm>
          <a:prstGeom prst="ellipse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3350240" y="685800"/>
            <a:ext cx="292608" cy="292608"/>
          </a:xfrm>
          <a:prstGeom prst="ellipse">
            <a:avLst/>
          </a:prstGeom>
          <a:solidFill>
            <a:srgbClr val="00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2344400" y="749808"/>
            <a:ext cx="201168" cy="201168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3807440" y="228600"/>
            <a:ext cx="164592" cy="164592"/>
          </a:xfrm>
          <a:prstGeom prst="ellipse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11480" y="228600"/>
            <a:ext cx="1920240" cy="658368"/>
          </a:xfrm>
          <a:prstGeom prst="rect">
            <a:avLst/>
          </a:prstGeom>
          <a:solidFill>
            <a:srgbClr val="002D72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80" y="246888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Infosys</a:t>
            </a:r>
          </a:p>
          <a:p>
            <a:pPr algn="ctr"/>
            <a:r>
              <a:rPr sz="1000" b="0" i="0">
                <a:solidFill>
                  <a:srgbClr val="0077CC"/>
                </a:solidFill>
                <a:latin typeface="Calibri"/>
              </a:rPr>
              <a:t>Springboard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" y="1984248"/>
            <a:ext cx="683971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FF00"/>
                </a:solidFill>
              </a:rPr>
              <a:t>Infosys _Smart Urban Mobility and Traffic Intelligence Dashboard Group 1_Batch-1</a:t>
            </a:r>
            <a:endParaRPr sz="5400" b="1" i="0" dirty="0">
              <a:solidFill>
                <a:srgbClr val="FFFF00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75488" y="3182112"/>
            <a:ext cx="8046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0" i="0" dirty="0">
                <a:solidFill>
                  <a:srgbClr val="B0C8E0"/>
                </a:solidFill>
                <a:latin typeface="Calibri"/>
              </a:rPr>
              <a:t>Presentation </a:t>
            </a:r>
            <a:endParaRPr sz="2800" b="0" i="0" dirty="0">
              <a:solidFill>
                <a:srgbClr val="B0C8E0"/>
              </a:solidFill>
              <a:latin typeface="Calibr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75488" y="3840480"/>
            <a:ext cx="4389120" cy="45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956048" y="3840480"/>
            <a:ext cx="3474720" cy="4572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0" y="5742432"/>
            <a:ext cx="14630400" cy="2258568"/>
          </a:xfrm>
          <a:prstGeom prst="rect">
            <a:avLst/>
          </a:prstGeom>
          <a:solidFill>
            <a:srgbClr val="05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0" y="5742432"/>
            <a:ext cx="14630400" cy="4114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02920" y="5852160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7CC"/>
                </a:solidFill>
                <a:latin typeface="Calibri"/>
              </a:rPr>
              <a:t>TEAM MEMBERS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6181344"/>
            <a:ext cx="2542032" cy="38404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02920" y="6181344"/>
            <a:ext cx="254203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Piyush </a:t>
            </a:r>
            <a:r>
              <a:rPr sz="1100" b="1" i="0" dirty="0">
                <a:solidFill>
                  <a:srgbClr val="FFFFFF"/>
                </a:solidFill>
                <a:latin typeface="Calibri"/>
              </a:rPr>
              <a:t>(Team Lead)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27832" y="6181344"/>
            <a:ext cx="1389888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227832" y="6181344"/>
            <a:ext cx="13898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Pooja</a:t>
            </a:r>
            <a:endParaRPr sz="11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4800600" y="6181344"/>
            <a:ext cx="1280160" cy="38404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800600" y="6181344"/>
            <a:ext cx="12801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Parul</a:t>
            </a:r>
            <a:endParaRPr sz="11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6263640" y="6181344"/>
            <a:ext cx="1280160" cy="384048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263640" y="6181344"/>
            <a:ext cx="12801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Premika</a:t>
            </a:r>
            <a:endParaRPr sz="11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7726680" y="6181344"/>
            <a:ext cx="1517904" cy="38404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726680" y="6181344"/>
            <a:ext cx="151790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Ramita</a:t>
            </a:r>
            <a:endParaRPr sz="11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02920" y="6693408"/>
            <a:ext cx="777240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7890AA"/>
                </a:solidFill>
                <a:latin typeface="Calibri"/>
              </a:rPr>
              <a:t>Mentor: </a:t>
            </a:r>
            <a:r>
              <a:rPr lang="en-US" sz="1150" b="0" i="0" dirty="0">
                <a:solidFill>
                  <a:srgbClr val="7890AA"/>
                </a:solidFill>
                <a:latin typeface="Calibri"/>
              </a:rPr>
              <a:t>Jayasri V</a:t>
            </a:r>
            <a:r>
              <a:rPr sz="1150" b="0" i="0" dirty="0">
                <a:solidFill>
                  <a:srgbClr val="7890AA"/>
                </a:solidFill>
                <a:latin typeface="Calibri"/>
              </a:rPr>
              <a:t> 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424160" y="5897880"/>
            <a:ext cx="3749039" cy="1481328"/>
          </a:xfrm>
          <a:prstGeom prst="rect">
            <a:avLst/>
          </a:prstGeom>
          <a:solidFill>
            <a:srgbClr val="071226"/>
          </a:solidFill>
          <a:ln w="12700">
            <a:solidFill>
              <a:srgbClr val="102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515600" y="5989320"/>
            <a:ext cx="361188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0077CC"/>
                </a:solidFill>
                <a:latin typeface="Calibri"/>
              </a:rPr>
              <a:t>Infosys Springboard</a:t>
            </a:r>
          </a:p>
          <a:p>
            <a:pPr algn="ctr"/>
            <a:r>
              <a:rPr sz="1000" b="0" i="1" dirty="0">
                <a:solidFill>
                  <a:srgbClr val="7890AA"/>
                </a:solidFill>
                <a:latin typeface="Calibri"/>
              </a:rPr>
              <a:t>Data Analytics</a:t>
            </a:r>
            <a:r>
              <a:rPr lang="en-US" sz="1000" b="0" i="1" dirty="0">
                <a:solidFill>
                  <a:srgbClr val="7890AA"/>
                </a:solidFill>
                <a:latin typeface="Calibri"/>
              </a:rPr>
              <a:t> Project</a:t>
            </a:r>
          </a:p>
          <a:p>
            <a:pPr algn="ctr"/>
            <a:r>
              <a:rPr lang="en-US" sz="1100" b="0" i="0" dirty="0">
                <a:solidFill>
                  <a:srgbClr val="7890AA"/>
                </a:solidFill>
                <a:latin typeface="Calibri"/>
              </a:rPr>
              <a:t> 2026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8138160"/>
            <a:ext cx="14630400" cy="9144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Why does Bengaluru's mobility data need a unified analytical platform?</a:t>
            </a:r>
            <a:endParaRPr sz="1100" b="0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2573000" y="137160"/>
            <a:ext cx="1828800" cy="658368"/>
          </a:xfrm>
          <a:prstGeom prst="rect">
            <a:avLst/>
          </a:prstGeom>
          <a:solidFill>
            <a:srgbClr val="002D72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573000" y="155448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Infosys</a:t>
            </a:r>
          </a:p>
          <a:p>
            <a:pPr algn="ctr"/>
            <a:r>
              <a:rPr sz="1000" b="0" i="0">
                <a:solidFill>
                  <a:srgbClr val="0077CC"/>
                </a:solidFill>
                <a:latin typeface="Calibri"/>
              </a:rPr>
              <a:t>Springboard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028431"/>
            <a:ext cx="123444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 dirty="0">
                <a:solidFill>
                  <a:srgbClr val="708096"/>
                </a:solidFill>
                <a:latin typeface="Calibri"/>
              </a:rPr>
              <a:t>·  Infosys Springboard  ·  Trial Presentation –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0" y="8028431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08096"/>
                </a:solidFill>
                <a:latin typeface="Calibri"/>
              </a:rPr>
              <a:t>3/16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261872"/>
            <a:ext cx="3291840" cy="379476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261872"/>
            <a:ext cx="3291840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5216" y="1956816"/>
            <a:ext cx="30358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Fragmented Mobility Data</a:t>
            </a:r>
            <a:endParaRPr sz="1300" b="1" i="0" dirty="0">
              <a:solidFill>
                <a:srgbClr val="0A1A44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21792" y="2340864"/>
            <a:ext cx="2962656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/>
              <a:t>Bengaluru mobility information is spread across multiple datasets covering public transit, traffic, weather, road safety, demographics, and ride-hailing. Each dataset represents a different aspect of the city's transportation system.</a:t>
            </a:r>
            <a:endParaRPr sz="1200" i="0" dirty="0">
              <a:solidFill>
                <a:srgbClr val="1A2230"/>
              </a:solidFill>
              <a:latin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877056" y="1261872"/>
            <a:ext cx="3291840" cy="379476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877056" y="1261872"/>
            <a:ext cx="3291840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005072" y="1956816"/>
            <a:ext cx="3035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1A44"/>
                </a:solidFill>
                <a:latin typeface="Calibri"/>
              </a:rPr>
              <a:t>Data Inconsistency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77056" y="2340864"/>
            <a:ext cx="296265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/>
              <a:t>The datasets use different schemas, formats, identifiers, data types, and levels of detail. Without proper cleaning and standardization, combining these sources for analysis becomes difficult and unreliable.</a:t>
            </a:r>
            <a:endParaRPr sz="1200" i="0" dirty="0">
              <a:solidFill>
                <a:srgbClr val="1A2230"/>
              </a:solidFill>
              <a:latin typeface="Calibr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296912" y="1261872"/>
            <a:ext cx="3291840" cy="379476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296912" y="1261872"/>
            <a:ext cx="3291840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24928" y="1956816"/>
            <a:ext cx="30358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Limited Spatial Understanding</a:t>
            </a:r>
            <a:endParaRPr sz="1300" b="1" i="0" dirty="0">
              <a:solidFill>
                <a:srgbClr val="0A1A44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461504" y="2340864"/>
            <a:ext cx="296265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/>
              <a:t>Individual datasets can show specific patterns, but they do not easily reveal relationships between traffic conditions, transit performance, weather, accidents, population characteristics, and travel demand.</a:t>
            </a:r>
            <a:endParaRPr sz="1200" i="0" dirty="0">
              <a:solidFill>
                <a:srgbClr val="1A2230"/>
              </a:solidFill>
              <a:latin typeface="Calibri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0716768" y="1261872"/>
            <a:ext cx="3291840" cy="379476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0716768" y="1261872"/>
            <a:ext cx="3291840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844784" y="1956816"/>
            <a:ext cx="30358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No Unified Mobility View</a:t>
            </a:r>
            <a:endParaRPr sz="1300" b="1" i="0" dirty="0">
              <a:solidFill>
                <a:srgbClr val="0A1A44"/>
              </a:solidFill>
              <a:latin typeface="Calibr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881360" y="2340864"/>
            <a:ext cx="296265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/>
              <a:t>Without an integrated analytical system, it is difficult to obtain a single view of Bengaluru's mobility performance or compare different mobility indicators together for meaningful decision-making.</a:t>
            </a:r>
            <a:endParaRPr sz="1200" i="0" dirty="0">
              <a:solidFill>
                <a:srgbClr val="1A2230"/>
              </a:solidFill>
              <a:latin typeface="Calibr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57200" y="5230368"/>
            <a:ext cx="13716000" cy="960120"/>
          </a:xfrm>
          <a:prstGeom prst="rect">
            <a:avLst/>
          </a:prstGeom>
          <a:solidFill>
            <a:srgbClr val="0A1A44"/>
          </a:solidFill>
          <a:ln w="1905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57200" y="5230368"/>
            <a:ext cx="82296" cy="96012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8368" y="5321808"/>
            <a:ext cx="133502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0077CC"/>
                </a:solidFill>
                <a:latin typeface="Calibri"/>
              </a:rPr>
              <a:t>GOAL:  </a:t>
            </a:r>
          </a:p>
          <a:p>
            <a:r>
              <a:rPr lang="en-US" sz="1400" dirty="0">
                <a:solidFill>
                  <a:schemeClr val="bg2"/>
                </a:solidFill>
              </a:rPr>
              <a:t>Build a unified </a:t>
            </a:r>
            <a:r>
              <a:rPr lang="en-US" sz="1400" b="1" dirty="0">
                <a:solidFill>
                  <a:schemeClr val="bg2"/>
                </a:solidFill>
              </a:rPr>
              <a:t>Smart City Mobility Intelligence system</a:t>
            </a:r>
            <a:r>
              <a:rPr lang="en-US" sz="1400" dirty="0">
                <a:solidFill>
                  <a:schemeClr val="bg2"/>
                </a:solidFill>
              </a:rPr>
              <a:t> that integrates mobility, traffic, accident, route, stop, fare and geospatial information to provide </a:t>
            </a:r>
            <a:r>
              <a:rPr lang="en-US" sz="1400" b="1" dirty="0">
                <a:solidFill>
                  <a:schemeClr val="bg2"/>
                </a:solidFill>
              </a:rPr>
              <a:t>interactive, location-based insights into Bengaluru's transportation patterns and support data-driven mobility analysis.</a:t>
            </a:r>
            <a:r>
              <a:rPr sz="1300" b="0" i="0" dirty="0">
                <a:solidFill>
                  <a:schemeClr val="bg2"/>
                </a:solidFill>
                <a:latin typeface="Calibri"/>
              </a:rPr>
              <a:t>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355080"/>
            <a:ext cx="1371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Fragmented Data → Data Integration → Multi-Domain Analytics → Actionable Mobility Insights</a:t>
            </a:r>
            <a:endParaRPr sz="1200" b="1" i="1" dirty="0">
              <a:solidFill>
                <a:srgbClr val="0077CC"/>
              </a:solidFill>
              <a:latin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Project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00B0F0"/>
                </a:solidFill>
              </a:rPr>
              <a:t>End-to-end scope of the Urban Pulse Smart City Mobility Intelligence project</a:t>
            </a:r>
            <a:endParaRPr sz="1100" b="0" i="0" dirty="0">
              <a:solidFill>
                <a:srgbClr val="00B0F0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2573000" y="137160"/>
            <a:ext cx="1828800" cy="658368"/>
          </a:xfrm>
          <a:prstGeom prst="rect">
            <a:avLst/>
          </a:prstGeom>
          <a:solidFill>
            <a:srgbClr val="002D72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573000" y="155448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Infosys</a:t>
            </a:r>
          </a:p>
          <a:p>
            <a:pPr algn="ctr"/>
            <a:r>
              <a:rPr sz="1000" b="0" i="0">
                <a:solidFill>
                  <a:srgbClr val="0077CC"/>
                </a:solidFill>
                <a:latin typeface="Calibri"/>
              </a:rPr>
              <a:t>Springboard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716000" y="8028431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08096"/>
                </a:solidFill>
                <a:latin typeface="Calibri"/>
              </a:rPr>
              <a:t>4/16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261872"/>
            <a:ext cx="2670048" cy="3749039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1480" y="1261872"/>
            <a:ext cx="2670048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21208" y="1371600"/>
            <a:ext cx="502920" cy="50292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1208" y="1371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" y="1975104"/>
            <a:ext cx="2450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A44"/>
                </a:solidFill>
                <a:latin typeface="Calibri"/>
              </a:rPr>
              <a:t>Data 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" y="2340864"/>
            <a:ext cx="241401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/>
              <a:t>Combine Multiple Mobility Datasets</a:t>
            </a:r>
          </a:p>
          <a:p>
            <a:pPr algn="just"/>
            <a:r>
              <a:rPr lang="en-US" sz="1400" dirty="0"/>
              <a:t>Integrate mobility, traffic, transit, route, stop, accident, fare and location-based datasets into a structured analytical model for unified mobility analysis.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72968" y="1261872"/>
            <a:ext cx="2670048" cy="3749039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172968" y="1261872"/>
            <a:ext cx="2670048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282696" y="1371600"/>
            <a:ext cx="502920" cy="50292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82696" y="1371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82696" y="1975104"/>
            <a:ext cx="24505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Multi-Type Coverage</a:t>
            </a:r>
            <a:endParaRPr sz="1300" b="1" i="0" dirty="0">
              <a:solidFill>
                <a:srgbClr val="0A1A44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172968" y="2386584"/>
            <a:ext cx="241401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/>
              <a:t>Integrate multiple mobility datasets to provide a combined view of trips, routes, stops, traffic conditions, accidents and geographic mobility patterns.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34456" y="1261872"/>
            <a:ext cx="2670048" cy="3749039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934456" y="1261872"/>
            <a:ext cx="2670048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044184" y="1371600"/>
            <a:ext cx="502920" cy="50292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44184" y="1371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44184" y="1975104"/>
            <a:ext cx="2450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A1A44"/>
                </a:solidFill>
                <a:latin typeface="Calibri"/>
              </a:rPr>
              <a:t>Power BI 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62472" y="2340864"/>
            <a:ext cx="241401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/>
              <a:t>Build interactive Power BI dashboards for Geospatial Analytics, Traffic &amp; Road Safety, and Reliability Metrics with filters and KPI cards.</a:t>
            </a:r>
            <a:endParaRPr sz="1200" i="0" dirty="0">
              <a:solidFill>
                <a:srgbClr val="1A2230"/>
              </a:solidFill>
              <a:latin typeface="Calibr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695944" y="1261872"/>
            <a:ext cx="2670048" cy="3749039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695944" y="1261872"/>
            <a:ext cx="2670048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805672" y="1371600"/>
            <a:ext cx="502920" cy="50292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805672" y="1371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05672" y="1975104"/>
            <a:ext cx="2450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A1A44"/>
                </a:solidFill>
                <a:latin typeface="Calibri"/>
              </a:rPr>
              <a:t>Trend &amp; Performance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05672" y="2374171"/>
            <a:ext cx="241401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 err="1"/>
              <a:t>Analyse</a:t>
            </a:r>
            <a:r>
              <a:rPr lang="en-US" sz="1400" dirty="0"/>
              <a:t> trip demand, stop arrivals, route activity, traffic speed, congestion, incidents, fares and reliability patterns across time and locations.</a:t>
            </a:r>
            <a:endParaRPr sz="1200" b="0" i="0" dirty="0">
              <a:solidFill>
                <a:srgbClr val="1A2230"/>
              </a:solidFill>
              <a:latin typeface="Calibr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11457432" y="1261872"/>
            <a:ext cx="2670048" cy="3749039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1457432" y="1261872"/>
            <a:ext cx="2670048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1567160" y="1371600"/>
            <a:ext cx="502920" cy="50292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1567160" y="1371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567160" y="1975104"/>
            <a:ext cx="24505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0A1A44"/>
                </a:solidFill>
                <a:latin typeface="Calibri"/>
              </a:rPr>
              <a:t>Interactive</a:t>
            </a:r>
            <a:endParaRPr sz="1400" b="1" i="0" dirty="0">
              <a:solidFill>
                <a:srgbClr val="0A1A44"/>
              </a:solidFill>
              <a:latin typeface="Calibri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1585448" y="2340864"/>
            <a:ext cx="180177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/>
              <a:t>Support   interactive exploration of mobility conditions through date, area, ward and station filters, enabling users to examine changing mobility patterns and performance indicators.</a:t>
            </a:r>
            <a:endParaRPr sz="1200" b="0" i="0" dirty="0">
              <a:solidFill>
                <a:srgbClr val="1A2230"/>
              </a:solidFill>
              <a:latin typeface="Calibri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411480" y="5230368"/>
            <a:ext cx="13789152" cy="248716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11480" y="5230368"/>
            <a:ext cx="13789152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94360" y="532180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7CC"/>
                </a:solidFill>
                <a:latin typeface="Calibri"/>
              </a:rPr>
              <a:t>Project Deliverables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" y="5669280"/>
            <a:ext cx="324612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94360" y="5669280"/>
            <a:ext cx="64008" cy="178308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58952" y="574243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7CC"/>
                </a:solidFill>
                <a:latin typeface="Calibri"/>
              </a:rPr>
              <a:t>Master Dataset CSV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8952" y="6089904"/>
            <a:ext cx="30175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Prepared and structured mobility datasets used as the foundation for the Power BI analysis.</a:t>
            </a:r>
            <a:endParaRPr sz="1400" b="0" i="0" dirty="0">
              <a:solidFill>
                <a:srgbClr val="708096"/>
              </a:solidFill>
              <a:latin typeface="Calibri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3995928" y="5669280"/>
            <a:ext cx="324612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3995928" y="5669280"/>
            <a:ext cx="64008" cy="1783080"/>
          </a:xfrm>
          <a:prstGeom prst="rect">
            <a:avLst/>
          </a:prstGeom>
          <a:solidFill>
            <a:srgbClr val="277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160520" y="574243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76BF"/>
                </a:solidFill>
                <a:latin typeface="Calibri"/>
              </a:rPr>
              <a:t>Power BI Dashboard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60520" y="6089904"/>
            <a:ext cx="30175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Interactive dashboards covering Geospatial Analytics, Traffic &amp; Road Safety, and Reliability Metrics.</a:t>
            </a:r>
            <a:endParaRPr sz="1400" i="0" dirty="0">
              <a:solidFill>
                <a:srgbClr val="708096"/>
              </a:solidFill>
              <a:latin typeface="Calibri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7397496" y="5669280"/>
            <a:ext cx="324612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7397496" y="5669280"/>
            <a:ext cx="64008" cy="1783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562088" y="574243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  <a:latin typeface="Calibri"/>
              </a:rPr>
              <a:t>Final PPT Report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62088" y="6089904"/>
            <a:ext cx="30175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Professional presentation documenting the project, datasets, methodology, completed modules, dashboards and key insights.</a:t>
            </a:r>
            <a:endParaRPr sz="1400" b="0" i="0" dirty="0">
              <a:solidFill>
                <a:srgbClr val="708096"/>
              </a:solidFill>
              <a:latin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  <a:latin typeface="Calibri"/>
              </a:rPr>
              <a:t>Modules Overview </a:t>
            </a:r>
            <a:r>
              <a:rPr lang="en-IN" sz="3000" b="1" i="0" dirty="0">
                <a:solidFill>
                  <a:srgbClr val="FFFFFF"/>
                </a:solidFill>
                <a:latin typeface="Calibri"/>
              </a:rPr>
              <a:t>-</a:t>
            </a:r>
            <a:r>
              <a:rPr sz="3000" b="1" i="0" dirty="0">
                <a:solidFill>
                  <a:srgbClr val="FFFFFF"/>
                </a:solidFill>
                <a:latin typeface="Calibri"/>
              </a:rPr>
              <a:t> 5 Milestones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B0C4DE"/>
                </a:solidFill>
                <a:latin typeface="Calibri"/>
              </a:rPr>
              <a:t>Each milestone maps to an interactive Power BI dashboard page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12573000" y="137160"/>
            <a:ext cx="1828800" cy="658368"/>
          </a:xfrm>
          <a:prstGeom prst="rect">
            <a:avLst/>
          </a:prstGeom>
          <a:solidFill>
            <a:srgbClr val="002D72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573000" y="155448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Infosys</a:t>
            </a:r>
          </a:p>
          <a:p>
            <a:pPr algn="ctr"/>
            <a:r>
              <a:rPr sz="1000" b="0" i="0">
                <a:solidFill>
                  <a:srgbClr val="0077CC"/>
                </a:solidFill>
                <a:latin typeface="Calibri"/>
              </a:rPr>
              <a:t>Springboard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716000" y="8028431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08096"/>
                </a:solidFill>
                <a:latin typeface="Calibri"/>
              </a:rPr>
              <a:t>5/16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" y="1234440"/>
            <a:ext cx="2633472" cy="5559552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02336" y="1234440"/>
            <a:ext cx="2633472" cy="6400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12064" y="1353312"/>
            <a:ext cx="502920" cy="50292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2064" y="13533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1956816"/>
            <a:ext cx="24140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A1A44"/>
                </a:solidFill>
                <a:latin typeface="Calibri"/>
              </a:rPr>
              <a:t>Data Integration
&amp; Modeling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2651760"/>
            <a:ext cx="241401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Dataset collection, cleaning and processing, field standardization, table merging, relationship creation and Power BI data modeling.</a:t>
            </a:r>
            <a:endParaRPr sz="1400" b="0" i="0" dirty="0">
              <a:solidFill>
                <a:srgbClr val="1A2230"/>
              </a:solidFill>
              <a:latin typeface="Calibr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12064" y="4251960"/>
            <a:ext cx="2414016" cy="2926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6072" y="4251960"/>
            <a:ext cx="24140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/>
              <a:t>✅ </a:t>
            </a:r>
            <a:r>
              <a:rPr lang="en-US" sz="900" b="1" dirty="0">
                <a:solidFill>
                  <a:schemeClr val="bg1"/>
                </a:solidFill>
              </a:rPr>
              <a:t>Completed</a:t>
            </a:r>
            <a:endParaRPr sz="900" b="1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044952" y="306324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77CC"/>
                </a:solidFill>
                <a:latin typeface="Calibri"/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63824" y="1234440"/>
            <a:ext cx="2633472" cy="5559552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163824" y="1234440"/>
            <a:ext cx="2633472" cy="640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73552" y="1353312"/>
            <a:ext cx="50292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73552" y="13533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73552" y="1956816"/>
            <a:ext cx="24140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Geospatial &amp; Transit</a:t>
            </a:r>
            <a:br>
              <a:rPr lang="en-US" sz="1400" b="1" dirty="0"/>
            </a:br>
            <a:r>
              <a:rPr lang="en-US" sz="1400" b="1" dirty="0"/>
              <a:t>Analytics</a:t>
            </a:r>
            <a:endParaRPr sz="1400" b="1" i="0" dirty="0">
              <a:solidFill>
                <a:srgbClr val="0A1A44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273552" y="2651760"/>
            <a:ext cx="241401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Geospatial stop distribution, top routes and stops, trip demand trends, stop-arrival analysis and location-based mobility visualization.</a:t>
            </a:r>
            <a:endParaRPr sz="1400" b="0" i="0" dirty="0">
              <a:solidFill>
                <a:srgbClr val="1A2230"/>
              </a:solidFill>
              <a:latin typeface="Calibri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273552" y="4251960"/>
            <a:ext cx="2414016" cy="2926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806440" y="306324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77CC"/>
                </a:solidFill>
                <a:latin typeface="Calibri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25312" y="1234440"/>
            <a:ext cx="2633472" cy="5559552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925312" y="1234440"/>
            <a:ext cx="2633472" cy="6400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035040" y="1353312"/>
            <a:ext cx="502920" cy="5029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035040" y="13533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1956816"/>
            <a:ext cx="24140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Traffic &amp; Road Safety</a:t>
            </a:r>
            <a:br>
              <a:rPr lang="en-US" sz="1400" b="1" dirty="0"/>
            </a:br>
            <a:r>
              <a:rPr lang="en-US" sz="1400" b="1" dirty="0"/>
              <a:t>Analytics</a:t>
            </a:r>
            <a:endParaRPr sz="1400" b="1" i="0" dirty="0">
              <a:solidFill>
                <a:srgbClr val="0A1A44"/>
              </a:solidFill>
              <a:latin typeface="Calibr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035040" y="2651760"/>
            <a:ext cx="241401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/>
              <a:t>Traffic speed and volume analysis, congestion levels, road-capacity utilization, transit-stop usage and traffic incident analysis</a:t>
            </a:r>
            <a:endParaRPr sz="1400" b="0" i="0" dirty="0">
              <a:solidFill>
                <a:srgbClr val="1A2230"/>
              </a:solidFill>
              <a:latin typeface="Calibr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035040" y="4251960"/>
            <a:ext cx="2414016" cy="29260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567928" y="306324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77CC"/>
                </a:solidFill>
                <a:latin typeface="Calibri"/>
              </a:rPr>
              <a:t>▶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86800" y="1234440"/>
            <a:ext cx="2633472" cy="5559552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686800" y="1234440"/>
            <a:ext cx="2633472" cy="640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796528" y="1353312"/>
            <a:ext cx="50292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796528" y="13533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96528" y="1956816"/>
            <a:ext cx="24140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Reliability Metrics</a:t>
            </a:r>
            <a:br>
              <a:rPr lang="en-US" sz="1400" b="1" dirty="0"/>
            </a:br>
            <a:r>
              <a:rPr lang="en-US" sz="1400" b="1" dirty="0"/>
              <a:t>&amp; Mobility Performance</a:t>
            </a:r>
            <a:endParaRPr sz="1400" b="1" i="0" dirty="0">
              <a:solidFill>
                <a:srgbClr val="0A1A44"/>
              </a:solidFill>
              <a:latin typeface="Calibri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796528" y="2651760"/>
            <a:ext cx="241401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/>
              <a:t>Traffic reliability, ride reliability, weather reliability and safety metrics with accident distribution, zone analysis and traffic conditions over time.</a:t>
            </a:r>
            <a:endParaRPr sz="1400" b="0" i="0" dirty="0">
              <a:solidFill>
                <a:srgbClr val="1A2230"/>
              </a:solidFill>
              <a:latin typeface="Calibri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8796528" y="4251960"/>
            <a:ext cx="2414016" cy="2926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1329416" y="306324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77CC"/>
                </a:solidFill>
                <a:latin typeface="Calibri"/>
              </a:rPr>
              <a:t>▶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448288" y="1234440"/>
            <a:ext cx="2633472" cy="5559552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11448288" y="1234440"/>
            <a:ext cx="2633472" cy="640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11558016" y="1353312"/>
            <a:ext cx="50292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1558016" y="13533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558016" y="1956816"/>
            <a:ext cx="24140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Final Integration</a:t>
            </a:r>
            <a:br>
              <a:rPr lang="en-US" sz="1400" b="1" dirty="0"/>
            </a:br>
            <a:r>
              <a:rPr lang="en-US" sz="1400" b="1" dirty="0"/>
              <a:t>&amp; Dashboard Delivery</a:t>
            </a:r>
            <a:endParaRPr sz="1400" b="1" i="0" dirty="0">
              <a:solidFill>
                <a:srgbClr val="0A1A44"/>
              </a:solidFill>
              <a:latin typeface="Calibri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1558016" y="2651760"/>
            <a:ext cx="241401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/>
              <a:t>Integrated Power BI modules with interactive filters, KPI cards, analytical measures and consolidated mobility insights for presentation and reporting.</a:t>
            </a:r>
            <a:endParaRPr sz="1400" b="0" i="0" dirty="0">
              <a:solidFill>
                <a:srgbClr val="1A2230"/>
              </a:solidFill>
              <a:latin typeface="Calibri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11558016" y="4251960"/>
            <a:ext cx="2414016" cy="2926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66B6D0D-4F54-CDB1-8AB4-9A87BBEA1ADC}"/>
              </a:ext>
            </a:extLst>
          </p:cNvPr>
          <p:cNvSpPr txBox="1"/>
          <p:nvPr/>
        </p:nvSpPr>
        <p:spPr>
          <a:xfrm>
            <a:off x="11430000" y="4257910"/>
            <a:ext cx="24140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/>
              <a:t>✅ </a:t>
            </a:r>
            <a:r>
              <a:rPr lang="en-US" sz="900" b="1" dirty="0">
                <a:solidFill>
                  <a:schemeClr val="bg1"/>
                </a:solidFill>
              </a:rPr>
              <a:t>Completed</a:t>
            </a:r>
            <a:endParaRPr sz="900" b="1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D7CBC4E-CA71-0110-A98D-BBEB04CC1490}"/>
              </a:ext>
            </a:extLst>
          </p:cNvPr>
          <p:cNvSpPr txBox="1"/>
          <p:nvPr/>
        </p:nvSpPr>
        <p:spPr>
          <a:xfrm>
            <a:off x="8787384" y="4257910"/>
            <a:ext cx="24140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/>
              <a:t>✅ </a:t>
            </a:r>
            <a:r>
              <a:rPr lang="en-US" sz="900" b="1" dirty="0">
                <a:solidFill>
                  <a:schemeClr val="bg1"/>
                </a:solidFill>
              </a:rPr>
              <a:t>Completed</a:t>
            </a:r>
            <a:endParaRPr sz="900" b="1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6AFF870-FBFB-D7D3-752F-E9ADCF2B1344}"/>
              </a:ext>
            </a:extLst>
          </p:cNvPr>
          <p:cNvSpPr txBox="1"/>
          <p:nvPr/>
        </p:nvSpPr>
        <p:spPr>
          <a:xfrm>
            <a:off x="6025896" y="4281024"/>
            <a:ext cx="24140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/>
              <a:t>✅ </a:t>
            </a:r>
            <a:r>
              <a:rPr lang="en-US" sz="900" b="1" dirty="0">
                <a:solidFill>
                  <a:schemeClr val="bg1"/>
                </a:solidFill>
              </a:rPr>
              <a:t>Completed</a:t>
            </a:r>
            <a:endParaRPr sz="900" b="1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5337EF2-A237-1278-67EB-18CD7595C336}"/>
              </a:ext>
            </a:extLst>
          </p:cNvPr>
          <p:cNvSpPr txBox="1"/>
          <p:nvPr/>
        </p:nvSpPr>
        <p:spPr>
          <a:xfrm>
            <a:off x="3154680" y="4255737"/>
            <a:ext cx="24140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/>
              <a:t>✅ </a:t>
            </a:r>
            <a:r>
              <a:rPr lang="en-US" sz="900" b="1" dirty="0">
                <a:solidFill>
                  <a:schemeClr val="bg1"/>
                </a:solidFill>
              </a:rPr>
              <a:t>Completed</a:t>
            </a:r>
            <a:endParaRPr sz="900" b="1" i="0" dirty="0">
              <a:solidFill>
                <a:schemeClr val="bg1"/>
              </a:solidFill>
              <a:latin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  <a:latin typeface="Calibri"/>
              </a:rPr>
              <a:t>Milestone 1 </a:t>
            </a:r>
            <a:r>
              <a:rPr lang="en-IN" sz="3000" b="1" i="0" dirty="0">
                <a:solidFill>
                  <a:srgbClr val="FFFFFF"/>
                </a:solidFill>
                <a:latin typeface="Calibri"/>
              </a:rPr>
              <a:t>-</a:t>
            </a:r>
            <a:r>
              <a:rPr sz="3000" b="1" i="0" dirty="0">
                <a:solidFill>
                  <a:srgbClr val="FFFFFF"/>
                </a:solidFill>
                <a:latin typeface="Calibri"/>
              </a:rPr>
              <a:t> Data Integration &amp; Modeling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</a:rPr>
              <a:t>Collecting, cleaning, integrating, and modeling multi-source urban mobility data for Power BI analytics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2573000" y="137160"/>
            <a:ext cx="1828800" cy="658368"/>
          </a:xfrm>
          <a:prstGeom prst="rect">
            <a:avLst/>
          </a:prstGeom>
          <a:solidFill>
            <a:srgbClr val="002D72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573000" y="155448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Infosys</a:t>
            </a:r>
          </a:p>
          <a:p>
            <a:pPr algn="ctr"/>
            <a:r>
              <a:rPr sz="1000" b="0" i="0">
                <a:solidFill>
                  <a:srgbClr val="0077CC"/>
                </a:solidFill>
                <a:latin typeface="Calibri"/>
              </a:rPr>
              <a:t>Springboard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716000" y="8028431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08096"/>
                </a:solidFill>
                <a:latin typeface="Calibri"/>
              </a:rPr>
              <a:t>6/16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4650" y="1234439"/>
            <a:ext cx="5806440" cy="653796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/>
          </a:p>
        </p:txBody>
      </p:sp>
      <p:sp>
        <p:nvSpPr>
          <p:cNvPr id="14" name="Rectangle 13"/>
          <p:cNvSpPr/>
          <p:nvPr/>
        </p:nvSpPr>
        <p:spPr>
          <a:xfrm>
            <a:off x="457200" y="1234440"/>
            <a:ext cx="64008" cy="6537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1307592"/>
            <a:ext cx="56052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27AE60"/>
                </a:solidFill>
                <a:latin typeface="Calibri"/>
              </a:rPr>
              <a:t>✅  Completed — What Was Done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773936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1664208"/>
            <a:ext cx="524865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Multiple mobility datasets collected covering traffic conditions, trips/routes, stops/stations, accidents, fares and geographic information for Bengaluru.		</a:t>
            </a:r>
            <a:endParaRPr sz="1400" dirty="0">
              <a:solidFill>
                <a:srgbClr val="1A2230"/>
              </a:solidFill>
              <a:latin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58368" y="2505248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3439" y="2381049"/>
            <a:ext cx="52486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Data cleaning and preprocessing completed to improve consistency across datasets</a:t>
            </a:r>
            <a:endParaRPr sz="1400" i="0" dirty="0">
              <a:solidFill>
                <a:srgbClr val="1A2230"/>
              </a:solidFill>
              <a:latin typeface="Calibr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58368" y="2979710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3439" y="2867767"/>
            <a:ext cx="52486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Datasets merged and connected in Power BI to create a unified analytical model </a:t>
            </a:r>
            <a:endParaRPr sz="1400" i="0" dirty="0">
              <a:solidFill>
                <a:srgbClr val="1A2230"/>
              </a:solidFill>
              <a:latin typeface="Calibr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58368" y="3474720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8713" y="3363165"/>
            <a:ext cx="52486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Relationships created between related tables, including one-to-many relationships, </a:t>
            </a:r>
            <a:endParaRPr sz="1400" i="0" dirty="0">
              <a:solidFill>
                <a:srgbClr val="1A2230"/>
              </a:solidFill>
              <a:latin typeface="Calibri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58368" y="4041648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9808" y="3939935"/>
            <a:ext cx="524865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Geospatial fields prepared with latitude/longitude and location attributes to support Bengaluru stop distribution, geographic analysis and route-level visualization.</a:t>
            </a:r>
            <a:endParaRPr sz="1400" i="0" dirty="0">
              <a:solidFill>
                <a:srgbClr val="1A2230"/>
              </a:solidFill>
              <a:latin typeface="Calibri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6492240" y="3977639"/>
            <a:ext cx="7818120" cy="3794760"/>
          </a:xfrm>
          <a:prstGeom prst="rect">
            <a:avLst/>
          </a:prstGeom>
          <a:solidFill>
            <a:srgbClr val="0A1A44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492240" y="3977639"/>
            <a:ext cx="82296" cy="379476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675120" y="4059936"/>
            <a:ext cx="7406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077CC"/>
                </a:solidFill>
                <a:latin typeface="Calibri"/>
              </a:rPr>
              <a:t>⏭  Next Steps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675120" y="4544568"/>
            <a:ext cx="73152" cy="7315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727724" y="4454664"/>
            <a:ext cx="702259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4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Finalize the integrated Power BI data model</a:t>
            </a:r>
            <a:r>
              <a:rPr lang="en-US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and validate relationships across mobility, traffic and geospatial tables. </a:t>
            </a:r>
          </a:p>
          <a:p>
            <a:pPr lvl="0"/>
            <a:r>
              <a:rPr lang="en-US" sz="14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Build Geospatial Mobility Analytics</a:t>
            </a:r>
            <a:r>
              <a:rPr lang="en-US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using stop locations, route information and trip movement patterns. </a:t>
            </a:r>
          </a:p>
          <a:p>
            <a:pPr lvl="0"/>
            <a:r>
              <a:rPr lang="en-US" sz="14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Develop Origin–Destination analysis</a:t>
            </a:r>
            <a:r>
              <a:rPr lang="en-US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to understand major trip flows and frequently used corridors. </a:t>
            </a:r>
          </a:p>
          <a:p>
            <a:pPr lvl="0"/>
            <a:r>
              <a:rPr lang="en-US" sz="14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Identify high-demand locations and potential congestion hotspots</a:t>
            </a:r>
            <a:r>
              <a:rPr lang="en-US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using available trip, arrival and traffic-related information. </a:t>
            </a:r>
          </a:p>
          <a:p>
            <a:pPr lvl="0"/>
            <a:r>
              <a:rPr lang="en-US" sz="14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Complete Transit Reliability and Traffic Reliability dashboards</a:t>
            </a:r>
            <a:r>
              <a:rPr lang="en-US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using calculated reliability and safety metrics. </a:t>
            </a:r>
          </a:p>
          <a:p>
            <a:pPr lvl="0"/>
            <a:r>
              <a:rPr lang="en-US" sz="14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Add interactive filtering and drill-down analysis</a:t>
            </a:r>
            <a:r>
              <a:rPr lang="en-US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by date, station/stop, ward and route wherever the available data supports it.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675120" y="5093208"/>
            <a:ext cx="73152" cy="7315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6675120" y="5641848"/>
            <a:ext cx="73152" cy="7315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D4DEABA-B3C7-E8F0-B9DE-AC2F1C226E35}"/>
              </a:ext>
            </a:extLst>
          </p:cNvPr>
          <p:cNvSpPr/>
          <p:nvPr/>
        </p:nvSpPr>
        <p:spPr>
          <a:xfrm>
            <a:off x="664122" y="4820016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91E6EC2-F068-7BCA-0AF1-ACD087411E64}"/>
              </a:ext>
            </a:extLst>
          </p:cNvPr>
          <p:cNvSpPr/>
          <p:nvPr/>
        </p:nvSpPr>
        <p:spPr>
          <a:xfrm>
            <a:off x="685013" y="5671025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37A67D0-C4B3-07A3-065C-84796591314C}"/>
              </a:ext>
            </a:extLst>
          </p:cNvPr>
          <p:cNvSpPr txBox="1"/>
          <p:nvPr/>
        </p:nvSpPr>
        <p:spPr>
          <a:xfrm>
            <a:off x="802412" y="4703717"/>
            <a:ext cx="524865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Power BI measures created for key indicators such as Total Trips, Total Stops, Total Routes, Total Accidents and Average Fare, enabling dynamic dashboard calculations.</a:t>
            </a:r>
          </a:p>
          <a:p>
            <a:endParaRPr lang="en-US" sz="1400" dirty="0"/>
          </a:p>
          <a:p>
            <a:r>
              <a:rPr lang="en-US" sz="1400" dirty="0"/>
              <a:t>Date filtering and interactive relationships implemented so visuals respond to selected time periods and other dashboard filters.</a:t>
            </a:r>
            <a:endParaRPr sz="1400" i="0" dirty="0">
              <a:solidFill>
                <a:srgbClr val="1A2230"/>
              </a:solidFill>
              <a:latin typeface="Calibri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A81D6CCA-C0DB-4966-53C8-E792F587D317}"/>
              </a:ext>
            </a:extLst>
          </p:cNvPr>
          <p:cNvSpPr/>
          <p:nvPr/>
        </p:nvSpPr>
        <p:spPr>
          <a:xfrm>
            <a:off x="6492240" y="1307592"/>
            <a:ext cx="5651814" cy="2583873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EB51C8F-6AF2-6F18-87A0-CA215D7EBFE0}"/>
              </a:ext>
            </a:extLst>
          </p:cNvPr>
          <p:cNvSpPr txBox="1"/>
          <p:nvPr/>
        </p:nvSpPr>
        <p:spPr>
          <a:xfrm>
            <a:off x="6646455" y="1507310"/>
            <a:ext cx="54975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DATA SOURCES</a:t>
            </a:r>
          </a:p>
          <a:p>
            <a:r>
              <a:rPr lang="en-US" sz="1400" b="1" dirty="0"/>
              <a:t>Multi-source mobility data</a:t>
            </a:r>
          </a:p>
          <a:p>
            <a:endParaRPr lang="en-US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Traffic &amp; mobility records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Trip and route information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Stop/station locations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Accident and safety records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Fare and travel information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Geographic/location attributes</a:t>
            </a:r>
          </a:p>
          <a:p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 dirty="0">
                <a:solidFill>
                  <a:schemeClr val="bg1"/>
                </a:solidFill>
                <a:latin typeface="Calibri"/>
              </a:rPr>
              <a:t>Milestone 2 </a:t>
            </a:r>
            <a:r>
              <a:rPr lang="en-IN" sz="3000" b="1" i="0" dirty="0">
                <a:solidFill>
                  <a:schemeClr val="bg1"/>
                </a:solidFill>
                <a:latin typeface="Calibri"/>
              </a:rPr>
              <a:t>-</a:t>
            </a:r>
            <a:r>
              <a:rPr sz="3000" b="1" i="0" dirty="0">
                <a:solidFill>
                  <a:schemeClr val="bg1"/>
                </a:solidFill>
                <a:latin typeface="Calibri"/>
              </a:rPr>
              <a:t> </a:t>
            </a:r>
            <a:r>
              <a:rPr lang="en-US" sz="3200" dirty="0">
                <a:solidFill>
                  <a:schemeClr val="bg1"/>
                </a:solidFill>
              </a:rPr>
              <a:t>Geospatial &amp; Transit Analytics</a:t>
            </a:r>
            <a:endParaRPr sz="3000" b="1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</a:rPr>
              <a:t>Geographic mobility patterns • Route and stop analysis • Transit reliability &amp; traffic conditions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2573000" y="137160"/>
            <a:ext cx="1828800" cy="658368"/>
          </a:xfrm>
          <a:prstGeom prst="rect">
            <a:avLst/>
          </a:prstGeom>
          <a:solidFill>
            <a:srgbClr val="002D72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573000" y="155448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Infosys</a:t>
            </a:r>
          </a:p>
          <a:p>
            <a:pPr algn="ctr"/>
            <a:r>
              <a:rPr sz="1000" b="0" i="0">
                <a:solidFill>
                  <a:srgbClr val="0077CC"/>
                </a:solidFill>
                <a:latin typeface="Calibri"/>
              </a:rPr>
              <a:t>Springboard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716000" y="8028431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08096"/>
                </a:solidFill>
                <a:latin typeface="Calibri"/>
              </a:rPr>
              <a:t>7/16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1186" y="1266444"/>
            <a:ext cx="4160520" cy="548640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234440"/>
            <a:ext cx="64008" cy="5486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1307592"/>
            <a:ext cx="39593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27AE60"/>
                </a:solidFill>
                <a:latin typeface="Calibri"/>
              </a:rPr>
              <a:t>✅  Delivered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1714341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8218" y="1595628"/>
            <a:ext cx="3675888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en-US" sz="1400" b="1" dirty="0"/>
              <a:t>Bengaluru geospatial mobility dashboard</a:t>
            </a:r>
            <a:r>
              <a:rPr lang="en-US" sz="1400" dirty="0"/>
              <a:t> developed using stop, route and trip-level location data. </a:t>
            </a:r>
          </a:p>
          <a:p>
            <a:pPr lvl="0" algn="just"/>
            <a:endParaRPr lang="en-US" sz="1400" dirty="0"/>
          </a:p>
          <a:p>
            <a:pPr lvl="0" algn="just"/>
            <a:r>
              <a:rPr lang="en-US" sz="1400" b="1" dirty="0"/>
              <a:t>Geographic distribution of mobility stops</a:t>
            </a:r>
            <a:r>
              <a:rPr lang="en-US" sz="1400" dirty="0"/>
              <a:t> visualized using latitude and longitude to understand the spatial spread of the network. </a:t>
            </a:r>
          </a:p>
          <a:p>
            <a:pPr lvl="0" algn="just"/>
            <a:endParaRPr lang="en-US" sz="1400" dirty="0"/>
          </a:p>
          <a:p>
            <a:pPr lvl="0" algn="just"/>
            <a:r>
              <a:rPr lang="en-US" sz="1400" b="1" dirty="0"/>
              <a:t>Top routes and high-activity stops identified</a:t>
            </a:r>
            <a:r>
              <a:rPr lang="en-US" sz="1400" dirty="0"/>
              <a:t> using trip counts and stop-level activity. </a:t>
            </a:r>
          </a:p>
          <a:p>
            <a:pPr lvl="0" algn="just"/>
            <a:endParaRPr lang="en-US" sz="1400" dirty="0"/>
          </a:p>
          <a:p>
            <a:pPr lvl="0" algn="just"/>
            <a:r>
              <a:rPr lang="en-US" sz="1400" b="1" dirty="0"/>
              <a:t>Origin–Destination mobility analysis</a:t>
            </a:r>
            <a:r>
              <a:rPr lang="en-US" sz="1400" dirty="0"/>
              <a:t> developed to examine movement between starting and ending locations/routes. </a:t>
            </a:r>
          </a:p>
          <a:p>
            <a:pPr lvl="0" algn="just"/>
            <a:endParaRPr lang="en-US" sz="1400" dirty="0"/>
          </a:p>
          <a:p>
            <a:pPr lvl="0" algn="just"/>
            <a:r>
              <a:rPr lang="en-US" sz="1400" b="1" dirty="0"/>
              <a:t>Temporal trip analysis implemented</a:t>
            </a:r>
            <a:r>
              <a:rPr lang="en-US" sz="1400" dirty="0"/>
              <a:t> using monthly demand and hourly stop-arrival patterns</a:t>
            </a:r>
          </a:p>
          <a:p>
            <a:pPr lvl="0" algn="just"/>
            <a:r>
              <a:rPr lang="en-US" sz="1400" dirty="0"/>
              <a:t>. </a:t>
            </a:r>
          </a:p>
          <a:p>
            <a:pPr lvl="0" algn="just"/>
            <a:r>
              <a:rPr lang="en-US" sz="1400" b="1" dirty="0"/>
              <a:t>Transit reliability metrics dashboard created</a:t>
            </a:r>
            <a:r>
              <a:rPr lang="en-US" sz="1400" dirty="0"/>
              <a:t> covering traffic reliability, ride reliability, weather reliability and safety performance.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561326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9573" y="3410712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6296" y="4073960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50046" y="4919472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825845" y="1261872"/>
            <a:ext cx="9418320" cy="5486400"/>
          </a:xfrm>
          <a:prstGeom prst="rect">
            <a:avLst/>
          </a:prstGeom>
          <a:solidFill>
            <a:srgbClr val="0D132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1" name="TextBox 30"/>
          <p:cNvSpPr txBox="1"/>
          <p:nvPr/>
        </p:nvSpPr>
        <p:spPr>
          <a:xfrm>
            <a:off x="4919472" y="1298448"/>
            <a:ext cx="9144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Geospatial Mobility &amp; Transit Analytics</a:t>
            </a:r>
            <a:endParaRPr sz="1100" b="1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2710160" y="6428232"/>
            <a:ext cx="1371600" cy="23774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2710160" y="642823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DEMO SCREENSHOT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35040" y="2002536"/>
            <a:ext cx="20116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 dirty="0">
                <a:solidFill>
                  <a:srgbClr val="CCD8EA"/>
                </a:solidFill>
                <a:latin typeface="Calibri"/>
              </a:rPr>
              <a:t>Indian </a:t>
            </a:r>
            <a:r>
              <a:rPr sz="800" b="0" i="0" dirty="0" err="1">
                <a:solidFill>
                  <a:srgbClr val="CCD8EA"/>
                </a:solidFill>
                <a:latin typeface="Calibri"/>
              </a:rPr>
              <a:t>Natinal</a:t>
            </a:r>
            <a:r>
              <a:rPr sz="800" b="0" i="0" dirty="0">
                <a:solidFill>
                  <a:srgbClr val="CCD8EA"/>
                </a:solidFill>
                <a:latin typeface="Calibri"/>
              </a:rPr>
              <a:t> Congress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35040" y="2295144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 dirty="0">
                <a:solidFill>
                  <a:srgbClr val="CCD8EA"/>
                </a:solidFill>
                <a:latin typeface="Calibri"/>
              </a:rPr>
              <a:t>Bharatiya Janata Party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035040" y="2587752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Independent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035040" y="288036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Telugu Desam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035040" y="317296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INC (I)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973568" y="3220516"/>
            <a:ext cx="623344" cy="14264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035040" y="3465576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Janata Party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973568" y="3513124"/>
            <a:ext cx="485513" cy="14264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8504801" y="3465576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782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035040" y="3758184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CPI(M)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973568" y="3805732"/>
            <a:ext cx="330918" cy="14264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8350206" y="3758184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533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11480" y="6903720"/>
            <a:ext cx="13807440" cy="502920"/>
          </a:xfrm>
          <a:prstGeom prst="rect">
            <a:avLst/>
          </a:prstGeom>
          <a:solidFill>
            <a:srgbClr val="E8F2FA"/>
          </a:solidFill>
          <a:ln w="1270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94360" y="6995160"/>
            <a:ext cx="134416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/>
              <a:t>Dashboard Outcome:</a:t>
            </a:r>
            <a:r>
              <a:rPr lang="en-US" sz="1100" dirty="0"/>
              <a:t> A unified geographic and transit view of Bengaluru that connects </a:t>
            </a:r>
            <a:r>
              <a:rPr lang="en-US" sz="1100" b="1" dirty="0"/>
              <a:t>where mobility occurs, how people move, when demand changes, and how reliable the network is.</a:t>
            </a:r>
            <a:endParaRPr sz="1100" b="0" i="0" dirty="0">
              <a:solidFill>
                <a:srgbClr val="0A1A44"/>
              </a:solidFill>
              <a:latin typeface="Calibri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6D2DB145-23D9-825E-BB86-25D8598CBCFC}"/>
              </a:ext>
            </a:extLst>
          </p:cNvPr>
          <p:cNvSpPr/>
          <p:nvPr/>
        </p:nvSpPr>
        <p:spPr>
          <a:xfrm>
            <a:off x="619776" y="5763006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CFA201CB-6AB5-C01E-EF9A-A494260F4741}"/>
              </a:ext>
            </a:extLst>
          </p:cNvPr>
          <p:cNvSpPr/>
          <p:nvPr/>
        </p:nvSpPr>
        <p:spPr>
          <a:xfrm>
            <a:off x="4825845" y="1271016"/>
            <a:ext cx="9418320" cy="5486400"/>
          </a:xfrm>
          <a:prstGeom prst="rect">
            <a:avLst/>
          </a:prstGeom>
          <a:solidFill>
            <a:srgbClr val="0D132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45185F7-761B-AA69-97E2-EEB30A6A635F}"/>
              </a:ext>
            </a:extLst>
          </p:cNvPr>
          <p:cNvSpPr txBox="1"/>
          <p:nvPr/>
        </p:nvSpPr>
        <p:spPr>
          <a:xfrm>
            <a:off x="5010150" y="1429253"/>
            <a:ext cx="4391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Geospatial Mobility &amp; Transit Analytics</a:t>
            </a:r>
          </a:p>
        </p:txBody>
      </p:sp>
      <p:pic>
        <p:nvPicPr>
          <p:cNvPr id="96" name="Picture 95">
            <a:extLst>
              <a:ext uri="{FF2B5EF4-FFF2-40B4-BE49-F238E27FC236}">
                <a16:creationId xmlns:a16="http://schemas.microsoft.com/office/drawing/2014/main" id="{EC2721DA-0485-9DB9-6643-72E251547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0617" y="1460677"/>
            <a:ext cx="3795111" cy="2422258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103C6F9D-5DA9-45C2-23F3-3C97652689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0444" y="4018964"/>
            <a:ext cx="3795111" cy="2587576"/>
          </a:xfrm>
          <a:prstGeom prst="rect">
            <a:avLst/>
          </a:prstGeom>
        </p:spPr>
      </p:pic>
      <p:sp>
        <p:nvSpPr>
          <p:cNvPr id="99" name="TextBox 98">
            <a:extLst>
              <a:ext uri="{FF2B5EF4-FFF2-40B4-BE49-F238E27FC236}">
                <a16:creationId xmlns:a16="http://schemas.microsoft.com/office/drawing/2014/main" id="{58358BD6-8951-2AE5-413B-BAE745E981F4}"/>
              </a:ext>
            </a:extLst>
          </p:cNvPr>
          <p:cNvSpPr txBox="1"/>
          <p:nvPr/>
        </p:nvSpPr>
        <p:spPr>
          <a:xfrm>
            <a:off x="5110002" y="1937934"/>
            <a:ext cx="502920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400" b="1" dirty="0">
                <a:solidFill>
                  <a:schemeClr val="bg1"/>
                </a:solidFill>
              </a:rPr>
              <a:t>Geospatial Coverage:</a:t>
            </a:r>
            <a:r>
              <a:rPr lang="en-US" sz="1400" dirty="0">
                <a:solidFill>
                  <a:schemeClr val="bg1"/>
                </a:solidFill>
              </a:rPr>
              <a:t> Mapped Bengaluru mobility stops using location coordinates to visualize the spatial distribution of the transport network. </a:t>
            </a:r>
          </a:p>
          <a:p>
            <a:pPr lvl="0"/>
            <a:r>
              <a:rPr lang="en-US" sz="1400" b="1" dirty="0">
                <a:solidFill>
                  <a:schemeClr val="bg1"/>
                </a:solidFill>
              </a:rPr>
              <a:t>Route &amp; Stop Activity:</a:t>
            </a:r>
            <a:r>
              <a:rPr lang="en-US" sz="1400" dirty="0">
                <a:solidFill>
                  <a:schemeClr val="bg1"/>
                </a:solidFill>
              </a:rPr>
              <a:t> Compared routes and stops using trip activity to identify frequently used mobility corridors and high-activity locations.</a:t>
            </a:r>
          </a:p>
          <a:p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3CFDFD16-961D-DE4F-6C90-04E727C71530}"/>
              </a:ext>
            </a:extLst>
          </p:cNvPr>
          <p:cNvSpPr txBox="1"/>
          <p:nvPr/>
        </p:nvSpPr>
        <p:spPr>
          <a:xfrm>
            <a:off x="9535005" y="4762500"/>
            <a:ext cx="459420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400" b="1" dirty="0">
                <a:solidFill>
                  <a:schemeClr val="bg1"/>
                </a:solidFill>
              </a:rPr>
              <a:t>Temporal Mobility: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Analysed</a:t>
            </a:r>
            <a:r>
              <a:rPr lang="en-US" sz="1400" dirty="0">
                <a:solidFill>
                  <a:schemeClr val="bg1"/>
                </a:solidFill>
              </a:rPr>
              <a:t> trip demand and stop arrivals across different time periods to understand mobility patterns and peak activity. </a:t>
            </a:r>
          </a:p>
          <a:p>
            <a:pPr lvl="0"/>
            <a:r>
              <a:rPr lang="en-US" sz="1400" b="1" dirty="0">
                <a:solidFill>
                  <a:schemeClr val="bg1"/>
                </a:solidFill>
              </a:rPr>
              <a:t>Reliability &amp; Safety:</a:t>
            </a:r>
            <a:r>
              <a:rPr lang="en-US" sz="1400" dirty="0">
                <a:solidFill>
                  <a:schemeClr val="bg1"/>
                </a:solidFill>
              </a:rPr>
              <a:t> Combined traffic, ride, weather and safety indicators with accident distribution to provide an overall view of mobility reliability.</a:t>
            </a:r>
          </a:p>
          <a:p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 dirty="0">
                <a:solidFill>
                  <a:schemeClr val="bg1"/>
                </a:solidFill>
                <a:latin typeface="Calibri"/>
              </a:rPr>
              <a:t>Milestone 3 </a:t>
            </a:r>
            <a:r>
              <a:rPr lang="en-IN" sz="3000" b="1" i="0" dirty="0">
                <a:solidFill>
                  <a:schemeClr val="bg1"/>
                </a:solidFill>
                <a:latin typeface="Calibri"/>
              </a:rPr>
              <a:t>-</a:t>
            </a:r>
            <a:r>
              <a:rPr sz="3000" b="1" i="0" dirty="0">
                <a:solidFill>
                  <a:schemeClr val="bg1"/>
                </a:solidFill>
                <a:latin typeface="Calibri"/>
              </a:rPr>
              <a:t> </a:t>
            </a:r>
            <a:r>
              <a:rPr lang="en-US" sz="3200" dirty="0">
                <a:solidFill>
                  <a:schemeClr val="bg1"/>
                </a:solidFill>
              </a:rPr>
              <a:t>Ride-Hailing &amp; Demand Intelligence</a:t>
            </a:r>
            <a:endParaRPr sz="3000" b="1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</a:rPr>
              <a:t>Trip demand patterns • Fare analysis • Temporal mobility </a:t>
            </a:r>
            <a:r>
              <a:rPr lang="en-US" sz="1100" b="1" dirty="0" err="1">
                <a:solidFill>
                  <a:schemeClr val="bg1"/>
                </a:solidFill>
              </a:rPr>
              <a:t>behaviour</a:t>
            </a:r>
            <a:r>
              <a:rPr lang="en-US" sz="1100" b="1" dirty="0">
                <a:solidFill>
                  <a:schemeClr val="bg1"/>
                </a:solidFill>
              </a:rPr>
              <a:t> • Demand intelligence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2573000" y="137160"/>
            <a:ext cx="1828800" cy="658368"/>
          </a:xfrm>
          <a:prstGeom prst="rect">
            <a:avLst/>
          </a:prstGeom>
          <a:solidFill>
            <a:srgbClr val="002D72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573000" y="155448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Infosys</a:t>
            </a:r>
          </a:p>
          <a:p>
            <a:pPr algn="ctr"/>
            <a:r>
              <a:rPr sz="1000" b="0" i="0">
                <a:solidFill>
                  <a:srgbClr val="0077CC"/>
                </a:solidFill>
                <a:latin typeface="Calibri"/>
              </a:rPr>
              <a:t>Springboard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716000" y="8028431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08096"/>
                </a:solidFill>
                <a:latin typeface="Calibri"/>
              </a:rPr>
              <a:t>8/16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234440"/>
            <a:ext cx="64008" cy="54864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1755648"/>
            <a:ext cx="73152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2231136"/>
            <a:ext cx="73152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2706624"/>
            <a:ext cx="73152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0080" y="3182112"/>
            <a:ext cx="73152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" y="3657600"/>
            <a:ext cx="73152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0080" y="4133088"/>
            <a:ext cx="73152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818888" y="1298448"/>
            <a:ext cx="9418320" cy="5486400"/>
          </a:xfrm>
          <a:prstGeom prst="rect">
            <a:avLst/>
          </a:prstGeom>
          <a:solidFill>
            <a:srgbClr val="B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754880" y="1234440"/>
            <a:ext cx="9418320" cy="5486400"/>
          </a:xfrm>
          <a:prstGeom prst="rect">
            <a:avLst/>
          </a:prstGeom>
          <a:solidFill>
            <a:srgbClr val="0D132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754880" y="1234440"/>
            <a:ext cx="9418320" cy="384048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919472" y="12984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LIVE RESULT TRACKER  ·  Party Seat Tally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710160" y="6428232"/>
            <a:ext cx="1371600" cy="23774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2710160" y="642823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DEMO SCREENSHOT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64608" y="1709928"/>
            <a:ext cx="2176272" cy="685800"/>
          </a:xfrm>
          <a:prstGeom prst="rect">
            <a:avLst/>
          </a:prstGeom>
          <a:solidFill>
            <a:srgbClr val="121E38"/>
          </a:solidFill>
          <a:ln w="508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864608" y="1764792"/>
            <a:ext cx="2176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77CC"/>
                </a:solidFill>
                <a:latin typeface="Calibri"/>
              </a:rPr>
              <a:t>543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64608" y="2112264"/>
            <a:ext cx="21762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08096"/>
                </a:solidFill>
                <a:latin typeface="Calibri"/>
              </a:rPr>
              <a:t>Total Seats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50608" y="1709928"/>
            <a:ext cx="2176272" cy="685800"/>
          </a:xfrm>
          <a:prstGeom prst="rect">
            <a:avLst/>
          </a:prstGeom>
          <a:solidFill>
            <a:srgbClr val="121E38"/>
          </a:solidFill>
          <a:ln w="508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150608" y="1764792"/>
            <a:ext cx="2176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0392B"/>
                </a:solidFill>
                <a:latin typeface="Calibri"/>
              </a:rPr>
              <a:t>272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50608" y="2112264"/>
            <a:ext cx="21762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08096"/>
                </a:solidFill>
                <a:latin typeface="Calibri"/>
              </a:rPr>
              <a:t>Majority Mark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436608" y="1709928"/>
            <a:ext cx="2176272" cy="685800"/>
          </a:xfrm>
          <a:prstGeom prst="rect">
            <a:avLst/>
          </a:prstGeom>
          <a:solidFill>
            <a:srgbClr val="121E38"/>
          </a:solidFill>
          <a:ln w="508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436608" y="1764792"/>
            <a:ext cx="2176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7AE60"/>
                </a:solidFill>
                <a:latin typeface="Calibri"/>
              </a:rPr>
              <a:t>INC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36608" y="2112264"/>
            <a:ext cx="21762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08096"/>
                </a:solidFill>
                <a:latin typeface="Calibri"/>
              </a:rPr>
              <a:t>Simulated Lead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722608" y="1709928"/>
            <a:ext cx="2176272" cy="685800"/>
          </a:xfrm>
          <a:prstGeom prst="rect">
            <a:avLst/>
          </a:prstGeom>
          <a:solidFill>
            <a:srgbClr val="121E38"/>
          </a:solidFill>
          <a:ln w="508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1722608" y="1764792"/>
            <a:ext cx="2176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76BBF"/>
                </a:solidFill>
                <a:latin typeface="Calibri"/>
              </a:rPr>
              <a:t>BJP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722608" y="2112264"/>
            <a:ext cx="21762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08096"/>
                </a:solidFill>
                <a:latin typeface="Calibri"/>
              </a:rPr>
              <a:t>Simulated 2nd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92040" y="2514600"/>
            <a:ext cx="9144000" cy="329184"/>
          </a:xfrm>
          <a:prstGeom prst="rect">
            <a:avLst/>
          </a:prstGeom>
          <a:solidFill>
            <a:srgbClr val="121E38"/>
          </a:solidFill>
          <a:ln w="381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892040" y="2514600"/>
            <a:ext cx="5220331" cy="32918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956048" y="257860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Indian National Congress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716000" y="2578608"/>
            <a:ext cx="347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310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892040" y="2935224"/>
            <a:ext cx="9144000" cy="329184"/>
          </a:xfrm>
          <a:prstGeom prst="rect">
            <a:avLst/>
          </a:prstGeom>
          <a:solidFill>
            <a:srgbClr val="121E38"/>
          </a:solidFill>
          <a:ln w="381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4892040" y="2935224"/>
            <a:ext cx="3367955" cy="329184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956048" y="299923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Bharatiya Janata Party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716000" y="2999232"/>
            <a:ext cx="347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200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892040" y="3355848"/>
            <a:ext cx="9144000" cy="329184"/>
          </a:xfrm>
          <a:prstGeom prst="rect">
            <a:avLst/>
          </a:prstGeom>
          <a:solidFill>
            <a:srgbClr val="121E38"/>
          </a:solidFill>
          <a:ln w="381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4892040" y="3355848"/>
            <a:ext cx="555712" cy="32918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956048" y="341985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Regional / Others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716000" y="3419856"/>
            <a:ext cx="347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33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956048" y="3904488"/>
            <a:ext cx="9418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CONSTITUENCY RESULT DETAILS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901184" y="4160520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State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64224" y="416052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Constituency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84464" y="416052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Leading Candidate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70464" y="416052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Party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673584" y="4160520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Margin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864608" y="4398264"/>
            <a:ext cx="9198864" cy="228600"/>
          </a:xfrm>
          <a:prstGeom prst="rect">
            <a:avLst/>
          </a:prstGeom>
          <a:solidFill>
            <a:srgbClr val="12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901184" y="4416552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Andhra Pradesh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64224" y="441655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Ongole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84464" y="441655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Maganti 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70464" y="4416552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TDP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673584" y="4416552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12,450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864608" y="4645152"/>
            <a:ext cx="9198864" cy="228600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901184" y="4663440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Bihar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364224" y="466344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Patna Sahib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84464" y="466344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R S Prasad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570464" y="46634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BJP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2673584" y="4663440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95,210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864608" y="4892040"/>
            <a:ext cx="9198864" cy="228600"/>
          </a:xfrm>
          <a:prstGeom prst="rect">
            <a:avLst/>
          </a:prstGeom>
          <a:solidFill>
            <a:srgbClr val="12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901184" y="491032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Delhi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364224" y="49103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New Delhi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284464" y="491032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Meenakshi 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570464" y="4910328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BJP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2673584" y="4910328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78,300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864608" y="5138928"/>
            <a:ext cx="9198864" cy="228600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4901184" y="5157216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Gujarat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364224" y="515721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Gandhinagar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284464" y="515721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Amit Shah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570464" y="515721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BJP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2673584" y="5157216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557,014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864608" y="5385816"/>
            <a:ext cx="9198864" cy="228600"/>
          </a:xfrm>
          <a:prstGeom prst="rect">
            <a:avLst/>
          </a:prstGeom>
          <a:solidFill>
            <a:srgbClr val="12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4901184" y="5404104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MP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364224" y="540410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Indore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284464" y="540410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K Vijayvargiya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570464" y="5404104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BJP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2673584" y="5404104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1,043,000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11480" y="6903720"/>
            <a:ext cx="13807440" cy="502920"/>
          </a:xfrm>
          <a:prstGeom prst="rect">
            <a:avLst/>
          </a:prstGeom>
          <a:solidFill>
            <a:srgbClr val="E8F2FA"/>
          </a:solidFill>
          <a:ln w="1270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594360" y="6967728"/>
            <a:ext cx="134416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This module converts trip-level mobility records into demand intelligence by combining route activity, stop activity, temporal patterns and fare information to understand where, when and how mobility demand is concentrated.</a:t>
            </a:r>
            <a:endParaRPr sz="1100" b="0" i="0" dirty="0">
              <a:solidFill>
                <a:srgbClr val="0A1A44"/>
              </a:solidFill>
              <a:latin typeface="Calibri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29B50F18-B1DC-7A88-A137-3F6A48EEC11A}"/>
              </a:ext>
            </a:extLst>
          </p:cNvPr>
          <p:cNvSpPr/>
          <p:nvPr/>
        </p:nvSpPr>
        <p:spPr>
          <a:xfrm>
            <a:off x="521208" y="1234440"/>
            <a:ext cx="4160520" cy="548640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3789D589-F812-0DB8-96FE-7C2E5D918043}"/>
              </a:ext>
            </a:extLst>
          </p:cNvPr>
          <p:cNvSpPr txBox="1"/>
          <p:nvPr/>
        </p:nvSpPr>
        <p:spPr>
          <a:xfrm>
            <a:off x="594360" y="1298447"/>
            <a:ext cx="348386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US" sz="1400" b="1" dirty="0"/>
              <a:t>Ride/trip demand analysis</a:t>
            </a:r>
            <a:r>
              <a:rPr lang="en-US" sz="1400" dirty="0"/>
              <a:t> developed using trip-level mobility records. </a:t>
            </a:r>
          </a:p>
          <a:p>
            <a:pPr lvl="0" algn="just"/>
            <a:endParaRPr lang="en-US" sz="1400" dirty="0"/>
          </a:p>
          <a:p>
            <a:pPr lvl="0" algn="just"/>
            <a:r>
              <a:rPr lang="en-US" sz="1400" b="1" dirty="0"/>
              <a:t>Monthly demand patterns</a:t>
            </a:r>
            <a:r>
              <a:rPr lang="en-US" sz="1400" dirty="0"/>
              <a:t> </a:t>
            </a:r>
            <a:r>
              <a:rPr lang="en-US" sz="1400" dirty="0" err="1"/>
              <a:t>analysed</a:t>
            </a:r>
            <a:r>
              <a:rPr lang="en-US" sz="1400" dirty="0"/>
              <a:t> to understand changes in trip activity across the year. </a:t>
            </a:r>
          </a:p>
          <a:p>
            <a:pPr lvl="0" algn="just"/>
            <a:endParaRPr lang="en-US" sz="1400" dirty="0"/>
          </a:p>
          <a:p>
            <a:pPr lvl="0" algn="just"/>
            <a:r>
              <a:rPr lang="en-US" sz="1400" b="1" dirty="0"/>
              <a:t>Hourly arrival analysis</a:t>
            </a:r>
            <a:r>
              <a:rPr lang="en-US" sz="1400" dirty="0"/>
              <a:t> implemented to identify periods of higher and lower mobility activity. </a:t>
            </a:r>
          </a:p>
          <a:p>
            <a:pPr lvl="0" algn="just"/>
            <a:endParaRPr lang="en-US" sz="1400" dirty="0"/>
          </a:p>
          <a:p>
            <a:pPr lvl="0" algn="just"/>
            <a:r>
              <a:rPr lang="en-US" sz="1400" b="1" dirty="0"/>
              <a:t>Route-level demand comparison</a:t>
            </a:r>
            <a:r>
              <a:rPr lang="en-US" sz="1400" dirty="0"/>
              <a:t> performed using trip counts to identify frequently used routes. </a:t>
            </a:r>
          </a:p>
          <a:p>
            <a:pPr lvl="0" algn="just"/>
            <a:endParaRPr lang="en-US" sz="1400" dirty="0"/>
          </a:p>
          <a:p>
            <a:pPr lvl="0" algn="just"/>
            <a:r>
              <a:rPr lang="en-US" sz="1400" b="1" dirty="0"/>
              <a:t>Stop-level demand analysis</a:t>
            </a:r>
            <a:r>
              <a:rPr lang="en-US" sz="1400" dirty="0"/>
              <a:t> used to identify high-activity mobility locations. </a:t>
            </a:r>
          </a:p>
          <a:p>
            <a:pPr lvl="0" algn="just"/>
            <a:endParaRPr lang="en-US" sz="1400" dirty="0"/>
          </a:p>
          <a:p>
            <a:pPr lvl="0" algn="just"/>
            <a:r>
              <a:rPr lang="en-US" sz="1400" b="1" dirty="0"/>
              <a:t>Fare analysis</a:t>
            </a:r>
            <a:r>
              <a:rPr lang="en-US" sz="1400" dirty="0"/>
              <a:t> incorporated to examine average fare alongside trip and route information.</a:t>
            </a:r>
          </a:p>
          <a:p>
            <a:pPr algn="just"/>
            <a:endParaRPr lang="en-US" sz="1400" dirty="0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D92462FB-BCDB-5E0F-791D-8BB1F7943EB2}"/>
              </a:ext>
            </a:extLst>
          </p:cNvPr>
          <p:cNvSpPr/>
          <p:nvPr/>
        </p:nvSpPr>
        <p:spPr>
          <a:xfrm>
            <a:off x="4768846" y="1261872"/>
            <a:ext cx="9418320" cy="5486400"/>
          </a:xfrm>
          <a:prstGeom prst="rect">
            <a:avLst/>
          </a:prstGeom>
          <a:solidFill>
            <a:srgbClr val="0D132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5" name="Picture 104">
            <a:extLst>
              <a:ext uri="{FF2B5EF4-FFF2-40B4-BE49-F238E27FC236}">
                <a16:creationId xmlns:a16="http://schemas.microsoft.com/office/drawing/2014/main" id="{F28DC997-63AC-A2EE-0CD8-9C6DFF044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0232" y="1481328"/>
            <a:ext cx="4326376" cy="2199661"/>
          </a:xfrm>
          <a:prstGeom prst="rect">
            <a:avLst/>
          </a:prstGeom>
        </p:spPr>
      </p:pic>
      <p:sp>
        <p:nvSpPr>
          <p:cNvPr id="106" name="TextBox 105">
            <a:extLst>
              <a:ext uri="{FF2B5EF4-FFF2-40B4-BE49-F238E27FC236}">
                <a16:creationId xmlns:a16="http://schemas.microsoft.com/office/drawing/2014/main" id="{2B7BD0F0-EB28-B575-E4FD-07E84CD7DC09}"/>
              </a:ext>
            </a:extLst>
          </p:cNvPr>
          <p:cNvSpPr txBox="1"/>
          <p:nvPr/>
        </p:nvSpPr>
        <p:spPr>
          <a:xfrm>
            <a:off x="5010912" y="4044981"/>
            <a:ext cx="8698016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Demand Concentration</a:t>
            </a:r>
            <a:endParaRPr lang="en-US" sz="1400" dirty="0">
              <a:solidFill>
                <a:schemeClr val="bg1"/>
              </a:solidFill>
            </a:endParaRPr>
          </a:p>
          <a:p>
            <a:pPr lvl="0"/>
            <a:r>
              <a:rPr lang="en-US" sz="1400" dirty="0">
                <a:solidFill>
                  <a:schemeClr val="bg1"/>
                </a:solidFill>
              </a:rPr>
              <a:t>Booking activity is concentrated across a limited number of high-demand wards and routes. </a:t>
            </a:r>
          </a:p>
          <a:p>
            <a:r>
              <a:rPr lang="en-US" sz="1400" b="1" dirty="0">
                <a:solidFill>
                  <a:schemeClr val="bg1"/>
                </a:solidFill>
              </a:rPr>
              <a:t>Temporal Patterns</a:t>
            </a:r>
            <a:endParaRPr lang="en-US" sz="1400" dirty="0">
              <a:solidFill>
                <a:schemeClr val="bg1"/>
              </a:solidFill>
            </a:endParaRPr>
          </a:p>
          <a:p>
            <a:pPr lvl="0"/>
            <a:r>
              <a:rPr lang="en-US" sz="1400" dirty="0">
                <a:solidFill>
                  <a:schemeClr val="bg1"/>
                </a:solidFill>
              </a:rPr>
              <a:t>Monthly and hourly analysis helps identify periods of higher and lower trip activity. </a:t>
            </a:r>
          </a:p>
          <a:p>
            <a:r>
              <a:rPr lang="en-US" sz="1400" b="1" dirty="0">
                <a:solidFill>
                  <a:schemeClr val="bg1"/>
                </a:solidFill>
              </a:rPr>
              <a:t>Route &amp; Stop Activity</a:t>
            </a:r>
            <a:endParaRPr lang="en-US" sz="1400" dirty="0">
              <a:solidFill>
                <a:schemeClr val="bg1"/>
              </a:solidFill>
            </a:endParaRPr>
          </a:p>
          <a:p>
            <a:pPr lvl="0"/>
            <a:r>
              <a:rPr lang="en-US" sz="1400" dirty="0">
                <a:solidFill>
                  <a:schemeClr val="bg1"/>
                </a:solidFill>
              </a:rPr>
              <a:t>Frequently used routes and high-activity stops provide a clear view of mobility demand. </a:t>
            </a:r>
          </a:p>
          <a:p>
            <a:r>
              <a:rPr lang="en-US" sz="1400" b="1" dirty="0">
                <a:solidFill>
                  <a:schemeClr val="bg1"/>
                </a:solidFill>
              </a:rPr>
              <a:t>Fare &amp; Demand Relationship</a:t>
            </a:r>
            <a:endParaRPr lang="en-US" sz="1400" dirty="0">
              <a:solidFill>
                <a:schemeClr val="bg1"/>
              </a:solidFill>
            </a:endParaRPr>
          </a:p>
          <a:p>
            <a:pPr lvl="0"/>
            <a:r>
              <a:rPr lang="en-US" sz="1400" dirty="0">
                <a:solidFill>
                  <a:schemeClr val="bg1"/>
                </a:solidFill>
              </a:rPr>
              <a:t>Average fare can be compared with trip volume to understand fare patterns across routes and locations. </a:t>
            </a:r>
          </a:p>
          <a:p>
            <a:r>
              <a:rPr lang="en-US" sz="1400" b="1" dirty="0">
                <a:solidFill>
                  <a:schemeClr val="bg1"/>
                </a:solidFill>
              </a:rPr>
              <a:t>Dashboard Value</a:t>
            </a:r>
            <a:endParaRPr lang="en-US" sz="1400" dirty="0">
              <a:solidFill>
                <a:schemeClr val="bg1"/>
              </a:solidFill>
            </a:endParaRPr>
          </a:p>
          <a:p>
            <a:pPr lvl="0"/>
            <a:r>
              <a:rPr lang="en-US" sz="1400" dirty="0">
                <a:solidFill>
                  <a:schemeClr val="bg1"/>
                </a:solidFill>
              </a:rPr>
              <a:t>Interactive filters allow demand patterns to be explored by time, route and location.</a:t>
            </a:r>
          </a:p>
          <a:p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A18C8F7-D364-9AED-5007-21B4668F5F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3215" y="1441362"/>
            <a:ext cx="4033651" cy="228805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 dirty="0">
                <a:solidFill>
                  <a:schemeClr val="bg1"/>
                </a:solidFill>
                <a:latin typeface="Calibri"/>
              </a:rPr>
              <a:t>Milestone 4 </a:t>
            </a:r>
            <a:r>
              <a:rPr lang="en-IN" sz="3000" b="1" i="0" dirty="0">
                <a:solidFill>
                  <a:schemeClr val="bg1"/>
                </a:solidFill>
                <a:latin typeface="Calibri"/>
              </a:rPr>
              <a:t>-</a:t>
            </a:r>
            <a:r>
              <a:rPr sz="3000" b="1" i="0" dirty="0">
                <a:solidFill>
                  <a:schemeClr val="bg1"/>
                </a:solidFill>
                <a:latin typeface="Calibri"/>
              </a:rPr>
              <a:t> </a:t>
            </a:r>
            <a:r>
              <a:rPr lang="en-US" sz="3200" dirty="0">
                <a:solidFill>
                  <a:schemeClr val="bg1"/>
                </a:solidFill>
              </a:rPr>
              <a:t>Equity, Forecasting &amp; Finalization</a:t>
            </a:r>
            <a:endParaRPr sz="3000" b="1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Mobility accessibility • Demand forecasting • Final dashboard integration &amp; insights</a:t>
            </a:r>
            <a:endParaRPr sz="1100" b="0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2573000" y="137160"/>
            <a:ext cx="1828800" cy="658368"/>
          </a:xfrm>
          <a:prstGeom prst="rect">
            <a:avLst/>
          </a:prstGeom>
          <a:solidFill>
            <a:srgbClr val="002D72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573000" y="155448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Infosys</a:t>
            </a:r>
          </a:p>
          <a:p>
            <a:pPr algn="ctr"/>
            <a:r>
              <a:rPr sz="1000" b="0" i="0">
                <a:solidFill>
                  <a:srgbClr val="0077CC"/>
                </a:solidFill>
                <a:latin typeface="Calibri"/>
              </a:rPr>
              <a:t>Springboard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716000" y="8028431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08096"/>
                </a:solidFill>
                <a:latin typeface="Calibri"/>
              </a:rPr>
              <a:t>9/16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234440"/>
            <a:ext cx="4160520" cy="548640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234440"/>
            <a:ext cx="64008" cy="5486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1307592"/>
            <a:ext cx="3959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  <a:latin typeface="Calibri"/>
              </a:rPr>
              <a:t>✅  Delivered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1755648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" y="1645920"/>
            <a:ext cx="3675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2230"/>
                </a:solidFill>
                <a:latin typeface="Calibri"/>
              </a:rPr>
              <a:t>Gender winners: Male 94.4%  ·  Female 5.6%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249424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2743200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0080" y="3236976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" y="3730752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4572000"/>
            <a:ext cx="64008" cy="21488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40080" y="5093208"/>
            <a:ext cx="73152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0080" y="5596128"/>
            <a:ext cx="73152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818888" y="1298448"/>
            <a:ext cx="9418320" cy="5486400"/>
          </a:xfrm>
          <a:prstGeom prst="rect">
            <a:avLst/>
          </a:prstGeom>
          <a:solidFill>
            <a:srgbClr val="B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754880" y="1234440"/>
            <a:ext cx="9418320" cy="5486400"/>
          </a:xfrm>
          <a:prstGeom prst="rect">
            <a:avLst/>
          </a:prstGeom>
          <a:solidFill>
            <a:srgbClr val="0D132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754880" y="1234440"/>
            <a:ext cx="9418320" cy="384048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919472" y="12984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VOTER TURNOUT &amp; DEMOGRAPHICS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710160" y="6428232"/>
            <a:ext cx="1371600" cy="23774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2710160" y="642823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DEMO SCREENSHOT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155680" y="1709928"/>
            <a:ext cx="2880360" cy="1691640"/>
          </a:xfrm>
          <a:prstGeom prst="rect">
            <a:avLst/>
          </a:prstGeom>
          <a:solidFill>
            <a:srgbClr val="121E38"/>
          </a:solidFill>
          <a:ln w="635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1155680" y="1874520"/>
            <a:ext cx="2880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77CC"/>
                </a:solidFill>
                <a:latin typeface="Calibri"/>
              </a:rPr>
              <a:t>30.03%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2560320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08096"/>
                </a:solidFill>
                <a:latin typeface="Calibri"/>
              </a:rPr>
              <a:t>Average Voter Turnout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0" y="2862072"/>
            <a:ext cx="2880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27AE60"/>
                </a:solidFill>
                <a:latin typeface="Calibri"/>
              </a:rPr>
              <a:t>Highest: Tripura  59.6%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83480" y="178308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GENDER DISTRIBUTION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0" y="2093976"/>
            <a:ext cx="2423160" cy="201168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7316663" y="2093976"/>
            <a:ext cx="135696" cy="201168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29200" y="235000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76BBF"/>
                </a:solidFill>
                <a:latin typeface="Calibri"/>
              </a:rPr>
              <a:t>Male 94.4%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235000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76BBF"/>
                </a:solidFill>
                <a:latin typeface="Calibri"/>
              </a:rPr>
              <a:t>25,885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0" y="262432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9B4"/>
                </a:solidFill>
                <a:latin typeface="Calibri"/>
              </a:rPr>
              <a:t>Female 5.6%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26243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9B4"/>
                </a:solidFill>
                <a:latin typeface="Calibri"/>
              </a:rPr>
              <a:t> 1,530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18120" y="1709928"/>
            <a:ext cx="3337560" cy="1691640"/>
          </a:xfrm>
          <a:prstGeom prst="rect">
            <a:avLst/>
          </a:prstGeom>
          <a:solidFill>
            <a:srgbClr val="121E38"/>
          </a:solidFill>
          <a:ln w="635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909560" y="178308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CONSTITUENCY CATEGORY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09560" y="2057400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8EA"/>
                </a:solidFill>
                <a:latin typeface="Calibri"/>
              </a:rPr>
              <a:t>General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823960" y="2112264"/>
            <a:ext cx="1691640" cy="109728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8823960" y="2112264"/>
            <a:ext cx="1252733" cy="10972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561320" y="205740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8096"/>
                </a:solidFill>
                <a:latin typeface="Calibri"/>
              </a:rPr>
              <a:t>20,302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09560" y="245973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8EA"/>
                </a:solidFill>
                <a:latin typeface="Calibri"/>
              </a:rPr>
              <a:t>ST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823960" y="2514600"/>
            <a:ext cx="1691640" cy="109728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823960" y="2514600"/>
            <a:ext cx="260888" cy="1097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561320" y="2459736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8096"/>
                </a:solidFill>
                <a:latin typeface="Calibri"/>
              </a:rPr>
              <a:t>4,228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823960" y="2916936"/>
            <a:ext cx="1691640" cy="109728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8823960" y="2916936"/>
            <a:ext cx="170984" cy="10972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0561320" y="2862072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8096"/>
                </a:solidFill>
                <a:latin typeface="Calibri"/>
              </a:rPr>
              <a:t>2,771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956048" y="3630168"/>
            <a:ext cx="9418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AVG TURNOUT % BY STATE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091836" y="4767337"/>
            <a:ext cx="543153" cy="1496303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956048" y="6318504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08096"/>
                </a:solidFill>
                <a:latin typeface="Calibri"/>
              </a:rPr>
              <a:t>Tripura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997092" y="4784911"/>
            <a:ext cx="543153" cy="1478729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861304" y="6318504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08096"/>
                </a:solidFill>
                <a:latin typeface="Calibri"/>
              </a:rPr>
              <a:t>Delhi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902348" y="4882823"/>
            <a:ext cx="543153" cy="1380817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766560" y="6318504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08096"/>
                </a:solidFill>
                <a:latin typeface="Calibri"/>
              </a:rPr>
              <a:t>Goa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807604" y="4940567"/>
            <a:ext cx="543153" cy="1323073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671816" y="6318504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08096"/>
                </a:solidFill>
                <a:latin typeface="Calibri"/>
              </a:rPr>
              <a:t>MP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712860" y="5083669"/>
            <a:ext cx="543153" cy="1179971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8577072" y="6318504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08096"/>
                </a:solidFill>
                <a:latin typeface="Calibri"/>
              </a:rPr>
              <a:t>Maha.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618116" y="5226772"/>
            <a:ext cx="543153" cy="1036868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9482328" y="6318504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08096"/>
                </a:solidFill>
                <a:latin typeface="Calibri"/>
              </a:rPr>
              <a:t>Bihar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523372" y="5372386"/>
            <a:ext cx="543153" cy="891254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10387584" y="6318504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08096"/>
                </a:solidFill>
                <a:latin typeface="Calibri"/>
              </a:rPr>
              <a:t>Megh.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1428628" y="5455235"/>
            <a:ext cx="543153" cy="808405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1292840" y="6318504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08096"/>
                </a:solidFill>
                <a:latin typeface="Calibri"/>
              </a:rPr>
              <a:t>Arunachal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2333884" y="5533063"/>
            <a:ext cx="543153" cy="730577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12198096" y="6318504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08096"/>
                </a:solidFill>
                <a:latin typeface="Calibri"/>
              </a:rPr>
              <a:t>AP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3239140" y="5701271"/>
            <a:ext cx="543153" cy="562369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13103352" y="6318504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08096"/>
                </a:solidFill>
                <a:latin typeface="Calibri"/>
              </a:rPr>
              <a:t>J&amp;K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11480" y="6903720"/>
            <a:ext cx="13807440" cy="502920"/>
          </a:xfrm>
          <a:prstGeom prst="rect">
            <a:avLst/>
          </a:prstGeom>
          <a:solidFill>
            <a:srgbClr val="E8F2FA"/>
          </a:solidFill>
          <a:ln w="1270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594360" y="6967728"/>
            <a:ext cx="134416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Integrated mobility analysis brings traffic, transit, reliability and accessibility indicators together for Bengaluru.”</a:t>
            </a:r>
            <a:endParaRPr sz="1100" b="0" i="0" dirty="0">
              <a:solidFill>
                <a:srgbClr val="0A1A44"/>
              </a:solidFill>
              <a:latin typeface="Calibri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A834986B-D1AF-C2C1-A6CB-A850D0685EE1}"/>
              </a:ext>
            </a:extLst>
          </p:cNvPr>
          <p:cNvSpPr/>
          <p:nvPr/>
        </p:nvSpPr>
        <p:spPr>
          <a:xfrm>
            <a:off x="523037" y="1230630"/>
            <a:ext cx="4160520" cy="548640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11E06E3-A41C-9F86-E0F7-050030C13128}"/>
              </a:ext>
            </a:extLst>
          </p:cNvPr>
          <p:cNvSpPr txBox="1"/>
          <p:nvPr/>
        </p:nvSpPr>
        <p:spPr>
          <a:xfrm>
            <a:off x="509752" y="1234440"/>
            <a:ext cx="4041648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/>
              <a:t> </a:t>
            </a:r>
            <a:r>
              <a:rPr lang="en-US" sz="1400" b="1" dirty="0"/>
              <a:t>Mobility accessibility analysis</a:t>
            </a:r>
            <a:endParaRPr lang="en-US" sz="1400" dirty="0"/>
          </a:p>
          <a:p>
            <a:pPr lvl="0" algn="just"/>
            <a:r>
              <a:rPr lang="en-US" sz="1400" dirty="0"/>
              <a:t>Compared mobility availability across different geographic areas and wards using location-based mobility data. </a:t>
            </a:r>
          </a:p>
          <a:p>
            <a:pPr lvl="0" algn="just"/>
            <a:r>
              <a:rPr lang="en-US" sz="1400" dirty="0"/>
              <a:t>Identified areas with higher and lower access to transport services. </a:t>
            </a:r>
          </a:p>
          <a:p>
            <a:pPr lvl="0" algn="just"/>
            <a:endParaRPr lang="en-US" sz="1400" dirty="0"/>
          </a:p>
          <a:p>
            <a:pPr algn="just"/>
            <a:r>
              <a:rPr lang="en-US" sz="1400" b="1" dirty="0"/>
              <a:t>Demand &amp; usage trend analysis</a:t>
            </a:r>
          </a:p>
          <a:p>
            <a:pPr lvl="0" algn="just"/>
            <a:r>
              <a:rPr lang="en-US" sz="1400" dirty="0" err="1"/>
              <a:t>Analysed</a:t>
            </a:r>
            <a:r>
              <a:rPr lang="en-US" sz="1400" dirty="0"/>
              <a:t> trip volume and mobility demand patterns across available dates and time periods. </a:t>
            </a:r>
          </a:p>
          <a:p>
            <a:pPr lvl="0" algn="just"/>
            <a:r>
              <a:rPr lang="en-US" sz="1400" dirty="0"/>
              <a:t>Used temporal trends to understand periods of higher and lower mobility activity.</a:t>
            </a:r>
          </a:p>
          <a:p>
            <a:pPr lvl="0" algn="just"/>
            <a:r>
              <a:rPr lang="en-US" sz="1400" dirty="0"/>
              <a:t> </a:t>
            </a:r>
          </a:p>
          <a:p>
            <a:pPr algn="just"/>
            <a:r>
              <a:rPr lang="en-US" sz="1400" b="1" dirty="0"/>
              <a:t>Integrated dashboard analysis</a:t>
            </a:r>
          </a:p>
          <a:p>
            <a:pPr lvl="0" algn="just"/>
            <a:r>
              <a:rPr lang="en-US" sz="1400" dirty="0"/>
              <a:t>Combined geospatial, traffic, transit and reliability views into a unified analytical workflow. </a:t>
            </a:r>
          </a:p>
          <a:p>
            <a:pPr lvl="0" algn="just"/>
            <a:r>
              <a:rPr lang="en-US" sz="1400" dirty="0"/>
              <a:t>Added interactive filters for date, station/stop and geographic areas. </a:t>
            </a:r>
          </a:p>
          <a:p>
            <a:pPr lvl="0" algn="just"/>
            <a:endParaRPr lang="en-US" sz="1400" dirty="0"/>
          </a:p>
          <a:p>
            <a:pPr algn="just"/>
            <a:r>
              <a:rPr lang="en-US" sz="1400" b="1" dirty="0"/>
              <a:t>Decision-support insights</a:t>
            </a:r>
            <a:endParaRPr lang="en-US" sz="1400" dirty="0"/>
          </a:p>
          <a:p>
            <a:pPr lvl="0" algn="just"/>
            <a:r>
              <a:rPr lang="en-US" sz="1400" dirty="0"/>
              <a:t>Highlighted high-activity routes/stops, reliability patterns, accident distribution and mobility gaps. </a:t>
            </a:r>
          </a:p>
          <a:p>
            <a:pPr lvl="0" algn="just"/>
            <a:r>
              <a:rPr lang="en-US" sz="1400" dirty="0"/>
              <a:t>Converted raw mobility data into visual insights that can support transport planning and operational decisions. </a:t>
            </a:r>
          </a:p>
          <a:p>
            <a:pPr algn="just"/>
            <a:endParaRPr lang="en-US" sz="1400" dirty="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1CE6D0EA-6ECA-1A1B-0476-1710271A01F4}"/>
              </a:ext>
            </a:extLst>
          </p:cNvPr>
          <p:cNvSpPr/>
          <p:nvPr/>
        </p:nvSpPr>
        <p:spPr>
          <a:xfrm>
            <a:off x="4773168" y="1243584"/>
            <a:ext cx="9418320" cy="5486400"/>
          </a:xfrm>
          <a:prstGeom prst="rect">
            <a:avLst/>
          </a:prstGeom>
          <a:solidFill>
            <a:srgbClr val="0D132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39693B1-6C35-6197-644D-E1A78A4D8324}"/>
              </a:ext>
            </a:extLst>
          </p:cNvPr>
          <p:cNvSpPr txBox="1"/>
          <p:nvPr/>
        </p:nvSpPr>
        <p:spPr>
          <a:xfrm>
            <a:off x="4919472" y="5083669"/>
            <a:ext cx="7350404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 dirty="0">
                <a:solidFill>
                  <a:schemeClr val="bg1"/>
                </a:solidFill>
              </a:rPr>
              <a:t>Final Outcome</a:t>
            </a:r>
            <a:endParaRPr lang="en-US" sz="1600" dirty="0">
              <a:solidFill>
                <a:schemeClr val="bg1"/>
              </a:solidFill>
            </a:endParaRPr>
          </a:p>
          <a:p>
            <a:pPr lvl="0" algn="just"/>
            <a:r>
              <a:rPr lang="en-US" sz="1600" dirty="0">
                <a:solidFill>
                  <a:schemeClr val="bg1"/>
                </a:solidFill>
              </a:rPr>
              <a:t>Multiple mobility datasets were integrated into a unified Power BI analytical workflow. </a:t>
            </a:r>
          </a:p>
          <a:p>
            <a:pPr lvl="0" algn="just"/>
            <a:r>
              <a:rPr lang="en-US" sz="1600" dirty="0">
                <a:solidFill>
                  <a:schemeClr val="bg1"/>
                </a:solidFill>
              </a:rPr>
              <a:t>Interactive dashboards convert the raw Bengaluru mobility data into visual insights for analysis and decision-making.</a:t>
            </a:r>
          </a:p>
          <a:p>
            <a:pPr algn="just"/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BF874A5-F963-0FD7-EF72-04E12A7235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1147" y="1467766"/>
            <a:ext cx="4486901" cy="301984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D591986-E070-B280-494B-4076D9CFE7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1560" y="1903135"/>
            <a:ext cx="4334480" cy="253400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Mobility Equity &amp; Executive Intelligence</a:t>
            </a:r>
            <a:endParaRPr sz="3000" b="1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Mobility access • Performance monitoring • Forecasting &amp; anomaly insights • Executive reporting</a:t>
            </a:r>
            <a:endParaRPr sz="1100" b="0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2573000" y="137160"/>
            <a:ext cx="1828800" cy="658368"/>
          </a:xfrm>
          <a:prstGeom prst="rect">
            <a:avLst/>
          </a:prstGeom>
          <a:solidFill>
            <a:srgbClr val="002D72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573000" y="155448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Infosys</a:t>
            </a:r>
          </a:p>
          <a:p>
            <a:pPr algn="ctr"/>
            <a:r>
              <a:rPr sz="1000" b="0" i="0">
                <a:solidFill>
                  <a:srgbClr val="0077CC"/>
                </a:solidFill>
                <a:latin typeface="Calibri"/>
              </a:rPr>
              <a:t>Springboard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716000" y="8028431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08096"/>
                </a:solidFill>
                <a:latin typeface="Calibri"/>
              </a:rPr>
              <a:t>10/16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234440"/>
            <a:ext cx="4160520" cy="548640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234440"/>
            <a:ext cx="64008" cy="5486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1307592"/>
            <a:ext cx="3959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  <a:latin typeface="Calibri"/>
              </a:rPr>
              <a:t>✅  Delivered in Demo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1773936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" y="1664208"/>
            <a:ext cx="3675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State-wise party dominance mapping and heatmap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267712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2157984"/>
            <a:ext cx="3675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Top 10 winning candidates by vote count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761488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2" y="2651760"/>
            <a:ext cx="3675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Win/loss margin analysis per constituency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255264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3145536"/>
            <a:ext cx="3675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Candidate re-election performance tracker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749040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2" y="3639312"/>
            <a:ext cx="3675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Alliance-level seat tally insights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736592"/>
            <a:ext cx="2011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02920" y="4736592"/>
            <a:ext cx="64008" cy="47548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9224" y="477316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7CC"/>
                </a:solidFill>
                <a:latin typeface="Calibri"/>
              </a:rPr>
              <a:t>INC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" y="497433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8096"/>
                </a:solidFill>
                <a:latin typeface="Calibri"/>
              </a:rPr>
              <a:t>10,015 wins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06040" y="4736592"/>
            <a:ext cx="2011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606040" y="4736592"/>
            <a:ext cx="64008" cy="475488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752344" y="477316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6BBF"/>
                </a:solidFill>
                <a:latin typeface="Calibri"/>
              </a:rPr>
              <a:t>BJP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52344" y="497433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8096"/>
                </a:solidFill>
                <a:latin typeface="Calibri"/>
              </a:rPr>
              <a:t>4,990 wins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5303520"/>
            <a:ext cx="2011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02920" y="5303520"/>
            <a:ext cx="64008" cy="4754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9224" y="534009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  <a:latin typeface="Calibri"/>
              </a:rPr>
              <a:t>TDP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" y="554126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8096"/>
                </a:solidFill>
                <a:latin typeface="Calibri"/>
              </a:rPr>
              <a:t>1,450 wins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06040" y="5303520"/>
            <a:ext cx="2011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606040" y="5303520"/>
            <a:ext cx="64008" cy="47548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752344" y="534009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E44AD"/>
                </a:solidFill>
                <a:latin typeface="Calibri"/>
              </a:rPr>
              <a:t>INC(I)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52344" y="554126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8096"/>
                </a:solidFill>
                <a:latin typeface="Calibri"/>
              </a:rPr>
              <a:t>1,004 wins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18888" y="1298448"/>
            <a:ext cx="9418320" cy="5486400"/>
          </a:xfrm>
          <a:prstGeom prst="rect">
            <a:avLst/>
          </a:prstGeom>
          <a:solidFill>
            <a:srgbClr val="B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754880" y="1234440"/>
            <a:ext cx="9418320" cy="5486400"/>
          </a:xfrm>
          <a:prstGeom prst="rect">
            <a:avLst/>
          </a:prstGeom>
          <a:solidFill>
            <a:srgbClr val="0D132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754880" y="1234440"/>
            <a:ext cx="9418320" cy="384048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919472" y="12984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PARTY &amp; CANDIDATE PERFORMANCE  ·  Top Wins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710160" y="6428232"/>
            <a:ext cx="1371600" cy="23774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2710160" y="642823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DEMO SCREENSHOT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92040" y="1709928"/>
            <a:ext cx="9144000" cy="3108960"/>
          </a:xfrm>
          <a:prstGeom prst="rect">
            <a:avLst/>
          </a:prstGeom>
          <a:solidFill>
            <a:srgbClr val="121E38"/>
          </a:solidFill>
          <a:ln w="508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965192" y="1764792"/>
            <a:ext cx="9418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TOP 10 PARTIES BY ALL-TIME WINS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65192" y="2020824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Indian National Congress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903720" y="2068372"/>
            <a:ext cx="71323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903720" y="2068372"/>
            <a:ext cx="6594566" cy="18105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3473684" y="2042378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 dirty="0">
                <a:solidFill>
                  <a:srgbClr val="708096"/>
                </a:solidFill>
                <a:latin typeface="Calibri"/>
              </a:rPr>
              <a:t>10,015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65192" y="2313432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Bharatiya Janata Party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903720" y="2360980"/>
            <a:ext cx="71323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903720" y="2360980"/>
            <a:ext cx="3553697" cy="142646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503137" y="2313432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4,990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65192" y="260604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Independent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903720" y="2653588"/>
            <a:ext cx="71323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6903720" y="2653588"/>
            <a:ext cx="1056851" cy="142646"/>
          </a:xfrm>
          <a:prstGeom prst="rect">
            <a:avLst/>
          </a:prstGeom>
          <a:solidFill>
            <a:srgbClr val="70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006291" y="2606040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1,484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65192" y="289864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Telugu Desam Party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903720" y="2946196"/>
            <a:ext cx="71323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6903720" y="2946196"/>
            <a:ext cx="1032637" cy="14264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982077" y="2898648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1,450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965192" y="3191256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INC (I)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903720" y="3238804"/>
            <a:ext cx="71323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6903720" y="3238804"/>
            <a:ext cx="715012" cy="14264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664452" y="3191256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1,004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965192" y="3483864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Janata Party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903720" y="3531412"/>
            <a:ext cx="71323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6903720" y="3531412"/>
            <a:ext cx="556912" cy="14264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506352" y="3483864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782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965192" y="3776472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RJD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903720" y="3824020"/>
            <a:ext cx="71323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6903720" y="3824020"/>
            <a:ext cx="404509" cy="14264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7353949" y="3776472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568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965192" y="406908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CPI(M)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903720" y="4116628"/>
            <a:ext cx="71323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6903720" y="4116628"/>
            <a:ext cx="379583" cy="142646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7329023" y="4069080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533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965192" y="436168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Janata Dal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903720" y="4409236"/>
            <a:ext cx="71323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6903720" y="4409236"/>
            <a:ext cx="376734" cy="14264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326174" y="4361688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529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965192" y="4654296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Shiv Sena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903720" y="4701844"/>
            <a:ext cx="71323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6903720" y="4701844"/>
            <a:ext cx="335429" cy="14264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7284869" y="4654296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471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892040" y="4946903"/>
            <a:ext cx="9144000" cy="1664209"/>
          </a:xfrm>
          <a:prstGeom prst="rect">
            <a:avLst/>
          </a:prstGeom>
          <a:solidFill>
            <a:srgbClr val="121E38"/>
          </a:solidFill>
          <a:ln w="508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4965192" y="5001768"/>
            <a:ext cx="9418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TOP CANDIDATES BY VOTES RECEIVED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937760" y="5257800"/>
            <a:ext cx="9144000" cy="228600"/>
          </a:xfrm>
          <a:prstGeom prst="rect">
            <a:avLst/>
          </a:prstGeom>
          <a:solidFill>
            <a:srgbClr val="12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4983480" y="52760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Kailash Vijayvargiya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275320" y="527608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8096"/>
                </a:solidFill>
                <a:latin typeface="Calibri"/>
              </a:rPr>
              <a:t>BJP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38360" y="527608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7CC"/>
                </a:solidFill>
                <a:latin typeface="Calibri"/>
              </a:rPr>
              <a:t>1,734,313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937760" y="5504688"/>
            <a:ext cx="9144000" cy="228600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4983480" y="552297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Yogender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275320" y="552297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8096"/>
                </a:solidFill>
                <a:latin typeface="Calibri"/>
              </a:rPr>
              <a:t>BJP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738360" y="552297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7CC"/>
                </a:solidFill>
                <a:latin typeface="Calibri"/>
              </a:rPr>
              <a:t>1,480,000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937760" y="5751576"/>
            <a:ext cx="9144000" cy="228600"/>
          </a:xfrm>
          <a:prstGeom prst="rect">
            <a:avLst/>
          </a:prstGeom>
          <a:solidFill>
            <a:srgbClr val="12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4983480" y="5769864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Sushma Swaraj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275320" y="576986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8096"/>
                </a:solidFill>
                <a:latin typeface="Calibri"/>
              </a:rPr>
              <a:t>BJP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738360" y="576986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7CC"/>
                </a:solidFill>
                <a:latin typeface="Calibri"/>
              </a:rPr>
              <a:t>1,120,000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937760" y="5998464"/>
            <a:ext cx="9144000" cy="228600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4983480" y="601675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Rajnath Singh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275320" y="601675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8096"/>
                </a:solidFill>
                <a:latin typeface="Calibri"/>
              </a:rPr>
              <a:t>BJP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738360" y="60167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7CC"/>
                </a:solidFill>
                <a:latin typeface="Calibri"/>
              </a:rPr>
              <a:t>932,000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11480" y="6903720"/>
            <a:ext cx="13807440" cy="502920"/>
          </a:xfrm>
          <a:prstGeom prst="rect">
            <a:avLst/>
          </a:prstGeom>
          <a:solidFill>
            <a:srgbClr val="E8F2FA"/>
          </a:solidFill>
          <a:ln w="1270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594360" y="6967728"/>
            <a:ext cx="134416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The final analytics layer converts individual mobility datasets into a unified decision-support view for identifying accessibility gaps, monitoring performance, detecting unusual patterns and supporting data-driven urban mobility planning.</a:t>
            </a:r>
            <a:endParaRPr sz="1100" b="0" i="0" dirty="0">
              <a:solidFill>
                <a:srgbClr val="0A1A44"/>
              </a:solidFill>
              <a:latin typeface="Calibri"/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D8B3373D-4D16-2638-5B56-83ECBC213083}"/>
              </a:ext>
            </a:extLst>
          </p:cNvPr>
          <p:cNvSpPr/>
          <p:nvPr/>
        </p:nvSpPr>
        <p:spPr>
          <a:xfrm>
            <a:off x="532638" y="1252729"/>
            <a:ext cx="4160520" cy="548640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F1AD5BC7-4CFE-EDA7-AF82-BB823FC7606C}"/>
              </a:ext>
            </a:extLst>
          </p:cNvPr>
          <p:cNvSpPr txBox="1"/>
          <p:nvPr/>
        </p:nvSpPr>
        <p:spPr>
          <a:xfrm>
            <a:off x="649224" y="1307592"/>
            <a:ext cx="3984611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400" b="1" dirty="0"/>
              <a:t>City-wide mobility performance analysis</a:t>
            </a:r>
            <a:r>
              <a:rPr lang="en-US" sz="1400" dirty="0"/>
              <a:t> developed by combining traffic, transit and geospatial indicators. </a:t>
            </a:r>
          </a:p>
          <a:p>
            <a:pPr lvl="0"/>
            <a:endParaRPr lang="en-US" sz="1400" dirty="0"/>
          </a:p>
          <a:p>
            <a:pPr lvl="0"/>
            <a:r>
              <a:rPr lang="en-US" sz="1400" b="1" dirty="0"/>
              <a:t>Mobility Access analysis</a:t>
            </a:r>
            <a:r>
              <a:rPr lang="en-US" sz="1400" dirty="0"/>
              <a:t> used to compare transportation availability and accessibility across geographic areas. </a:t>
            </a:r>
          </a:p>
          <a:p>
            <a:pPr lvl="0"/>
            <a:endParaRPr lang="en-US" sz="1400" dirty="0"/>
          </a:p>
          <a:p>
            <a:pPr lvl="0"/>
            <a:r>
              <a:rPr lang="en-US" sz="1400" b="1" dirty="0"/>
              <a:t>High-demand and underserved areas</a:t>
            </a:r>
            <a:r>
              <a:rPr lang="en-US" sz="1400" dirty="0"/>
              <a:t> identified through spatial distribution of mobility activity</a:t>
            </a:r>
          </a:p>
          <a:p>
            <a:pPr lvl="0"/>
            <a:r>
              <a:rPr lang="en-US" sz="1400" dirty="0"/>
              <a:t>. </a:t>
            </a:r>
          </a:p>
          <a:p>
            <a:pPr lvl="0"/>
            <a:r>
              <a:rPr lang="en-US" sz="1400" b="1" dirty="0"/>
              <a:t>Traffic and transit performance indicators</a:t>
            </a:r>
            <a:r>
              <a:rPr lang="en-US" sz="1400" dirty="0"/>
              <a:t> consolidated to provide an overall view of mobility conditions. </a:t>
            </a:r>
          </a:p>
          <a:p>
            <a:pPr lvl="0"/>
            <a:endParaRPr lang="en-US" sz="1400" dirty="0"/>
          </a:p>
          <a:p>
            <a:pPr lvl="0"/>
            <a:r>
              <a:rPr lang="en-US" sz="1400" b="1" dirty="0"/>
              <a:t>Trend analysis</a:t>
            </a:r>
            <a:r>
              <a:rPr lang="en-US" sz="1400" dirty="0"/>
              <a:t> implemented to compare mobility patterns across available time periods. </a:t>
            </a:r>
          </a:p>
          <a:p>
            <a:pPr lvl="0"/>
            <a:endParaRPr lang="en-US" sz="1400" dirty="0"/>
          </a:p>
          <a:p>
            <a:pPr lvl="0"/>
            <a:r>
              <a:rPr lang="en-US" sz="1400" b="1" dirty="0"/>
              <a:t>Anomaly identification</a:t>
            </a:r>
            <a:r>
              <a:rPr lang="en-US" sz="1400" dirty="0"/>
              <a:t> used to highlight unusual traffic, accident or mobility activity. </a:t>
            </a:r>
          </a:p>
          <a:p>
            <a:pPr lvl="0"/>
            <a:endParaRPr lang="en-US" sz="1400" dirty="0"/>
          </a:p>
          <a:p>
            <a:pPr lvl="0"/>
            <a:r>
              <a:rPr lang="en-US" sz="1400" b="1" dirty="0"/>
              <a:t>Executive-level KPIs and visual summaries</a:t>
            </a:r>
            <a:r>
              <a:rPr lang="en-US" sz="1400" dirty="0"/>
              <a:t> designed to convert detailed dashboard analysis into actionable insights.</a:t>
            </a:r>
          </a:p>
          <a:p>
            <a:endParaRPr lang="en-US" sz="1400" dirty="0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16F9C3ED-0E11-BD9F-B80E-449389B56038}"/>
              </a:ext>
            </a:extLst>
          </p:cNvPr>
          <p:cNvSpPr/>
          <p:nvPr/>
        </p:nvSpPr>
        <p:spPr>
          <a:xfrm>
            <a:off x="4768486" y="1252729"/>
            <a:ext cx="9418320" cy="5486400"/>
          </a:xfrm>
          <a:prstGeom prst="rect">
            <a:avLst/>
          </a:prstGeom>
          <a:solidFill>
            <a:srgbClr val="0D132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6" name="Picture 115">
            <a:extLst>
              <a:ext uri="{FF2B5EF4-FFF2-40B4-BE49-F238E27FC236}">
                <a16:creationId xmlns:a16="http://schemas.microsoft.com/office/drawing/2014/main" id="{44E9FB78-22DD-C01E-9401-17A16944F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469" y="1413189"/>
            <a:ext cx="4191585" cy="2476846"/>
          </a:xfrm>
          <a:prstGeom prst="rect">
            <a:avLst/>
          </a:prstGeom>
        </p:spPr>
      </p:pic>
      <p:sp>
        <p:nvSpPr>
          <p:cNvPr id="119" name="TextBox 118">
            <a:extLst>
              <a:ext uri="{FF2B5EF4-FFF2-40B4-BE49-F238E27FC236}">
                <a16:creationId xmlns:a16="http://schemas.microsoft.com/office/drawing/2014/main" id="{D0F939EA-1989-01AC-EEFF-E3212CF01CEF}"/>
              </a:ext>
            </a:extLst>
          </p:cNvPr>
          <p:cNvSpPr txBox="1"/>
          <p:nvPr/>
        </p:nvSpPr>
        <p:spPr>
          <a:xfrm>
            <a:off x="4988557" y="5213816"/>
            <a:ext cx="47875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>
                <a:solidFill>
                  <a:schemeClr val="bg1"/>
                </a:solidFill>
              </a:rPr>
              <a:t>Combining geographic distribution, mobility activity, reliability and safety indicators provides a city-wide view of where mobility performance is strong, where congestion or disruptions occur, and which areas require attention.</a:t>
            </a:r>
          </a:p>
        </p:txBody>
      </p:sp>
      <p:pic>
        <p:nvPicPr>
          <p:cNvPr id="113" name="Picture 112">
            <a:extLst>
              <a:ext uri="{FF2B5EF4-FFF2-40B4-BE49-F238E27FC236}">
                <a16:creationId xmlns:a16="http://schemas.microsoft.com/office/drawing/2014/main" id="{1F531DB2-525A-BC60-64DE-1AEF9210D6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6837" y="3534946"/>
            <a:ext cx="4015379" cy="297267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391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Challenges &amp;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Issues encountered and how the team resolved them</a:t>
            </a:r>
          </a:p>
        </p:txBody>
      </p:sp>
      <p:sp>
        <p:nvSpPr>
          <p:cNvPr id="7" name="Rectangle 6"/>
          <p:cNvSpPr/>
          <p:nvPr/>
        </p:nvSpPr>
        <p:spPr>
          <a:xfrm>
            <a:off x="12573000" y="137160"/>
            <a:ext cx="1828800" cy="658368"/>
          </a:xfrm>
          <a:prstGeom prst="rect">
            <a:avLst/>
          </a:prstGeom>
          <a:solidFill>
            <a:srgbClr val="002D72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874336" y="155448"/>
            <a:ext cx="1527464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FFFFFF"/>
                </a:solidFill>
                <a:latin typeface="Calibri"/>
              </a:rPr>
              <a:t>Infosys</a:t>
            </a:r>
          </a:p>
          <a:p>
            <a:pPr algn="ctr"/>
            <a:r>
              <a:rPr sz="1000" b="0" i="0" dirty="0">
                <a:solidFill>
                  <a:srgbClr val="0077CC"/>
                </a:solidFill>
                <a:latin typeface="Calibri"/>
              </a:rPr>
              <a:t>Springboard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716000" y="8028431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08096"/>
                </a:solidFill>
                <a:latin typeface="Calibri"/>
              </a:rPr>
              <a:t>14/16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234440"/>
            <a:ext cx="5074920" cy="384048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1280160"/>
            <a:ext cx="4846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  <a:latin typeface="Calibri"/>
              </a:rPr>
              <a:t>CHALLENGE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0" y="1234440"/>
            <a:ext cx="8503920" cy="38404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06440" y="1280160"/>
            <a:ext cx="8229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49240" y="1234440"/>
            <a:ext cx="251460" cy="4927369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1691640"/>
            <a:ext cx="5074920" cy="1389888"/>
          </a:xfrm>
          <a:prstGeom prst="rect">
            <a:avLst/>
          </a:prstGeom>
          <a:solidFill>
            <a:srgbClr val="FFF8E8"/>
          </a:solidFill>
          <a:ln w="1016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1691640"/>
            <a:ext cx="64008" cy="138988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57784" y="1709928"/>
            <a:ext cx="47548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accent2"/>
                </a:solidFill>
              </a:rPr>
              <a:t>Multiple Data Sources</a:t>
            </a:r>
            <a:endParaRPr sz="1200" b="1" i="0" dirty="0">
              <a:solidFill>
                <a:schemeClr val="accent2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57784" y="2088117"/>
            <a:ext cx="47548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Mobility analysis required combining different datasets covering traffic, transit/mobility activity, location and geospatial information.</a:t>
            </a:r>
            <a:endParaRPr sz="1400" b="0" i="0" dirty="0">
              <a:solidFill>
                <a:srgbClr val="1A2230"/>
              </a:solidFill>
              <a:latin typeface="Calibri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669280" y="1691640"/>
            <a:ext cx="8503920" cy="1389888"/>
          </a:xfrm>
          <a:prstGeom prst="rect">
            <a:avLst/>
          </a:prstGeom>
          <a:solidFill>
            <a:srgbClr val="F0F7FF"/>
          </a:solidFill>
          <a:ln w="1016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669280" y="1691640"/>
            <a:ext cx="64008" cy="13898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779008" y="1986927"/>
            <a:ext cx="70225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Collected and consolidated the required datasets into a common Power BI workflow, then standardized the fields needed for combined analysis.</a:t>
            </a:r>
            <a:endParaRPr sz="1400" b="0" i="0" dirty="0">
              <a:solidFill>
                <a:srgbClr val="1A2230"/>
              </a:solidFill>
              <a:latin typeface="Calibri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57200" y="3172968"/>
            <a:ext cx="507492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6928" y="3246120"/>
            <a:ext cx="47548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2"/>
                </a:solidFill>
              </a:rPr>
              <a:t>Inconsistent Data Formats </a:t>
            </a:r>
          </a:p>
          <a:p>
            <a:br>
              <a:rPr lang="en-US" sz="1400" dirty="0"/>
            </a:br>
            <a:r>
              <a:rPr lang="en-US" sz="1400" dirty="0"/>
              <a:t>Source datasets had differences in column names, data types, date formats and field structure, making direct analysis difficult.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0" y="3172968"/>
            <a:ext cx="8503920" cy="138988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669280" y="3172968"/>
            <a:ext cx="64008" cy="13898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779008" y="3507730"/>
            <a:ext cx="66659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Used Power Query in Power BI to clean, transform and standardize the datasets before loading them into the data model.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654296"/>
            <a:ext cx="5074920" cy="138988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66928" y="4727448"/>
            <a:ext cx="4754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2"/>
                </a:solidFill>
              </a:rPr>
              <a:t>Linking Different Datasets</a:t>
            </a:r>
            <a:endParaRPr sz="1400" b="1" i="0" dirty="0">
              <a:solidFill>
                <a:schemeClr val="accent2"/>
              </a:solidFill>
              <a:latin typeface="Calibr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66928" y="5074920"/>
            <a:ext cx="47548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The datasets represented different aspects of mobility, so they could not be analyzed together without establishing appropriate relationships</a:t>
            </a:r>
            <a:r>
              <a:rPr sz="1400" b="0" i="0" dirty="0">
                <a:solidFill>
                  <a:srgbClr val="1A2230"/>
                </a:solidFill>
                <a:latin typeface="Calibri"/>
              </a:rPr>
              <a:t>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0" y="4654296"/>
            <a:ext cx="8503920" cy="138988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669280" y="4654295"/>
            <a:ext cx="64008" cy="1507513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806440" y="4920719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Created relationships between the relevant tables/fields in Power BI Data Model, allowing filters and visuals to work across the integrated datasets.</a:t>
            </a:r>
            <a:endParaRPr sz="1400" i="0" dirty="0">
              <a:solidFill>
                <a:srgbClr val="1A2230"/>
              </a:solidFill>
              <a:latin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Final Execution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Roadmap before final evaluation — 5 steps to completion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2573000" y="137160"/>
            <a:ext cx="1828800" cy="658368"/>
          </a:xfrm>
          <a:prstGeom prst="rect">
            <a:avLst/>
          </a:prstGeom>
          <a:solidFill>
            <a:srgbClr val="002D72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573000" y="155448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Infosys</a:t>
            </a:r>
          </a:p>
          <a:p>
            <a:pPr algn="ctr"/>
            <a:r>
              <a:rPr sz="1000" b="0" i="0">
                <a:solidFill>
                  <a:srgbClr val="0077CC"/>
                </a:solidFill>
                <a:latin typeface="Calibri"/>
              </a:rPr>
              <a:t>Springboard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716000" y="8028431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08096"/>
                </a:solidFill>
                <a:latin typeface="Calibri"/>
              </a:rPr>
              <a:t>16/16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809744"/>
            <a:ext cx="13533120" cy="73152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4645152"/>
            <a:ext cx="402336" cy="402336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464515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0976" y="4809744"/>
            <a:ext cx="2980944" cy="73152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13232" y="4281404"/>
            <a:ext cx="73152" cy="45720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1261872"/>
            <a:ext cx="2560320" cy="3090672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1261872"/>
            <a:ext cx="2560320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" y="1371600"/>
            <a:ext cx="23408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Bengaluru Dataset Preparation</a:t>
            </a:r>
            <a:endParaRPr sz="1300" b="1" i="0" dirty="0">
              <a:solidFill>
                <a:srgbClr val="0A1A44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66928" y="1956816"/>
            <a:ext cx="234086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en-US" sz="1400" dirty="0"/>
              <a:t>Bengaluru mobility datasets collected and consolidated </a:t>
            </a:r>
          </a:p>
          <a:p>
            <a:pPr lvl="0" algn="just"/>
            <a:r>
              <a:rPr lang="en-US" sz="1400" dirty="0"/>
              <a:t>Data cleaned and standardized for analysis </a:t>
            </a:r>
          </a:p>
          <a:p>
            <a:pPr lvl="0" algn="just"/>
            <a:r>
              <a:rPr lang="en-US" sz="1400" dirty="0"/>
              <a:t>Required fields prepared for Power BI dashboards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1920" y="4645152"/>
            <a:ext cx="402336" cy="402336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931920" y="464515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34256" y="4809744"/>
            <a:ext cx="2980944" cy="73152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096512" y="4974336"/>
            <a:ext cx="73152" cy="128016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840480" y="5102352"/>
            <a:ext cx="2560320" cy="2414016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840480" y="5102352"/>
            <a:ext cx="2560320" cy="54864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950208" y="5212080"/>
            <a:ext cx="23408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Geospatial Analysis</a:t>
            </a:r>
            <a:endParaRPr lang="en-US" sz="1300" b="1" dirty="0">
              <a:solidFill>
                <a:srgbClr val="0A1A44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950208" y="5797296"/>
            <a:ext cx="2340864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en-US" sz="1400" dirty="0"/>
              <a:t>Bengaluru stop locations visualized using latitude and longitude </a:t>
            </a:r>
          </a:p>
          <a:p>
            <a:pPr lvl="0" algn="just"/>
            <a:r>
              <a:rPr lang="en-US" sz="1400" dirty="0"/>
              <a:t>Top routes and high-activity stops identified </a:t>
            </a:r>
          </a:p>
          <a:p>
            <a:pPr lvl="0" algn="just"/>
            <a:r>
              <a:rPr lang="en-US" sz="1400" dirty="0"/>
              <a:t>Origin–Destination mobility patterns analyzed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0" y="4645152"/>
            <a:ext cx="402336" cy="40233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15200" y="464515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17536" y="4809744"/>
            <a:ext cx="2980944" cy="73152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479792" y="4270248"/>
            <a:ext cx="73152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223760" y="1261872"/>
            <a:ext cx="2560320" cy="3090672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223760" y="1261872"/>
            <a:ext cx="256032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333488" y="1371600"/>
            <a:ext cx="23408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Transit &amp; Reliability Analysis</a:t>
            </a:r>
            <a:endParaRPr sz="1300" b="1" i="0" dirty="0">
              <a:solidFill>
                <a:srgbClr val="0A1A44"/>
              </a:solidFill>
              <a:latin typeface="Calibri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333488" y="1956816"/>
            <a:ext cx="2340864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en-US" sz="1400" dirty="0"/>
              <a:t>Transit reliability metrics analyzed </a:t>
            </a:r>
          </a:p>
          <a:p>
            <a:pPr lvl="0" algn="just"/>
            <a:r>
              <a:rPr lang="en-US" sz="1400" dirty="0"/>
              <a:t>Ride reliability and traffic conditions visualized </a:t>
            </a:r>
          </a:p>
          <a:p>
            <a:pPr lvl="0" algn="just"/>
            <a:r>
              <a:rPr lang="en-US" sz="1400" dirty="0"/>
              <a:t>Accident distribution and station-level analysis included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698480" y="4645152"/>
            <a:ext cx="402336" cy="40233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698480" y="464515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100816" y="4809744"/>
            <a:ext cx="2980944" cy="73152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0863072" y="4974336"/>
            <a:ext cx="73152" cy="12801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10607040" y="5102352"/>
            <a:ext cx="2560320" cy="2414016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0607040" y="5102352"/>
            <a:ext cx="2560320" cy="54864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716768" y="5212080"/>
            <a:ext cx="23408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Mobility &amp; Ride-Hailing Analysis</a:t>
            </a:r>
            <a:endParaRPr sz="1300" b="1" i="0" dirty="0">
              <a:solidFill>
                <a:srgbClr val="0A1A44"/>
              </a:solidFill>
              <a:latin typeface="Calibri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0716768" y="5797296"/>
            <a:ext cx="2340864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en-US" sz="1400" dirty="0"/>
              <a:t>Ride-hailing mobility patterns analyzed </a:t>
            </a:r>
          </a:p>
          <a:p>
            <a:pPr lvl="0" algn="just"/>
            <a:r>
              <a:rPr lang="en-US" sz="1400" dirty="0"/>
              <a:t>Trip-level and temporal patterns visualized </a:t>
            </a:r>
          </a:p>
          <a:p>
            <a:pPr lvl="0" algn="just"/>
            <a:r>
              <a:rPr lang="en-US" sz="1400" dirty="0"/>
              <a:t>Mobility insights presented through interactive dashboard visuals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4081760" y="4645152"/>
            <a:ext cx="402336" cy="40233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4081760" y="464515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081581" y="4352544"/>
            <a:ext cx="73152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11987348" y="1261872"/>
            <a:ext cx="2560320" cy="3090672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11987348" y="1261872"/>
            <a:ext cx="256032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2097076" y="1371600"/>
            <a:ext cx="23408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Power BI Dashboard &amp; Integration</a:t>
            </a:r>
            <a:endParaRPr sz="1300" b="1" i="0" dirty="0">
              <a:solidFill>
                <a:srgbClr val="0A1A44"/>
              </a:solidFill>
              <a:latin typeface="Calibri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12097076" y="1956816"/>
            <a:ext cx="234086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en-US" sz="1400" dirty="0"/>
              <a:t>Interactive Bengaluru mobility dashboards developed </a:t>
            </a:r>
          </a:p>
          <a:p>
            <a:pPr lvl="0" algn="just"/>
            <a:r>
              <a:rPr lang="en-US" sz="1400" dirty="0"/>
              <a:t>Relationships between dimension and fact tables created </a:t>
            </a:r>
          </a:p>
          <a:p>
            <a:pPr lvl="0" algn="just"/>
            <a:r>
              <a:rPr lang="en-US" sz="1400" dirty="0"/>
              <a:t>Filters and interactive visuals added for analysis </a:t>
            </a:r>
          </a:p>
          <a:p>
            <a:pPr lvl="0" algn="just"/>
            <a:r>
              <a:rPr lang="en-US" sz="1400" dirty="0"/>
              <a:t>Final dashboards integrated for presentation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AE6B5-E155-0C36-20DA-5C01A9BEE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E603351-B2F9-FFB1-CEA6-1ED4656C9992}"/>
              </a:ext>
            </a:extLst>
          </p:cNvPr>
          <p:cNvSpPr/>
          <p:nvPr/>
        </p:nvSpPr>
        <p:spPr>
          <a:xfrm>
            <a:off x="0" y="0"/>
            <a:ext cx="14630400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9262DE-F018-52C6-987B-636E0831AC39}"/>
              </a:ext>
            </a:extLst>
          </p:cNvPr>
          <p:cNvSpPr txBox="1"/>
          <p:nvPr/>
        </p:nvSpPr>
        <p:spPr>
          <a:xfrm>
            <a:off x="274320" y="91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solidFill>
                  <a:schemeClr val="bg1"/>
                </a:solidFill>
              </a:rPr>
              <a:t>Da</a:t>
            </a:r>
            <a:r>
              <a:rPr lang="en-US" b="1" dirty="0">
                <a:solidFill>
                  <a:schemeClr val="bg1"/>
                </a:solidFill>
              </a:rPr>
              <a:t>shboards</a:t>
            </a:r>
            <a:endParaRPr sz="1800" b="1" i="0" dirty="0">
              <a:solidFill>
                <a:schemeClr val="bg1"/>
              </a:solidFill>
            </a:endParaRP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A7F9855D-ABF5-D40D-1649-EC46117A79E4}"/>
              </a:ext>
            </a:extLst>
          </p:cNvPr>
          <p:cNvSpPr/>
          <p:nvPr/>
        </p:nvSpPr>
        <p:spPr>
          <a:xfrm>
            <a:off x="12313227" y="93518"/>
            <a:ext cx="1911927" cy="464564"/>
          </a:xfrm>
          <a:prstGeom prst="rect">
            <a:avLst/>
          </a:prstGeom>
          <a:solidFill>
            <a:srgbClr val="002D72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5FB723E0-E9D4-D6C7-1206-B10FB48884FD}"/>
              </a:ext>
            </a:extLst>
          </p:cNvPr>
          <p:cNvSpPr txBox="1"/>
          <p:nvPr/>
        </p:nvSpPr>
        <p:spPr>
          <a:xfrm>
            <a:off x="12472397" y="101093"/>
            <a:ext cx="1596894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FFFFFF"/>
                </a:solidFill>
                <a:latin typeface="Calibri"/>
              </a:rPr>
              <a:t>Infosys</a:t>
            </a:r>
          </a:p>
          <a:p>
            <a:pPr algn="ctr"/>
            <a:r>
              <a:rPr sz="1000" b="0" i="0" dirty="0">
                <a:solidFill>
                  <a:srgbClr val="0077CC"/>
                </a:solidFill>
                <a:latin typeface="Calibri"/>
              </a:rPr>
              <a:t>Springboard</a:t>
            </a: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4F1B4FDF-8103-B459-1505-0146D341A21A}"/>
              </a:ext>
            </a:extLst>
          </p:cNvPr>
          <p:cNvSpPr/>
          <p:nvPr/>
        </p:nvSpPr>
        <p:spPr>
          <a:xfrm>
            <a:off x="0" y="769838"/>
            <a:ext cx="14630400" cy="1828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F69CAB1-4481-DF11-7254-1CEE4AC0B4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7524" y="860007"/>
            <a:ext cx="7041767" cy="394757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8FAB0C3-7DEC-A239-710D-75C346B062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433" y="4465984"/>
            <a:ext cx="6617370" cy="370227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A6D9556-53CA-CD31-0A13-9FAC235BBC25}"/>
              </a:ext>
            </a:extLst>
          </p:cNvPr>
          <p:cNvSpPr txBox="1"/>
          <p:nvPr/>
        </p:nvSpPr>
        <p:spPr>
          <a:xfrm>
            <a:off x="7962472" y="5465852"/>
            <a:ext cx="5650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Other dashboards are uploaded on </a:t>
            </a:r>
            <a:r>
              <a:rPr lang="en-US" dirty="0" err="1"/>
              <a:t>Github</a:t>
            </a:r>
            <a:r>
              <a:rPr lang="en-US" dirty="0"/>
              <a:t> repository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2E72FD-97C6-7AEA-16D2-75FB2B8DCB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60007"/>
            <a:ext cx="6800803" cy="3587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639003"/>
      </p:ext>
    </p:extLst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Team Responsibilities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Individual contributions and role assignments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12573000" y="137160"/>
            <a:ext cx="1828800" cy="658368"/>
          </a:xfrm>
          <a:prstGeom prst="rect">
            <a:avLst/>
          </a:prstGeom>
          <a:solidFill>
            <a:srgbClr val="002D72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573000" y="155448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Infosys</a:t>
            </a:r>
          </a:p>
          <a:p>
            <a:pPr algn="ctr"/>
            <a:r>
              <a:rPr sz="1000" b="0" i="0">
                <a:solidFill>
                  <a:srgbClr val="0077CC"/>
                </a:solidFill>
                <a:latin typeface="Calibri"/>
              </a:rPr>
              <a:t>Springboard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716000" y="8028431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08096"/>
                </a:solidFill>
                <a:latin typeface="Calibri"/>
              </a:rPr>
              <a:t>13/16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" y="1234440"/>
            <a:ext cx="2633472" cy="630936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353312" y="1399032"/>
            <a:ext cx="731520" cy="731520"/>
          </a:xfrm>
          <a:prstGeom prst="rect">
            <a:avLst/>
          </a:prstGeom>
          <a:solidFill>
            <a:srgbClr val="00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53312" y="1399032"/>
            <a:ext cx="7315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Calibri"/>
              </a:rPr>
              <a:t>P</a:t>
            </a:r>
            <a:endParaRPr sz="2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93776" y="2240280"/>
            <a:ext cx="2450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0A1A44"/>
                </a:solidFill>
                <a:latin typeface="Calibri"/>
              </a:rPr>
              <a:t>Piyush</a:t>
            </a:r>
            <a:endParaRPr sz="1400" b="1" i="0" dirty="0">
              <a:solidFill>
                <a:srgbClr val="0A1A44"/>
              </a:solidFill>
              <a:latin typeface="Calibr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76656" y="2587752"/>
            <a:ext cx="2084832" cy="237744"/>
          </a:xfrm>
          <a:prstGeom prst="rect">
            <a:avLst/>
          </a:prstGeom>
          <a:solidFill>
            <a:srgbClr val="00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6656" y="2587752"/>
            <a:ext cx="20848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b="1" i="0" dirty="0">
                <a:solidFill>
                  <a:srgbClr val="FFFFFF"/>
                </a:solidFill>
                <a:latin typeface="Calibri"/>
              </a:rPr>
              <a:t> Data Engineer</a:t>
            </a:r>
            <a:r>
              <a:rPr lang="en-US" sz="900" b="1" dirty="0">
                <a:solidFill>
                  <a:srgbClr val="FFFFFF"/>
                </a:solidFill>
                <a:latin typeface="Calibri"/>
              </a:rPr>
              <a:t> (</a:t>
            </a:r>
            <a:r>
              <a:rPr lang="en-US" sz="900" b="1">
                <a:solidFill>
                  <a:srgbClr val="FFFFFF"/>
                </a:solidFill>
                <a:latin typeface="Calibri"/>
              </a:rPr>
              <a:t>Team Lead)</a:t>
            </a:r>
            <a:endParaRPr sz="9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76656" y="2953512"/>
            <a:ext cx="226771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sz="1200" dirty="0"/>
              <a:t>Collected and consolidated the project datasets. 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sz="1200" dirty="0"/>
              <a:t>Merged assigned datasets and validated the data. </a:t>
            </a:r>
          </a:p>
          <a:p>
            <a:pPr lvl="0" algn="just"/>
            <a:endParaRPr lang="en-US" sz="1200" dirty="0"/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sz="1200" dirty="0"/>
              <a:t>Managed GitHub repository and project files. 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sz="1200" dirty="0"/>
              <a:t>Worked on Power BI data preparation and dashboard development. 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sz="1200" dirty="0"/>
              <a:t>Developed the geospatial dashboard</a:t>
            </a:r>
          </a:p>
          <a:p>
            <a:pPr lvl="0" algn="just"/>
            <a:endParaRPr lang="en-US" sz="1200" dirty="0"/>
          </a:p>
        </p:txBody>
      </p:sp>
      <p:sp>
        <p:nvSpPr>
          <p:cNvPr id="27" name="Rectangle 26"/>
          <p:cNvSpPr/>
          <p:nvPr/>
        </p:nvSpPr>
        <p:spPr>
          <a:xfrm>
            <a:off x="3154680" y="1234440"/>
            <a:ext cx="2633472" cy="630936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105656" y="1399032"/>
            <a:ext cx="731520" cy="73152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105656" y="1399032"/>
            <a:ext cx="7315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Calibri"/>
              </a:rPr>
              <a:t>P</a:t>
            </a:r>
            <a:endParaRPr sz="2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282696" y="2263140"/>
            <a:ext cx="2450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0A1A44"/>
                </a:solidFill>
                <a:latin typeface="Calibri"/>
              </a:rPr>
              <a:t>Parul</a:t>
            </a:r>
            <a:endParaRPr sz="1400" b="1" i="0" dirty="0">
              <a:solidFill>
                <a:srgbClr val="0A1A44"/>
              </a:solidFill>
              <a:latin typeface="Calibr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429000" y="2587752"/>
            <a:ext cx="2084832" cy="237744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29000" y="2587752"/>
            <a:ext cx="20848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b="1" dirty="0">
                <a:solidFill>
                  <a:srgbClr val="FFFFFF"/>
                </a:solidFill>
              </a:rPr>
              <a:t>Transit &amp; Ride-Hailing Analyst</a:t>
            </a:r>
            <a:endParaRPr sz="9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282696" y="3026664"/>
            <a:ext cx="73152" cy="73152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319272" y="2985135"/>
            <a:ext cx="232257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en-US" sz="1200" dirty="0"/>
              <a:t>Transit and ride-hailing analysis </a:t>
            </a:r>
          </a:p>
          <a:p>
            <a:pPr lvl="0" algn="just"/>
            <a:endParaRPr lang="en-US" sz="1200" dirty="0"/>
          </a:p>
          <a:p>
            <a:pPr lvl="0" algn="just"/>
            <a:r>
              <a:rPr lang="en-US" sz="1200" dirty="0"/>
              <a:t>Trip and route-level demand analysis </a:t>
            </a:r>
          </a:p>
          <a:p>
            <a:pPr lvl="0" algn="just"/>
            <a:endParaRPr lang="en-US" sz="1200" dirty="0"/>
          </a:p>
          <a:p>
            <a:pPr lvl="0" algn="just"/>
            <a:r>
              <a:rPr lang="en-US" sz="1200" dirty="0"/>
              <a:t>Monthly and hourly mobility pattern analysis </a:t>
            </a:r>
          </a:p>
          <a:p>
            <a:pPr lvl="0" algn="just"/>
            <a:r>
              <a:rPr lang="en-US" sz="1200" dirty="0"/>
              <a:t>Stop and route activity analysis </a:t>
            </a:r>
          </a:p>
          <a:p>
            <a:pPr lvl="0" algn="just"/>
            <a:endParaRPr lang="en-US" sz="1200" dirty="0"/>
          </a:p>
          <a:p>
            <a:pPr lvl="0" algn="just"/>
            <a:r>
              <a:rPr lang="en-US" sz="1200" dirty="0"/>
              <a:t>Fare and trip-related insights </a:t>
            </a:r>
          </a:p>
          <a:p>
            <a:pPr lvl="0" algn="just"/>
            <a:r>
              <a:rPr lang="en-US" sz="1200" dirty="0"/>
              <a:t>Supported development of mobility dashboards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07024" y="1234440"/>
            <a:ext cx="2633472" cy="630936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2" name="Rectangle 41"/>
          <p:cNvSpPr/>
          <p:nvPr/>
        </p:nvSpPr>
        <p:spPr>
          <a:xfrm>
            <a:off x="6858000" y="1399032"/>
            <a:ext cx="731520" cy="731520"/>
          </a:xfrm>
          <a:prstGeom prst="rect">
            <a:avLst/>
          </a:prstGeom>
          <a:solidFill>
            <a:srgbClr val="7A2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858000" y="1399032"/>
            <a:ext cx="7315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Calibri"/>
              </a:rPr>
              <a:t>P</a:t>
            </a:r>
            <a:endParaRPr sz="2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998464" y="2240280"/>
            <a:ext cx="2450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0A1A44"/>
                </a:solidFill>
                <a:latin typeface="Calibri"/>
              </a:rPr>
              <a:t>P</a:t>
            </a:r>
            <a:r>
              <a:rPr lang="en-US" sz="1400" b="1" i="0" dirty="0">
                <a:solidFill>
                  <a:srgbClr val="0A1A44"/>
                </a:solidFill>
                <a:latin typeface="Calibri"/>
              </a:rPr>
              <a:t>ooja</a:t>
            </a:r>
            <a:endParaRPr sz="1400" b="1" i="0" dirty="0">
              <a:solidFill>
                <a:srgbClr val="0A1A44"/>
              </a:solidFill>
              <a:latin typeface="Calibri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181344" y="2587752"/>
            <a:ext cx="2084832" cy="237744"/>
          </a:xfrm>
          <a:prstGeom prst="rect">
            <a:avLst/>
          </a:prstGeom>
          <a:solidFill>
            <a:srgbClr val="7A2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181344" y="2587752"/>
            <a:ext cx="20848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b="1" dirty="0">
                <a:solidFill>
                  <a:srgbClr val="FFFFFF"/>
                </a:solidFill>
              </a:rPr>
              <a:t>Geospatial Analyst</a:t>
            </a:r>
          </a:p>
          <a:p>
            <a:pPr algn="ctr"/>
            <a:endParaRPr lang="en-US" sz="900" dirty="0"/>
          </a:p>
        </p:txBody>
      </p:sp>
      <p:sp>
        <p:nvSpPr>
          <p:cNvPr id="47" name="Rectangle 46"/>
          <p:cNvSpPr/>
          <p:nvPr/>
        </p:nvSpPr>
        <p:spPr>
          <a:xfrm>
            <a:off x="6035040" y="3026664"/>
            <a:ext cx="73152" cy="73152"/>
          </a:xfrm>
          <a:prstGeom prst="rect">
            <a:avLst/>
          </a:prstGeom>
          <a:solidFill>
            <a:srgbClr val="7A2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27064" y="2980158"/>
            <a:ext cx="2267712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fontAlgn="base"/>
            <a:r>
              <a:rPr lang="en-IN" sz="1200" dirty="0"/>
              <a:t>Conducted origin-destination (OD) flow analysis to understand mobility patterns. </a:t>
            </a:r>
            <a:r>
              <a:rPr lang="en-US" sz="1200" dirty="0"/>
              <a:t>​</a:t>
            </a:r>
          </a:p>
          <a:p>
            <a:pPr algn="just" fontAlgn="base"/>
            <a:r>
              <a:rPr lang="en-IN" sz="1200" dirty="0"/>
              <a:t>​</a:t>
            </a:r>
          </a:p>
          <a:p>
            <a:pPr lvl="0" algn="just" fontAlgn="base"/>
            <a:r>
              <a:rPr lang="en-IN" sz="1200" dirty="0"/>
              <a:t>Created accessibility and isochrone maps to measure travel reachability.</a:t>
            </a:r>
            <a:r>
              <a:rPr lang="en-US" sz="1200" dirty="0"/>
              <a:t>​</a:t>
            </a:r>
          </a:p>
          <a:p>
            <a:pPr algn="just" fontAlgn="base"/>
            <a:r>
              <a:rPr lang="en-US" sz="1200" dirty="0"/>
              <a:t>​</a:t>
            </a:r>
          </a:p>
          <a:p>
            <a:pPr lvl="0" algn="just" fontAlgn="base"/>
            <a:r>
              <a:rPr lang="en-IN" sz="1200" dirty="0"/>
              <a:t>Developed heatmaps to visualize mobility and demand patterns. </a:t>
            </a:r>
            <a:r>
              <a:rPr lang="en-US" sz="1200" dirty="0"/>
              <a:t>​</a:t>
            </a:r>
          </a:p>
          <a:p>
            <a:pPr algn="just" fontAlgn="base"/>
            <a:r>
              <a:rPr lang="en-IN" sz="1200" dirty="0"/>
              <a:t>​</a:t>
            </a:r>
          </a:p>
          <a:p>
            <a:pPr lvl="0" algn="just" fontAlgn="base"/>
            <a:r>
              <a:rPr lang="en-IN" sz="1200" dirty="0"/>
              <a:t>Identified and visualized congestion hotspots across different geographic areas. </a:t>
            </a:r>
            <a:r>
              <a:rPr lang="en-US" sz="1200" dirty="0"/>
              <a:t>​</a:t>
            </a:r>
          </a:p>
          <a:p>
            <a:pPr algn="just" fontAlgn="base"/>
            <a:r>
              <a:rPr lang="en-IN" sz="1200" dirty="0"/>
              <a:t>​</a:t>
            </a:r>
          </a:p>
          <a:p>
            <a:pPr lvl="0" algn="just" fontAlgn="base"/>
            <a:r>
              <a:rPr lang="en-IN" sz="1200" dirty="0"/>
              <a:t>Performed geographic drill-down analysis and integrated weather overlays to understand their impact on mobility.</a:t>
            </a:r>
            <a:r>
              <a:rPr lang="en-US" sz="1200" dirty="0"/>
              <a:t>​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659368" y="1234440"/>
            <a:ext cx="2633472" cy="630936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9610344" y="1399032"/>
            <a:ext cx="731520" cy="731520"/>
          </a:xfrm>
          <a:prstGeom prst="rect">
            <a:avLst/>
          </a:prstGeom>
          <a:solidFill>
            <a:srgbClr val="B0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610344" y="1399032"/>
            <a:ext cx="7315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Calibri"/>
              </a:rPr>
              <a:t>P</a:t>
            </a:r>
            <a:endParaRPr sz="2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8750808" y="2240280"/>
            <a:ext cx="2450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0A1A44"/>
                </a:solidFill>
                <a:latin typeface="Calibri"/>
              </a:rPr>
              <a:t>Premika</a:t>
            </a:r>
            <a:endParaRPr sz="1400" b="1" i="0" dirty="0">
              <a:solidFill>
                <a:srgbClr val="0A1A44"/>
              </a:solidFill>
              <a:latin typeface="Calibri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8933688" y="2587752"/>
            <a:ext cx="2084832" cy="237744"/>
          </a:xfrm>
          <a:prstGeom prst="rect">
            <a:avLst/>
          </a:prstGeom>
          <a:solidFill>
            <a:srgbClr val="B0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933688" y="2587752"/>
            <a:ext cx="20848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b="1" dirty="0">
                <a:solidFill>
                  <a:srgbClr val="FFFFFF"/>
                </a:solidFill>
              </a:rPr>
              <a:t> BI Lead / Project Manager</a:t>
            </a:r>
            <a:endParaRPr sz="9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8787384" y="3026664"/>
            <a:ext cx="73152" cy="73152"/>
          </a:xfrm>
          <a:prstGeom prst="rect">
            <a:avLst/>
          </a:prstGeom>
          <a:solidFill>
            <a:srgbClr val="B0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933688" y="2953512"/>
            <a:ext cx="226771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en-US" sz="1200" dirty="0"/>
              <a:t>Power BI dashboard development and integration </a:t>
            </a:r>
          </a:p>
          <a:p>
            <a:pPr lvl="0" algn="just"/>
            <a:r>
              <a:rPr lang="en-US" sz="1200" dirty="0"/>
              <a:t>Data model and table relationship review </a:t>
            </a:r>
          </a:p>
          <a:p>
            <a:pPr lvl="0" algn="just"/>
            <a:endParaRPr lang="en-US" sz="1200" dirty="0"/>
          </a:p>
          <a:p>
            <a:pPr lvl="0" algn="just"/>
            <a:r>
              <a:rPr lang="en-US" sz="1200" dirty="0"/>
              <a:t>Dashboard layout and visualization design </a:t>
            </a:r>
          </a:p>
          <a:p>
            <a:pPr lvl="0" algn="just"/>
            <a:r>
              <a:rPr lang="en-US" sz="1200" dirty="0"/>
              <a:t>Interactive filters and dashboard usability </a:t>
            </a:r>
          </a:p>
          <a:p>
            <a:pPr lvl="0" algn="just"/>
            <a:endParaRPr lang="en-US" sz="1200" dirty="0"/>
          </a:p>
          <a:p>
            <a:pPr lvl="0" algn="just"/>
            <a:r>
              <a:rPr lang="en-US" sz="1200" dirty="0"/>
              <a:t>Integration of geospatial, transit, traffic and demand views </a:t>
            </a:r>
          </a:p>
          <a:p>
            <a:pPr lvl="0" algn="just"/>
            <a:r>
              <a:rPr lang="en-US" sz="1200" dirty="0"/>
              <a:t>Final presentation and project coordination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1411712" y="1234440"/>
            <a:ext cx="2633472" cy="630936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12362688" y="1399032"/>
            <a:ext cx="731520" cy="731520"/>
          </a:xfrm>
          <a:prstGeom prst="rect">
            <a:avLst/>
          </a:prstGeom>
          <a:solidFill>
            <a:srgbClr val="8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2362688" y="1399032"/>
            <a:ext cx="7315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Calibri"/>
              </a:rPr>
              <a:t>R</a:t>
            </a:r>
            <a:endParaRPr sz="2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11503152" y="2240280"/>
            <a:ext cx="2450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0A1A44"/>
                </a:solidFill>
                <a:latin typeface="Calibri"/>
              </a:rPr>
              <a:t>Ramita</a:t>
            </a:r>
            <a:endParaRPr sz="1400" b="1" i="0" dirty="0">
              <a:solidFill>
                <a:srgbClr val="0A1A44"/>
              </a:solidFill>
              <a:latin typeface="Calibri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11686032" y="2587752"/>
            <a:ext cx="2084832" cy="237744"/>
          </a:xfrm>
          <a:prstGeom prst="rect">
            <a:avLst/>
          </a:prstGeom>
          <a:solidFill>
            <a:srgbClr val="8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11686032" y="2587752"/>
            <a:ext cx="20848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900" b="1" dirty="0">
                <a:solidFill>
                  <a:srgbClr val="FFFFFF"/>
                </a:solidFill>
              </a:rPr>
              <a:t> Micromobility &amp; Equity Analyst</a:t>
            </a:r>
            <a:endParaRPr sz="9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11539728" y="3026664"/>
            <a:ext cx="73152" cy="73152"/>
          </a:xfrm>
          <a:prstGeom prst="rect">
            <a:avLst/>
          </a:prstGeom>
          <a:solidFill>
            <a:srgbClr val="8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1686032" y="2953512"/>
            <a:ext cx="2267712" cy="3339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fontAlgn="base"/>
            <a:r>
              <a:rPr lang="en-IN" sz="1200" dirty="0"/>
              <a:t>Analysed bike-share utilization and station usage patterns. </a:t>
            </a:r>
            <a:r>
              <a:rPr lang="en-US" sz="1200" dirty="0"/>
              <a:t>​</a:t>
            </a:r>
          </a:p>
          <a:p>
            <a:pPr algn="just" fontAlgn="base"/>
            <a:r>
              <a:rPr lang="en-IN" sz="1200" dirty="0"/>
              <a:t>​</a:t>
            </a:r>
          </a:p>
          <a:p>
            <a:pPr lvl="0" algn="just" fontAlgn="base"/>
            <a:r>
              <a:rPr lang="en-IN" sz="1200" dirty="0"/>
              <a:t>Monitored station availability and identified supply-demand gaps. </a:t>
            </a:r>
            <a:r>
              <a:rPr lang="en-US" sz="1200" dirty="0"/>
              <a:t>​</a:t>
            </a:r>
          </a:p>
          <a:p>
            <a:pPr algn="just" fontAlgn="base"/>
            <a:r>
              <a:rPr lang="en-IN" sz="1200" dirty="0"/>
              <a:t>​</a:t>
            </a:r>
          </a:p>
          <a:p>
            <a:pPr lvl="0" algn="just" fontAlgn="base"/>
            <a:r>
              <a:rPr lang="en-IN" sz="1200" dirty="0"/>
              <a:t>Predicted bike rebalancing needs across stations. </a:t>
            </a:r>
            <a:r>
              <a:rPr lang="en-US" sz="1200" dirty="0"/>
              <a:t>​</a:t>
            </a:r>
          </a:p>
          <a:p>
            <a:pPr algn="just" fontAlgn="base"/>
            <a:r>
              <a:rPr lang="en-IN" sz="1200" dirty="0"/>
              <a:t>​</a:t>
            </a:r>
          </a:p>
          <a:p>
            <a:pPr lvl="0" algn="just" fontAlgn="base"/>
            <a:r>
              <a:rPr lang="en-IN" sz="1200" dirty="0"/>
              <a:t>Calculated Mobility Access Index(MAI) to measure accessibility. </a:t>
            </a:r>
            <a:r>
              <a:rPr lang="en-US" sz="1200" dirty="0"/>
              <a:t>​</a:t>
            </a:r>
          </a:p>
          <a:p>
            <a:pPr algn="just" fontAlgn="base"/>
            <a:r>
              <a:rPr lang="en-IN" sz="1200" dirty="0"/>
              <a:t>​</a:t>
            </a:r>
          </a:p>
          <a:p>
            <a:pPr lvl="0" algn="just" fontAlgn="base"/>
            <a:r>
              <a:rPr lang="en-IN" sz="1200" dirty="0"/>
              <a:t>Compared mobility access across demographic groups and   identified underserved </a:t>
            </a:r>
            <a:r>
              <a:rPr lang="en-IN" sz="1200" dirty="0" err="1"/>
              <a:t>neighborhoods</a:t>
            </a:r>
            <a:r>
              <a:rPr lang="en-IN" sz="1200" dirty="0"/>
              <a:t>. </a:t>
            </a:r>
            <a:r>
              <a:rPr lang="en-US" sz="1200" dirty="0"/>
              <a:t>​</a:t>
            </a:r>
          </a:p>
          <a:p>
            <a:pPr algn="just"/>
            <a:endParaRPr lang="en-IN" sz="700" dirty="0">
              <a:solidFill>
                <a:srgbClr val="1A2230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4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601200" cy="8229600"/>
          </a:xfrm>
          <a:prstGeom prst="rect">
            <a:avLst/>
          </a:prstGeom>
          <a:solidFill>
            <a:srgbClr val="08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961120" cy="8229600"/>
          </a:xfrm>
          <a:prstGeom prst="rect">
            <a:avLst/>
          </a:prstGeom>
          <a:solidFill>
            <a:srgbClr val="06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54864" cy="8229600"/>
          </a:xfrm>
          <a:prstGeom prst="rect">
            <a:avLst/>
          </a:prstGeom>
          <a:solidFill>
            <a:srgbClr val="00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052560" y="0"/>
            <a:ext cx="54864" cy="8229600"/>
          </a:xfrm>
          <a:prstGeom prst="rect">
            <a:avLst/>
          </a:prstGeom>
          <a:solidFill>
            <a:srgbClr val="004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0" y="0"/>
            <a:ext cx="54864" cy="8229600"/>
          </a:xfrm>
          <a:prstGeom prst="rect">
            <a:avLst/>
          </a:prstGeom>
          <a:solidFill>
            <a:srgbClr val="00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235440" y="0"/>
            <a:ext cx="54864" cy="8229600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326880" y="0"/>
            <a:ext cx="54864" cy="8229600"/>
          </a:xfrm>
          <a:prstGeom prst="rect">
            <a:avLst/>
          </a:prstGeom>
          <a:solidFill>
            <a:srgbClr val="003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418320" y="0"/>
            <a:ext cx="54864" cy="8229600"/>
          </a:xfrm>
          <a:prstGeom prst="rect">
            <a:avLst/>
          </a:prstGeom>
          <a:solidFill>
            <a:srgbClr val="003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509760" y="0"/>
            <a:ext cx="54864" cy="8229600"/>
          </a:xfrm>
          <a:prstGeom prst="rect">
            <a:avLst/>
          </a:prstGeom>
          <a:solidFill>
            <a:srgbClr val="002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601200" y="0"/>
            <a:ext cx="54864" cy="8229600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692640" y="0"/>
            <a:ext cx="4937760" cy="8229600"/>
          </a:xfrm>
          <a:prstGeom prst="rect">
            <a:avLst/>
          </a:prstGeom>
          <a:solidFill>
            <a:srgbClr val="04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430000" y="3200400"/>
            <a:ext cx="5943600" cy="5943600"/>
          </a:xfrm>
          <a:prstGeom prst="ellipse">
            <a:avLst/>
          </a:prstGeom>
          <a:solidFill>
            <a:srgbClr val="00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887200" y="3840480"/>
            <a:ext cx="5029200" cy="5029200"/>
          </a:xfrm>
          <a:prstGeom prst="ellipse">
            <a:avLst/>
          </a:prstGeom>
          <a:solidFill>
            <a:srgbClr val="00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2435840" y="4480560"/>
            <a:ext cx="3840480" cy="3840480"/>
          </a:xfrm>
          <a:prstGeom prst="ellipse">
            <a:avLst/>
          </a:prstGeom>
          <a:solidFill>
            <a:srgbClr val="00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97280" y="320040"/>
            <a:ext cx="475488" cy="475488"/>
          </a:xfrm>
          <a:prstGeom prst="ellipse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02920" y="713232"/>
            <a:ext cx="292608" cy="292608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828800" y="228600"/>
            <a:ext cx="182880" cy="182880"/>
          </a:xfrm>
          <a:prstGeom prst="ellipse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2481560" y="201168"/>
            <a:ext cx="1920240" cy="658368"/>
          </a:xfrm>
          <a:prstGeom prst="rect">
            <a:avLst/>
          </a:prstGeom>
          <a:solidFill>
            <a:srgbClr val="002D72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481560" y="219456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Infosys</a:t>
            </a:r>
          </a:p>
          <a:p>
            <a:pPr algn="ctr"/>
            <a:r>
              <a:rPr sz="1000" b="0" i="0">
                <a:solidFill>
                  <a:srgbClr val="0077CC"/>
                </a:solidFill>
                <a:latin typeface="Calibri"/>
              </a:rPr>
              <a:t>Springboard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137160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Thank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2359152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0077CC"/>
                </a:solidFill>
                <a:latin typeface="Calibri"/>
              </a:rPr>
              <a:t>You!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401568"/>
            <a:ext cx="5029200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6928" y="3566160"/>
            <a:ext cx="8229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 dirty="0">
                <a:solidFill>
                  <a:srgbClr val="7890AA"/>
                </a:solidFill>
                <a:latin typeface="Calibri"/>
              </a:rPr>
              <a:t>  Infosys Springboard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4114800"/>
            <a:ext cx="5943600" cy="65836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" y="4169663"/>
            <a:ext cx="5833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🎤   We'd love to answer your questions!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921240" y="1234440"/>
            <a:ext cx="4343400" cy="5120640"/>
          </a:xfrm>
          <a:prstGeom prst="rect">
            <a:avLst/>
          </a:prstGeom>
          <a:solidFill>
            <a:srgbClr val="061020"/>
          </a:solidFill>
          <a:ln w="12700">
            <a:solidFill>
              <a:srgbClr val="102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921240" y="1234440"/>
            <a:ext cx="4343400" cy="4572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012680" y="1298448"/>
            <a:ext cx="4160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7CC"/>
                </a:solidFill>
                <a:latin typeface="Calibri"/>
              </a:rPr>
              <a:t>PRESENTED BY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12680" y="1691640"/>
            <a:ext cx="4160520" cy="685800"/>
          </a:xfrm>
          <a:prstGeom prst="rect">
            <a:avLst/>
          </a:prstGeom>
          <a:solidFill>
            <a:srgbClr val="08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0012680" y="1691640"/>
            <a:ext cx="64008" cy="68580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168128" y="1746504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0077CC"/>
                </a:solidFill>
                <a:latin typeface="Calibri"/>
              </a:rPr>
              <a:t>Piyush</a:t>
            </a:r>
            <a:endParaRPr sz="1400" b="1" i="0" dirty="0">
              <a:solidFill>
                <a:srgbClr val="0077CC"/>
              </a:solidFill>
              <a:latin typeface="Calibri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10012680" y="2441448"/>
            <a:ext cx="4160520" cy="685800"/>
          </a:xfrm>
          <a:prstGeom prst="rect">
            <a:avLst/>
          </a:prstGeom>
          <a:solidFill>
            <a:srgbClr val="08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0012680" y="2441448"/>
            <a:ext cx="64008" cy="685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168128" y="249631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27AE60"/>
                </a:solidFill>
                <a:latin typeface="Calibri"/>
              </a:rPr>
              <a:t>Pooja</a:t>
            </a:r>
            <a:endParaRPr sz="1400" b="1" i="0" dirty="0">
              <a:solidFill>
                <a:srgbClr val="27AE60"/>
              </a:solidFill>
              <a:latin typeface="Calibri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10012680" y="3191256"/>
            <a:ext cx="4160520" cy="685800"/>
          </a:xfrm>
          <a:prstGeom prst="rect">
            <a:avLst/>
          </a:prstGeom>
          <a:solidFill>
            <a:srgbClr val="08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0012680" y="3191256"/>
            <a:ext cx="64008" cy="6858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168128" y="32461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8E44AD"/>
                </a:solidFill>
                <a:latin typeface="Calibri"/>
              </a:rPr>
              <a:t>Parul</a:t>
            </a:r>
            <a:endParaRPr sz="1400" b="1" i="0" dirty="0">
              <a:solidFill>
                <a:srgbClr val="8E44AD"/>
              </a:solidFill>
              <a:latin typeface="Calibri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10012680" y="3941064"/>
            <a:ext cx="4160520" cy="685800"/>
          </a:xfrm>
          <a:prstGeom prst="rect">
            <a:avLst/>
          </a:prstGeom>
          <a:solidFill>
            <a:srgbClr val="08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0012680" y="3941064"/>
            <a:ext cx="64008" cy="68580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168128" y="399592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D35400"/>
                </a:solidFill>
                <a:latin typeface="Calibri"/>
              </a:rPr>
              <a:t>Premika</a:t>
            </a:r>
            <a:endParaRPr sz="1400" b="1" i="0" dirty="0">
              <a:solidFill>
                <a:srgbClr val="D35400"/>
              </a:solidFill>
              <a:latin typeface="Calibri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10012680" y="4690872"/>
            <a:ext cx="4160520" cy="685800"/>
          </a:xfrm>
          <a:prstGeom prst="rect">
            <a:avLst/>
          </a:prstGeom>
          <a:solidFill>
            <a:srgbClr val="08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0012680" y="4690872"/>
            <a:ext cx="64008" cy="6858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168128" y="4745736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F39C12"/>
                </a:solidFill>
                <a:latin typeface="Calibri"/>
              </a:rPr>
              <a:t>Ramita</a:t>
            </a:r>
            <a:endParaRPr sz="1400" b="1" i="0" dirty="0">
              <a:solidFill>
                <a:srgbClr val="F39C12"/>
              </a:solidFill>
              <a:latin typeface="Calibri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0" y="5833872"/>
            <a:ext cx="14630400" cy="2167128"/>
          </a:xfrm>
          <a:prstGeom prst="rect">
            <a:avLst/>
          </a:prstGeom>
          <a:solidFill>
            <a:srgbClr val="05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0" y="5833872"/>
            <a:ext cx="14630400" cy="4114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66928" y="5980176"/>
            <a:ext cx="7772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>
                <a:solidFill>
                  <a:srgbClr val="7890AA"/>
                </a:solidFill>
                <a:latin typeface="Calibri"/>
              </a:rPr>
              <a:t>Infosys Springboard  ·  Data Analytics Project  ·   2026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936224" y="6473952"/>
            <a:ext cx="3291840" cy="502920"/>
          </a:xfrm>
          <a:prstGeom prst="rect">
            <a:avLst/>
          </a:prstGeom>
          <a:solidFill>
            <a:srgbClr val="081428"/>
          </a:solidFill>
          <a:ln w="6350">
            <a:solidFill>
              <a:srgbClr val="122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1027664" y="6510528"/>
            <a:ext cx="315468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 dirty="0">
                <a:solidFill>
                  <a:srgbClr val="B0C8E0"/>
                </a:solidFill>
                <a:latin typeface="Calibri"/>
              </a:rPr>
              <a:t>🗂️  GitHub </a:t>
            </a:r>
            <a:r>
              <a:rPr lang="en-US" sz="1050" b="0" i="0" dirty="0">
                <a:solidFill>
                  <a:srgbClr val="B0C8E0"/>
                </a:solidFill>
                <a:latin typeface="Calibri"/>
              </a:rPr>
              <a:t>Re</a:t>
            </a:r>
            <a:r>
              <a:rPr sz="1050" b="0" i="0" dirty="0">
                <a:solidFill>
                  <a:srgbClr val="B0C8E0"/>
                </a:solidFill>
                <a:latin typeface="Calibri"/>
              </a:rPr>
              <a:t>pository</a:t>
            </a:r>
            <a:r>
              <a:rPr lang="en-US" sz="1050" dirty="0">
                <a:solidFill>
                  <a:srgbClr val="B0C8E0"/>
                </a:solidFill>
              </a:rPr>
              <a:t> : </a:t>
            </a:r>
            <a:r>
              <a:rPr lang="en-US" sz="1050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https://github.com/Piyushydv19/Urban-Pulse-Smart-City-Mobility-Intelligence</a:t>
            </a:r>
            <a:endParaRPr sz="1050" b="0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0" y="8138160"/>
            <a:ext cx="14630400" cy="9144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2682</Words>
  <Application>Microsoft Office PowerPoint</Application>
  <PresentationFormat>Custom</PresentationFormat>
  <Paragraphs>480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PIYUSH YADAV</dc:creator>
  <cp:keywords/>
  <dc:description>generated using python-pptx</dc:description>
  <cp:lastModifiedBy>PIYUSH YADAV</cp:lastModifiedBy>
  <cp:revision>17</cp:revision>
  <dcterms:created xsi:type="dcterms:W3CDTF">2013-01-27T09:14:16Z</dcterms:created>
  <dcterms:modified xsi:type="dcterms:W3CDTF">2026-08-31T17:04:11Z</dcterms:modified>
  <cp:category/>
</cp:coreProperties>
</file>