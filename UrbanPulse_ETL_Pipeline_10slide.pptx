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6.png"/><Relationship Id="rId9" Type="http://schemas.openxmlformats.org/officeDocument/2006/relationships/image" Target="../media/image-7-6.png"/><Relationship Id="rId10" Type="http://schemas.openxmlformats.org/officeDocument/2006/relationships/image" Target="../media/image-7-6.png"/><Relationship Id="rId11" Type="http://schemas.openxmlformats.org/officeDocument/2006/relationships/image" Target="../media/image-7-6.png"/><Relationship Id="rId12" Type="http://schemas.openxmlformats.org/officeDocument/2006/relationships/image" Target="../media/image-7-6.png"/><Relationship Id="rId13" Type="http://schemas.openxmlformats.org/officeDocument/2006/relationships/image" Target="../media/image-7-6.png"/><Relationship Id="rId14" Type="http://schemas.openxmlformats.org/officeDocument/2006/relationships/image" Target="../media/image-7-6.png"/><Relationship Id="rId15" Type="http://schemas.openxmlformats.org/officeDocument/2006/relationships/image" Target="../media/image-7-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7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8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5.png"/><Relationship Id="rId15" Type="http://schemas.openxmlformats.org/officeDocument/2006/relationships/image" Target="../media/image-10-7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21A4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1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 •  SMART CITY ANALYTICS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PULSE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Multi-Source ETL Pipeline for Smart City Analytics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709160"/>
            <a:ext cx="786384" cy="78638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9" name="Image 0" descr="/home/claude/urbanpulse/icons/bus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4913620"/>
            <a:ext cx="377464" cy="377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5568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76272" y="4709160"/>
            <a:ext cx="786384" cy="78638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2" name="Image 1" descr="/home/claude/urbanpulse/icons/taxi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2" y="4913620"/>
            <a:ext cx="377464" cy="377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47672" y="5568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529584" y="4709160"/>
            <a:ext cx="786384" cy="78638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5" name="Image 2" descr="/home/claude/urbanpulse/icons/bike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044" y="4913620"/>
            <a:ext cx="377464" cy="377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00984" y="5568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882896" y="4709160"/>
            <a:ext cx="786384" cy="78638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8" name="Image 3" descr="/home/claude/urbanpulse/icons/weather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356" y="4913620"/>
            <a:ext cx="377464" cy="377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54296" y="5568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236208" y="4709160"/>
            <a:ext cx="786384" cy="78638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1" name="Image 4" descr="/home/claude/urbanpulse/icons/users_00C2A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668" y="4913620"/>
            <a:ext cx="377464" cy="3774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07608" y="5568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7589520" y="4709160"/>
            <a:ext cx="786384" cy="78638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4" name="Image 5" descr="/home/claude/urbanpulse/icons/python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980" y="4913620"/>
            <a:ext cx="377464" cy="3774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60920" y="5568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8942832" y="4709160"/>
            <a:ext cx="786384" cy="78638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7" name="Image 6" descr="/home/claude/urbanpulse/icons/mysql_00C2A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7292" y="4913620"/>
            <a:ext cx="377464" cy="37746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714232" y="5568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10296144" y="4709160"/>
            <a:ext cx="786384" cy="78638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0" name="Image 7" descr="/home/claude/urbanpulse/icons/powerbi_00C2A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604" y="4913620"/>
            <a:ext cx="377464" cy="37746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067544" y="5568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PIPELINE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Fragmented Sources, One Warehouse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data about how people move and live is scattered across five disconnected systems — each with its own format, schema, and refresh cycle.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6" name="Image 0" descr="/home/claude/urbanpulse/icons/bus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25820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1488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52344"/>
            <a:ext cx="420624" cy="420624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9" name="Image 1" descr="/home/claude/urbanpulse/icons/taxi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861706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75234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355848"/>
            <a:ext cx="420624" cy="420624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2" name="Image 2" descr="/home/claude/urbanpulse/icons/bike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465210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3558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959352"/>
            <a:ext cx="420624" cy="420624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5" name="Image 3" descr="/home/claude/urbanpulse/icons/weather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4068714"/>
            <a:ext cx="201900" cy="201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9593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4562856"/>
            <a:ext cx="420624" cy="420624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8" name="Image 4" descr="/home/claude/urbanpulse/icons/users_00C2A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02" y="4672218"/>
            <a:ext cx="201900" cy="201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56285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029200" y="1188720"/>
            <a:ext cx="6629400" cy="5074920"/>
          </a:xfrm>
          <a:prstGeom prst="roundRect">
            <a:avLst>
              <a:gd name="adj" fmla="val 1441"/>
            </a:avLst>
          </a:prstGeom>
          <a:solidFill>
            <a:srgbClr val="141B4D"/>
          </a:solidFill>
          <a:ln/>
        </p:spPr>
      </p:sp>
      <p:sp>
        <p:nvSpPr>
          <p:cNvPr id="21" name="Text 14"/>
          <p:cNvSpPr/>
          <p:nvPr/>
        </p:nvSpPr>
        <p:spPr>
          <a:xfrm>
            <a:off x="5349240" y="13716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ETL ARCHITECTURE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458968" y="1920240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1B2456"/>
          </a:solidFill>
          <a:ln/>
        </p:spPr>
      </p:sp>
      <p:sp>
        <p:nvSpPr>
          <p:cNvPr id="23" name="Shape 16"/>
          <p:cNvSpPr/>
          <p:nvPr/>
        </p:nvSpPr>
        <p:spPr>
          <a:xfrm>
            <a:off x="5747004" y="2057400"/>
            <a:ext cx="475488" cy="475488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24" name="Image 5" descr="/home/claude/urbanpulse/icons/python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631" y="2181027"/>
            <a:ext cx="228234" cy="22823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86400" y="274320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519672" y="2542032"/>
            <a:ext cx="109728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7" name="Shape 19"/>
          <p:cNvSpPr/>
          <p:nvPr/>
        </p:nvSpPr>
        <p:spPr>
          <a:xfrm>
            <a:off x="6638544" y="1920240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1B2456"/>
          </a:solidFill>
          <a:ln/>
        </p:spPr>
      </p:sp>
      <p:sp>
        <p:nvSpPr>
          <p:cNvPr id="28" name="Shape 20"/>
          <p:cNvSpPr/>
          <p:nvPr/>
        </p:nvSpPr>
        <p:spPr>
          <a:xfrm>
            <a:off x="6926580" y="2057400"/>
            <a:ext cx="475488" cy="475488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29" name="Image 6" descr="/home/claude/urbanpulse/icons/filter_00C2A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207" y="2181027"/>
            <a:ext cx="228234" cy="22823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665976" y="274320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7699248" y="2542032"/>
            <a:ext cx="109728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2" name="Shape 23"/>
          <p:cNvSpPr/>
          <p:nvPr/>
        </p:nvSpPr>
        <p:spPr>
          <a:xfrm>
            <a:off x="7818120" y="1920240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1B2456"/>
          </a:solidFill>
          <a:ln/>
        </p:spPr>
      </p:sp>
      <p:sp>
        <p:nvSpPr>
          <p:cNvPr id="33" name="Shape 24"/>
          <p:cNvSpPr/>
          <p:nvPr/>
        </p:nvSpPr>
        <p:spPr>
          <a:xfrm>
            <a:off x="8106156" y="2057400"/>
            <a:ext cx="475488" cy="475488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34" name="Image 7" descr="/home/claude/urbanpulse/icons/gear_00C2A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783" y="2181027"/>
            <a:ext cx="228234" cy="22823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845552" y="274320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8878824" y="2542032"/>
            <a:ext cx="109728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7" name="Shape 27"/>
          <p:cNvSpPr/>
          <p:nvPr/>
        </p:nvSpPr>
        <p:spPr>
          <a:xfrm>
            <a:off x="8997696" y="1920240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8" name="Shape 28"/>
          <p:cNvSpPr/>
          <p:nvPr/>
        </p:nvSpPr>
        <p:spPr>
          <a:xfrm>
            <a:off x="9285732" y="2057400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9" name="Image 8" descr="/home/claude/urbanpulse/icons/mysql_1E276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9359" y="2181027"/>
            <a:ext cx="228234" cy="22823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025128" y="274320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10058400" y="2542032"/>
            <a:ext cx="109728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42" name="Shape 31"/>
          <p:cNvSpPr/>
          <p:nvPr/>
        </p:nvSpPr>
        <p:spPr>
          <a:xfrm>
            <a:off x="10177272" y="1920240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1B2456"/>
          </a:solidFill>
          <a:ln/>
        </p:spPr>
      </p:sp>
      <p:sp>
        <p:nvSpPr>
          <p:cNvPr id="43" name="Shape 32"/>
          <p:cNvSpPr/>
          <p:nvPr/>
        </p:nvSpPr>
        <p:spPr>
          <a:xfrm>
            <a:off x="10465308" y="2057400"/>
            <a:ext cx="475488" cy="475488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44" name="Image 9" descr="/home/claude/urbanpulse/icons/powerbi_00C2A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8935" y="2181027"/>
            <a:ext cx="228234" cy="22823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10204704" y="274320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5349240" y="361188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sources are normalized by one Python ETL layer, cleaned and transformed with consistent rules, and loaded into a single queryable MySQL warehouse that powers live Power BI dashboards.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5349240" y="4617720"/>
            <a:ext cx="5989320" cy="1463040"/>
          </a:xfrm>
          <a:prstGeom prst="roundRect">
            <a:avLst>
              <a:gd name="adj" fmla="val 5000"/>
            </a:avLst>
          </a:prstGeom>
          <a:solidFill>
            <a:srgbClr val="1B2456"/>
          </a:solidFill>
          <a:ln/>
        </p:spPr>
      </p:sp>
      <p:sp>
        <p:nvSpPr>
          <p:cNvPr id="48" name="Text 36"/>
          <p:cNvSpPr/>
          <p:nvPr/>
        </p:nvSpPr>
        <p:spPr>
          <a:xfrm>
            <a:off x="5349240" y="4754880"/>
            <a:ext cx="199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49" name="Text 37"/>
          <p:cNvSpPr/>
          <p:nvPr/>
        </p:nvSpPr>
        <p:spPr>
          <a:xfrm>
            <a:off x="5349240" y="5440680"/>
            <a:ext cx="199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50" name="Text 38"/>
          <p:cNvSpPr/>
          <p:nvPr/>
        </p:nvSpPr>
        <p:spPr>
          <a:xfrm>
            <a:off x="7345680" y="4754880"/>
            <a:ext cx="199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51" name="Text 39"/>
          <p:cNvSpPr/>
          <p:nvPr/>
        </p:nvSpPr>
        <p:spPr>
          <a:xfrm>
            <a:off x="7345680" y="5440680"/>
            <a:ext cx="199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Warehouse</a:t>
            </a:r>
            <a:endParaRPr lang="en-US" sz="1050" dirty="0"/>
          </a:p>
        </p:txBody>
      </p:sp>
      <p:sp>
        <p:nvSpPr>
          <p:cNvPr id="52" name="Text 40"/>
          <p:cNvSpPr/>
          <p:nvPr/>
        </p:nvSpPr>
        <p:spPr>
          <a:xfrm>
            <a:off x="9342120" y="4754880"/>
            <a:ext cx="199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53" name="Text 41"/>
          <p:cNvSpPr/>
          <p:nvPr/>
        </p:nvSpPr>
        <p:spPr>
          <a:xfrm>
            <a:off x="9342120" y="5440680"/>
            <a:ext cx="199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TRANSIT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 (GTFS) ETL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566928" cy="566928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" name="Image 0" descr="/home/claude/urbanpulse/icons/bus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3001" y="6046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887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 is the open standard transit agencies use to publish schedules as relational text files — the foundation of the warehouse.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 FILES INGESTED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agency.txt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96312" y="233172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1" name="Text 8"/>
          <p:cNvSpPr/>
          <p:nvPr/>
        </p:nvSpPr>
        <p:spPr>
          <a:xfrm>
            <a:off x="2496312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routes.txt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43984" y="233172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3" name="Text 10"/>
          <p:cNvSpPr/>
          <p:nvPr/>
        </p:nvSpPr>
        <p:spPr>
          <a:xfrm>
            <a:off x="4443984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stops.txt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78892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trips.txt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496312" y="278892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7" name="Text 14"/>
          <p:cNvSpPr/>
          <p:nvPr/>
        </p:nvSpPr>
        <p:spPr>
          <a:xfrm>
            <a:off x="2496312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stop_times.txt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43984" y="278892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9" name="Text 16"/>
          <p:cNvSpPr/>
          <p:nvPr/>
        </p:nvSpPr>
        <p:spPr>
          <a:xfrm>
            <a:off x="4443984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calendar.txt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3520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LOADING STRATEGY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384048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.txt file read as CSV with pandas.read_csv()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types coerced to match warehouse schema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writes tables in bulk via to_sql()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if_exists="replace" keeps nightly loads idempotent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1188720"/>
            <a:ext cx="5257800" cy="5074920"/>
          </a:xfrm>
          <a:prstGeom prst="roundRect">
            <a:avLst>
              <a:gd name="adj" fmla="val 1441"/>
            </a:avLst>
          </a:prstGeom>
          <a:solidFill>
            <a:srgbClr val="080C24"/>
          </a:solidFill>
          <a:ln/>
        </p:spPr>
      </p:sp>
      <p:sp>
        <p:nvSpPr>
          <p:cNvPr id="23" name="Text 20"/>
          <p:cNvSpPr/>
          <p:nvPr/>
        </p:nvSpPr>
        <p:spPr>
          <a:xfrm>
            <a:off x="6601968" y="1325880"/>
            <a:ext cx="4855464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FE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FE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create_engine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create_engine(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"mysql+pymysql://user:pwd@host/urban_pulse")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gtfs_files = ["agency", "routes", "stops",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"trips", "stop_times", "calendar"]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FE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 in gtfs_files: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pd.read_csv(f"gtfs/{name}.txt")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df.to_sql(name, engine, if_exists="replace",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index=False, chunksize=5000)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NON-TRANSIT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Ride-Hailing &amp; Bike-Share ETL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75488" cy="475488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" name="Image 0" descr="/home/claude/urbanpulse/icons/taxi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1358067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Ride-Hailing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874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dropoff_datetime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313432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37560" y="2313432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fare_amount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2834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trips, convert timestamps to UTC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with missing fare / distance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clean records via to_sql()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080C24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343400"/>
            <a:ext cx="5084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df["pickup_datetime"] = pd.to_datetime(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df["pickup_datetime"], errors="coerce")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df.dropna(subset=["fare_amount"])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df.to_sql("ride_hailing", engine,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if_exists="append", index=False)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55080" y="1234440"/>
            <a:ext cx="475488" cy="475488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9" name="Image 1" descr="/home/claude/urbanpulse/icons/bike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707" y="1358067"/>
            <a:ext cx="228234" cy="22823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76872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Share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355080" y="1874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22" name="Text 18"/>
          <p:cNvSpPr/>
          <p:nvPr/>
        </p:nvSpPr>
        <p:spPr>
          <a:xfrm>
            <a:off x="63550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bike_id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144000" y="1874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start_station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355080" y="2313432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26" name="Text 22"/>
          <p:cNvSpPr/>
          <p:nvPr/>
        </p:nvSpPr>
        <p:spPr>
          <a:xfrm>
            <a:off x="635508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9144000" y="2313432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28" name="Text 24"/>
          <p:cNvSpPr/>
          <p:nvPr/>
        </p:nvSpPr>
        <p:spPr>
          <a:xfrm>
            <a:off x="914400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trip_duration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355080" y="2834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duration from start / end timestamps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station codes to canonical names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zero-duration test rides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355080" y="4206240"/>
            <a:ext cx="5285232" cy="2011680"/>
          </a:xfrm>
          <a:prstGeom prst="roundRect">
            <a:avLst>
              <a:gd name="adj" fmla="val 3636"/>
            </a:avLst>
          </a:prstGeom>
          <a:solidFill>
            <a:srgbClr val="080C24"/>
          </a:solidFill>
          <a:ln/>
        </p:spPr>
      </p:sp>
      <p:sp>
        <p:nvSpPr>
          <p:cNvPr id="31" name="Text 27"/>
          <p:cNvSpPr/>
          <p:nvPr/>
        </p:nvSpPr>
        <p:spPr>
          <a:xfrm>
            <a:off x="6556248" y="4343400"/>
            <a:ext cx="4882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df["trip_duration_min"] = 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df["end_time"] - df["start_time"]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).dt.total_seconds() / 60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df[df["trip_duration_min"] &gt; 1]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df.to_sql("bike_share", engine,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if_exists="append", index=False)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NON-TRANSIT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&amp; Demographic ETL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75488" cy="475488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" name="Image 0" descr="/home/claude/urbanpulse/icons/weather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1358067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874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313432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37560" y="2313432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6" name="Image 1" descr="/home/claude/urbanpulse/icons/api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99923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1042416" y="3044952"/>
            <a:ext cx="228600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9" name="Shape 15"/>
          <p:cNvSpPr/>
          <p:nvPr/>
        </p:nvSpPr>
        <p:spPr>
          <a:xfrm>
            <a:off x="1920240" y="2880360"/>
            <a:ext cx="457200" cy="45720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0" name="Image 2" descr="/home/claude/urbanpulse/icons/json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29992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414016" y="3044952"/>
            <a:ext cx="228600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3" name="Shape 18"/>
          <p:cNvSpPr/>
          <p:nvPr/>
        </p:nvSpPr>
        <p:spPr>
          <a:xfrm>
            <a:off x="3291840" y="2880360"/>
            <a:ext cx="457200" cy="45720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4" name="Image 3" descr="/home/claude/urbanpulse/icons/python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99923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108960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785616" y="3044952"/>
            <a:ext cx="228600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7" name="Shape 21"/>
          <p:cNvSpPr/>
          <p:nvPr/>
        </p:nvSpPr>
        <p:spPr>
          <a:xfrm>
            <a:off x="4663440" y="2880360"/>
            <a:ext cx="457200" cy="45720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8" name="Image 4" descr="/home/claude/urbanpulse/icons/mysql_00C2A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99923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480560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48640" y="379476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080C24"/>
          </a:solidFill>
          <a:ln/>
        </p:spPr>
      </p:sp>
      <p:sp>
        <p:nvSpPr>
          <p:cNvPr id="31" name="Text 24"/>
          <p:cNvSpPr/>
          <p:nvPr/>
        </p:nvSpPr>
        <p:spPr>
          <a:xfrm>
            <a:off x="749808" y="3931920"/>
            <a:ext cx="50840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requests.get(WEATHER_API_URL, params={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"city": city, "appid": API_KEY})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pd.json_normalize(resp.json()["list"])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df.to_sql("weather", engine,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if_exists="append", index=False)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355080" y="1234440"/>
            <a:ext cx="475488" cy="475488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33" name="Image 5" descr="/home/claude/urbanpulse/icons/users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707" y="1358067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76872" y="1280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6355080" y="1874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36" name="Text 28"/>
          <p:cNvSpPr/>
          <p:nvPr/>
        </p:nvSpPr>
        <p:spPr>
          <a:xfrm>
            <a:off x="63550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9144000" y="1874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38" name="Text 30"/>
          <p:cNvSpPr/>
          <p:nvPr/>
        </p:nvSpPr>
        <p:spPr>
          <a:xfrm>
            <a:off x="914400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355080" y="2313432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40" name="Text 32"/>
          <p:cNvSpPr/>
          <p:nvPr/>
        </p:nvSpPr>
        <p:spPr>
          <a:xfrm>
            <a:off x="635508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9144000" y="2313432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1B2456"/>
          </a:solidFill>
          <a:ln/>
        </p:spPr>
      </p:sp>
      <p:sp>
        <p:nvSpPr>
          <p:cNvPr id="42" name="Text 34"/>
          <p:cNvSpPr/>
          <p:nvPr/>
        </p:nvSpPr>
        <p:spPr>
          <a:xfrm>
            <a:off x="914400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355080" y="28803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locality names, drop null population / income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density to a comparable scale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 city zone identifiers, load into MySQL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6355080" y="4206240"/>
            <a:ext cx="5285232" cy="2011680"/>
          </a:xfrm>
          <a:prstGeom prst="roundRect">
            <a:avLst>
              <a:gd name="adj" fmla="val 3636"/>
            </a:avLst>
          </a:prstGeom>
          <a:solidFill>
            <a:srgbClr val="080C24"/>
          </a:solidFill>
          <a:ln/>
        </p:spPr>
      </p:sp>
      <p:sp>
        <p:nvSpPr>
          <p:cNvPr id="45" name="Text 37"/>
          <p:cNvSpPr/>
          <p:nvPr/>
        </p:nvSpPr>
        <p:spPr>
          <a:xfrm>
            <a:off x="6556248" y="4343400"/>
            <a:ext cx="4882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df["density_norm"] = 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df["density"] - df["density"].min()) / 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df["density"].max() - df["density"].min())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df.merge(zone_lookup, on="locality")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df.to_sql("demographics", engine,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if_exists="replace", index=False)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Transformation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— transit or non-transit — passes through the same disciplined rules before reaching the warehouse.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56232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7" name="Image 0" descr="/home/claude/urbanpulse/icons/filter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1963217"/>
            <a:ext cx="197510" cy="1975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235000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/>
        </p:spPr>
      </p:sp>
      <p:sp>
        <p:nvSpPr>
          <p:cNvPr id="10" name="Shape 7"/>
          <p:cNvSpPr/>
          <p:nvPr/>
        </p:nvSpPr>
        <p:spPr>
          <a:xfrm>
            <a:off x="3502152" y="1856232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1" name="Image 1" descr="/home/claude/urbanpulse/icons/check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137" y="1963217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35000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/>
        </p:spPr>
      </p:sp>
      <p:sp>
        <p:nvSpPr>
          <p:cNvPr id="14" name="Shape 10"/>
          <p:cNvSpPr/>
          <p:nvPr/>
        </p:nvSpPr>
        <p:spPr>
          <a:xfrm>
            <a:off x="6291072" y="1856232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5" name="Image 2" descr="/home/claude/urbanpulse/icons/gear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057" y="1963217"/>
            <a:ext cx="197510" cy="1975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45352" y="235000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91540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/>
        </p:spPr>
      </p:sp>
      <p:sp>
        <p:nvSpPr>
          <p:cNvPr id="18" name="Shape 13"/>
          <p:cNvSpPr/>
          <p:nvPr/>
        </p:nvSpPr>
        <p:spPr>
          <a:xfrm>
            <a:off x="9079992" y="1856232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9" name="Image 3" descr="/home/claude/urbanpulse/icons/clock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977" y="1963217"/>
            <a:ext cx="197510" cy="1975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34272" y="235000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time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0175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/>
        </p:spPr>
      </p:sp>
      <p:sp>
        <p:nvSpPr>
          <p:cNvPr id="22" name="Shape 16"/>
          <p:cNvSpPr/>
          <p:nvPr/>
        </p:nvSpPr>
        <p:spPr>
          <a:xfrm>
            <a:off x="713232" y="3182112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3" name="Image 4" descr="/home/claude/urbanpulse/icons/code_00C2A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7" y="3289097"/>
            <a:ext cx="197510" cy="1975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512" y="367588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renaming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337560" y="30175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/>
        </p:spPr>
      </p:sp>
      <p:sp>
        <p:nvSpPr>
          <p:cNvPr id="26" name="Shape 19"/>
          <p:cNvSpPr/>
          <p:nvPr/>
        </p:nvSpPr>
        <p:spPr>
          <a:xfrm>
            <a:off x="3502152" y="3182112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7" name="Image 5" descr="/home/claude/urbanpulse/icons/shield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137" y="3289097"/>
            <a:ext cx="197510" cy="19751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56432" y="367588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126480" y="30175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/>
        </p:spPr>
      </p:sp>
      <p:sp>
        <p:nvSpPr>
          <p:cNvPr id="30" name="Shape 22"/>
          <p:cNvSpPr/>
          <p:nvPr/>
        </p:nvSpPr>
        <p:spPr>
          <a:xfrm>
            <a:off x="6291072" y="3182112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31" name="Image 6" descr="/home/claude/urbanpulse/icons/link_00C2A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8057" y="3289097"/>
            <a:ext cx="197510" cy="19751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45352" y="367588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foreign keys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8915400" y="30175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/>
        </p:spPr>
      </p:sp>
      <p:sp>
        <p:nvSpPr>
          <p:cNvPr id="34" name="Shape 25"/>
          <p:cNvSpPr/>
          <p:nvPr/>
        </p:nvSpPr>
        <p:spPr>
          <a:xfrm>
            <a:off x="9079992" y="3182112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35" name="Image 7" descr="/home/claude/urbanpulse/icons/layer_00C2A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6977" y="3289097"/>
            <a:ext cx="197510" cy="19751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34272" y="367588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B2456"/>
          </a:solidFill>
          <a:ln/>
        </p:spPr>
      </p:sp>
      <p:sp>
        <p:nvSpPr>
          <p:cNvPr id="38" name="Shape 28"/>
          <p:cNvSpPr/>
          <p:nvPr/>
        </p:nvSpPr>
        <p:spPr>
          <a:xfrm>
            <a:off x="1051560" y="472744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0163B"/>
          </a:solidFill>
          <a:ln/>
        </p:spPr>
      </p:sp>
      <p:sp>
        <p:nvSpPr>
          <p:cNvPr id="39" name="Text 29"/>
          <p:cNvSpPr/>
          <p:nvPr/>
        </p:nvSpPr>
        <p:spPr>
          <a:xfrm>
            <a:off x="1051560" y="4727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Extract</a:t>
            </a:r>
            <a:endParaRPr lang="en-US" sz="1150" dirty="0"/>
          </a:p>
        </p:txBody>
      </p:sp>
      <p:sp>
        <p:nvSpPr>
          <p:cNvPr id="40" name="Shape 30"/>
          <p:cNvSpPr/>
          <p:nvPr/>
        </p:nvSpPr>
        <p:spPr>
          <a:xfrm>
            <a:off x="2852928" y="4873752"/>
            <a:ext cx="25603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41" name="Shape 31"/>
          <p:cNvSpPr/>
          <p:nvPr/>
        </p:nvSpPr>
        <p:spPr>
          <a:xfrm>
            <a:off x="3127248" y="472744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0163B"/>
          </a:solidFill>
          <a:ln/>
        </p:spPr>
      </p:sp>
      <p:sp>
        <p:nvSpPr>
          <p:cNvPr id="42" name="Text 32"/>
          <p:cNvSpPr/>
          <p:nvPr/>
        </p:nvSpPr>
        <p:spPr>
          <a:xfrm>
            <a:off x="3127248" y="4727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4928616" y="4873752"/>
            <a:ext cx="25603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44" name="Shape 34"/>
          <p:cNvSpPr/>
          <p:nvPr/>
        </p:nvSpPr>
        <p:spPr>
          <a:xfrm>
            <a:off x="5202936" y="472744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0163B"/>
          </a:solidFill>
          <a:ln/>
        </p:spPr>
      </p:sp>
      <p:sp>
        <p:nvSpPr>
          <p:cNvPr id="45" name="Text 35"/>
          <p:cNvSpPr/>
          <p:nvPr/>
        </p:nvSpPr>
        <p:spPr>
          <a:xfrm>
            <a:off x="5202936" y="4727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7004304" y="4873752"/>
            <a:ext cx="25603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47" name="Shape 37"/>
          <p:cNvSpPr/>
          <p:nvPr/>
        </p:nvSpPr>
        <p:spPr>
          <a:xfrm>
            <a:off x="7278624" y="472744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0163B"/>
          </a:solidFill>
          <a:ln/>
        </p:spPr>
      </p:sp>
      <p:sp>
        <p:nvSpPr>
          <p:cNvPr id="48" name="Text 38"/>
          <p:cNvSpPr/>
          <p:nvPr/>
        </p:nvSpPr>
        <p:spPr>
          <a:xfrm>
            <a:off x="7278624" y="4727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9079992" y="4873752"/>
            <a:ext cx="25603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50" name="Shape 40"/>
          <p:cNvSpPr/>
          <p:nvPr/>
        </p:nvSpPr>
        <p:spPr>
          <a:xfrm>
            <a:off x="9354312" y="472744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/>
        </p:spPr>
      </p:sp>
      <p:sp>
        <p:nvSpPr>
          <p:cNvPr id="51" name="Text 41"/>
          <p:cNvSpPr/>
          <p:nvPr/>
        </p:nvSpPr>
        <p:spPr>
          <a:xfrm>
            <a:off x="9354312" y="4727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 Warehouse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centralizes every cleaned dataset behind one relational schema — joinable, queryable, and auditable — making it the single source of truth for Urban Pulse.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6" name="Image 0" descr="/home/claude/urbanpulse/icons/check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2335378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— one schema for all five sources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70632"/>
            <a:ext cx="365760" cy="36576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9" name="Image 1" descr="/home/claude/urbanpulse/icons/link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2865730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770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Joinable — foreign keys tie trips to stops, zones, weather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300984"/>
            <a:ext cx="365760" cy="36576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2" name="Image 2" descr="/home/claude/urbanpulse/icons/chart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3396082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300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— SQL powers ad-hoc and BI analysis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831336"/>
            <a:ext cx="365760" cy="36576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5" name="Image 3" descr="/home/claude/urbanpulse/icons/shield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3926434"/>
            <a:ext cx="175565" cy="1755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— mature engine, ACID transactions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58368" y="4608576"/>
            <a:ext cx="5175504" cy="1143000"/>
          </a:xfrm>
          <a:prstGeom prst="rect">
            <a:avLst/>
          </a:prstGeom>
          <a:solidFill>
            <a:srgbClr val="10163B"/>
          </a:solidFill>
          <a:ln w="12700">
            <a:solidFill>
              <a:srgbClr val="2C3878"/>
            </a:solidFill>
            <a:prstDash val="dash"/>
          </a:ln>
        </p:spPr>
      </p:sp>
      <p:pic>
        <p:nvPicPr>
          <p:cNvPr id="18" name="Image 4" descr="/home/claude/urbanpulse/icons/database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088" y="4924044"/>
            <a:ext cx="512064" cy="5120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" y="57698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— schema view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6263640" y="1188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TABLES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6263640" y="1536192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22" name="Shape 15"/>
          <p:cNvSpPr/>
          <p:nvPr/>
        </p:nvSpPr>
        <p:spPr>
          <a:xfrm>
            <a:off x="6944868" y="1618488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23" name="Image 5" descr="/home/claude/urbanpulse/icons/database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701" y="1699321"/>
            <a:ext cx="149230" cy="14923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63640" y="197510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8083296" y="1536192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26" name="Shape 18"/>
          <p:cNvSpPr/>
          <p:nvPr/>
        </p:nvSpPr>
        <p:spPr>
          <a:xfrm>
            <a:off x="8764524" y="1618488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27" name="Image 6" descr="/home/claude/urbanpulse/icons/database_00C2A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5357" y="1699321"/>
            <a:ext cx="149230" cy="14923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083296" y="197510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9902952" y="1536192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30" name="Shape 21"/>
          <p:cNvSpPr/>
          <p:nvPr/>
        </p:nvSpPr>
        <p:spPr>
          <a:xfrm>
            <a:off x="10584180" y="1618488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31" name="Image 7" descr="/home/claude/urbanpulse/icons/database_00C2A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5013" y="1699321"/>
            <a:ext cx="149230" cy="14923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902952" y="197510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6263640" y="2432304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34" name="Shape 24"/>
          <p:cNvSpPr/>
          <p:nvPr/>
        </p:nvSpPr>
        <p:spPr>
          <a:xfrm>
            <a:off x="6944868" y="2514600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35" name="Image 8" descr="/home/claude/urbanpulse/icons/database_00C2A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5701" y="2595433"/>
            <a:ext cx="149230" cy="14923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263640" y="287121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8083296" y="2432304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38" name="Shape 27"/>
          <p:cNvSpPr/>
          <p:nvPr/>
        </p:nvSpPr>
        <p:spPr>
          <a:xfrm>
            <a:off x="8764524" y="2514600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39" name="Image 9" descr="/home/claude/urbanpulse/icons/database_00C2A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5357" y="2595433"/>
            <a:ext cx="149230" cy="14923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083296" y="287121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stop_times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9902952" y="2432304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42" name="Shape 30"/>
          <p:cNvSpPr/>
          <p:nvPr/>
        </p:nvSpPr>
        <p:spPr>
          <a:xfrm>
            <a:off x="10584180" y="2514600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43" name="Image 10" descr="/home/claude/urbanpulse/icons/database_00C2A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5013" y="2595433"/>
            <a:ext cx="149230" cy="14923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902952" y="287121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</a:t>
            </a:r>
            <a:endParaRPr lang="en-US" sz="950" dirty="0"/>
          </a:p>
        </p:txBody>
      </p:sp>
      <p:sp>
        <p:nvSpPr>
          <p:cNvPr id="45" name="Shape 32"/>
          <p:cNvSpPr/>
          <p:nvPr/>
        </p:nvSpPr>
        <p:spPr>
          <a:xfrm>
            <a:off x="6263640" y="3328416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46" name="Shape 33"/>
          <p:cNvSpPr/>
          <p:nvPr/>
        </p:nvSpPr>
        <p:spPr>
          <a:xfrm>
            <a:off x="6944868" y="3410712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47" name="Image 11" descr="/home/claude/urbanpulse/icons/database_00C2A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5701" y="3491545"/>
            <a:ext cx="149230" cy="14923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263640" y="37673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ride_hailing</a:t>
            </a:r>
            <a:endParaRPr lang="en-US" sz="950" dirty="0"/>
          </a:p>
        </p:txBody>
      </p:sp>
      <p:sp>
        <p:nvSpPr>
          <p:cNvPr id="49" name="Shape 35"/>
          <p:cNvSpPr/>
          <p:nvPr/>
        </p:nvSpPr>
        <p:spPr>
          <a:xfrm>
            <a:off x="8083296" y="3328416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50" name="Shape 36"/>
          <p:cNvSpPr/>
          <p:nvPr/>
        </p:nvSpPr>
        <p:spPr>
          <a:xfrm>
            <a:off x="8764524" y="3410712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51" name="Image 12" descr="/home/claude/urbanpulse/icons/database_00C2A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45357" y="3491545"/>
            <a:ext cx="149230" cy="14923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8083296" y="37673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bike_share</a:t>
            </a:r>
            <a:endParaRPr lang="en-US" sz="950" dirty="0"/>
          </a:p>
        </p:txBody>
      </p:sp>
      <p:sp>
        <p:nvSpPr>
          <p:cNvPr id="53" name="Shape 38"/>
          <p:cNvSpPr/>
          <p:nvPr/>
        </p:nvSpPr>
        <p:spPr>
          <a:xfrm>
            <a:off x="9902952" y="3328416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54" name="Shape 39"/>
          <p:cNvSpPr/>
          <p:nvPr/>
        </p:nvSpPr>
        <p:spPr>
          <a:xfrm>
            <a:off x="10584180" y="3410712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55" name="Image 13" descr="/home/claude/urbanpulse/icons/database_00C2A8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5013" y="3491545"/>
            <a:ext cx="149230" cy="149230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9902952" y="37673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</a:t>
            </a:r>
            <a:endParaRPr lang="en-US" sz="950" dirty="0"/>
          </a:p>
        </p:txBody>
      </p:sp>
      <p:sp>
        <p:nvSpPr>
          <p:cNvPr id="57" name="Shape 41"/>
          <p:cNvSpPr/>
          <p:nvPr/>
        </p:nvSpPr>
        <p:spPr>
          <a:xfrm>
            <a:off x="6263640" y="4224528"/>
            <a:ext cx="1673352" cy="749808"/>
          </a:xfrm>
          <a:prstGeom prst="roundRect">
            <a:avLst>
              <a:gd name="adj" fmla="val 9756"/>
            </a:avLst>
          </a:prstGeom>
          <a:solidFill>
            <a:srgbClr val="1B2456"/>
          </a:solidFill>
          <a:ln/>
        </p:spPr>
      </p:sp>
      <p:sp>
        <p:nvSpPr>
          <p:cNvPr id="58" name="Shape 42"/>
          <p:cNvSpPr/>
          <p:nvPr/>
        </p:nvSpPr>
        <p:spPr>
          <a:xfrm>
            <a:off x="6944868" y="4306824"/>
            <a:ext cx="310896" cy="310896"/>
          </a:xfrm>
          <a:prstGeom prst="ellipse">
            <a:avLst/>
          </a:prstGeom>
          <a:solidFill>
            <a:srgbClr val="10163B"/>
          </a:solidFill>
          <a:ln/>
        </p:spPr>
      </p:sp>
      <p:pic>
        <p:nvPicPr>
          <p:cNvPr id="59" name="Image 14" descr="/home/claude/urbanpulse/icons/database_00C2A8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25701" y="4387657"/>
            <a:ext cx="149230" cy="14923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6263640" y="466344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demographics</a:t>
            </a:r>
            <a:endParaRPr lang="en-US" sz="950" dirty="0"/>
          </a:p>
        </p:txBody>
      </p:sp>
      <p:sp>
        <p:nvSpPr>
          <p:cNvPr id="61" name="Text 44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live to MySQL, turning warehouse tables directly into refreshable dashboards.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73836" y="17373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1641348" y="1865376"/>
            <a:ext cx="493776" cy="493776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7" name="Image 0" descr="/home/claude/urbanpulse/icons/gear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730" y="1993758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3836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20924" y="2221992"/>
            <a:ext cx="237744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0" name="Shape 7"/>
          <p:cNvSpPr/>
          <p:nvPr/>
        </p:nvSpPr>
        <p:spPr>
          <a:xfrm>
            <a:off x="3076956" y="17373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</p:spPr>
      </p:sp>
      <p:sp>
        <p:nvSpPr>
          <p:cNvPr id="11" name="Shape 8"/>
          <p:cNvSpPr/>
          <p:nvPr/>
        </p:nvSpPr>
        <p:spPr>
          <a:xfrm>
            <a:off x="3744468" y="1865376"/>
            <a:ext cx="493776" cy="493776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2" name="Image 1" descr="/home/claude/urbanpulse/icons/mysql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50" y="1993758"/>
            <a:ext cx="237012" cy="2370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76956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924044" y="2221992"/>
            <a:ext cx="237744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5" name="Shape 11"/>
          <p:cNvSpPr/>
          <p:nvPr/>
        </p:nvSpPr>
        <p:spPr>
          <a:xfrm>
            <a:off x="5180076" y="17373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</p:spPr>
      </p:sp>
      <p:sp>
        <p:nvSpPr>
          <p:cNvPr id="16" name="Shape 12"/>
          <p:cNvSpPr/>
          <p:nvPr/>
        </p:nvSpPr>
        <p:spPr>
          <a:xfrm>
            <a:off x="5847588" y="1865376"/>
            <a:ext cx="493776" cy="493776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7" name="Image 2" descr="/home/claude/urbanpulse/icons/filter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970" y="1993758"/>
            <a:ext cx="237012" cy="2370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0076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027164" y="2221992"/>
            <a:ext cx="237744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0" name="Shape 15"/>
          <p:cNvSpPr/>
          <p:nvPr/>
        </p:nvSpPr>
        <p:spPr>
          <a:xfrm>
            <a:off x="7283196" y="17373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</p:spPr>
      </p:sp>
      <p:sp>
        <p:nvSpPr>
          <p:cNvPr id="21" name="Shape 16"/>
          <p:cNvSpPr/>
          <p:nvPr/>
        </p:nvSpPr>
        <p:spPr>
          <a:xfrm>
            <a:off x="7950708" y="1865376"/>
            <a:ext cx="493776" cy="493776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2" name="Image 3" descr="/home/claude/urbanpulse/icons/layer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090" y="1993758"/>
            <a:ext cx="237012" cy="2370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83196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130284" y="2221992"/>
            <a:ext cx="237744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5" name="Shape 19"/>
          <p:cNvSpPr/>
          <p:nvPr/>
        </p:nvSpPr>
        <p:spPr>
          <a:xfrm>
            <a:off x="9386316" y="17373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6" name="Shape 20"/>
          <p:cNvSpPr/>
          <p:nvPr/>
        </p:nvSpPr>
        <p:spPr>
          <a:xfrm>
            <a:off x="10053828" y="1865376"/>
            <a:ext cx="493776" cy="49377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7" name="Image 4" descr="/home/claude/urbanpulse/icons/powerbi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2210" y="1993758"/>
            <a:ext cx="237012" cy="2370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86316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3246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CONNECTION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directly to MySQL — no manual export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keeps dashboards in sync with ETL loads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relationships carry over into the Power BI data model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build visuals on governed, pre-cleaned data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373368" y="3355848"/>
            <a:ext cx="5175504" cy="2194560"/>
          </a:xfrm>
          <a:prstGeom prst="rect">
            <a:avLst/>
          </a:prstGeom>
          <a:solidFill>
            <a:srgbClr val="10163B"/>
          </a:solidFill>
          <a:ln w="12700">
            <a:solidFill>
              <a:srgbClr val="2C3878"/>
            </a:solidFill>
            <a:prstDash val="dash"/>
          </a:ln>
        </p:spPr>
      </p:sp>
      <p:pic>
        <p:nvPicPr>
          <p:cNvPr id="32" name="Image 5" descr="/home/claude/urbanpulse/icons/chart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4197096"/>
            <a:ext cx="512064" cy="5120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63640" y="55686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connected dashboard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Pipeline &amp;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307592"/>
            <a:ext cx="493776" cy="493776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6" name="Image 0" descr="/home/claude/urbanpulse/icons/bus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50" y="1435974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887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88336" y="1188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</p:sp>
      <p:sp>
        <p:nvSpPr>
          <p:cNvPr id="9" name="Shape 6"/>
          <p:cNvSpPr/>
          <p:nvPr/>
        </p:nvSpPr>
        <p:spPr>
          <a:xfrm>
            <a:off x="2798064" y="1307592"/>
            <a:ext cx="493776" cy="493776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0" name="Image 1" descr="/home/claude/urbanpulse/icons/taxi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446" y="1435974"/>
            <a:ext cx="237012" cy="237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4136" y="11887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28032" y="1188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</p:sp>
      <p:sp>
        <p:nvSpPr>
          <p:cNvPr id="13" name="Shape 9"/>
          <p:cNvSpPr/>
          <p:nvPr/>
        </p:nvSpPr>
        <p:spPr>
          <a:xfrm>
            <a:off x="4937760" y="1307592"/>
            <a:ext cx="493776" cy="493776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4" name="Image 2" descr="/home/claude/urbanpulse/icons/bike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142" y="1435974"/>
            <a:ext cx="237012" cy="2370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13832" y="11887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67728" y="1188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</p:sp>
      <p:sp>
        <p:nvSpPr>
          <p:cNvPr id="17" name="Shape 12"/>
          <p:cNvSpPr/>
          <p:nvPr/>
        </p:nvSpPr>
        <p:spPr>
          <a:xfrm>
            <a:off x="7077456" y="1307592"/>
            <a:ext cx="493776" cy="493776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8" name="Image 3" descr="/home/claude/urbanpulse/icons/weather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838" y="1435974"/>
            <a:ext cx="237012" cy="2370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53528" y="11887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107424" y="1188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</p:sp>
      <p:sp>
        <p:nvSpPr>
          <p:cNvPr id="21" name="Shape 15"/>
          <p:cNvSpPr/>
          <p:nvPr/>
        </p:nvSpPr>
        <p:spPr>
          <a:xfrm>
            <a:off x="9217152" y="1307592"/>
            <a:ext cx="493776" cy="493776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2" name="Image 4" descr="/home/claude/urbanpulse/icons/users_00C2A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534" y="1435974"/>
            <a:ext cx="237012" cy="2370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93224" y="11887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975604" y="1975104"/>
            <a:ext cx="237744" cy="219456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25" name="Shape 18"/>
          <p:cNvSpPr/>
          <p:nvPr/>
        </p:nvSpPr>
        <p:spPr>
          <a:xfrm>
            <a:off x="653796" y="2304288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26" name="Shape 19"/>
          <p:cNvSpPr/>
          <p:nvPr/>
        </p:nvSpPr>
        <p:spPr>
          <a:xfrm>
            <a:off x="1691640" y="2395728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7" name="Image 5" descr="/home/claude/urbanpulse/icons/python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757" y="2509845"/>
            <a:ext cx="210678" cy="21067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3796" y="2880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3195828" y="2688336"/>
            <a:ext cx="219456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0" name="Shape 22"/>
          <p:cNvSpPr/>
          <p:nvPr/>
        </p:nvSpPr>
        <p:spPr>
          <a:xfrm>
            <a:off x="3442716" y="2304288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31" name="Shape 23"/>
          <p:cNvSpPr/>
          <p:nvPr/>
        </p:nvSpPr>
        <p:spPr>
          <a:xfrm>
            <a:off x="4480560" y="2395728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32" name="Image 6" descr="/home/claude/urbanpulse/icons/gear_00C2A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677" y="2509845"/>
            <a:ext cx="210678" cy="21067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442716" y="2880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5984748" y="2688336"/>
            <a:ext cx="219456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5" name="Shape 26"/>
          <p:cNvSpPr/>
          <p:nvPr/>
        </p:nvSpPr>
        <p:spPr>
          <a:xfrm>
            <a:off x="6231636" y="2304288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36" name="Shape 27"/>
          <p:cNvSpPr/>
          <p:nvPr/>
        </p:nvSpPr>
        <p:spPr>
          <a:xfrm>
            <a:off x="7269480" y="239572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7" name="Image 7" descr="/home/claude/urbanpulse/icons/mysql_1E276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597" y="2509845"/>
            <a:ext cx="210678" cy="21067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231636" y="2880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Warehouse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8773668" y="2688336"/>
            <a:ext cx="219456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40" name="Shape 30"/>
          <p:cNvSpPr/>
          <p:nvPr/>
        </p:nvSpPr>
        <p:spPr>
          <a:xfrm>
            <a:off x="9020556" y="2304288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41" name="Shape 31"/>
          <p:cNvSpPr/>
          <p:nvPr/>
        </p:nvSpPr>
        <p:spPr>
          <a:xfrm>
            <a:off x="10058400" y="2395728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42" name="Image 8" descr="/home/claude/urbanpulse/icons/powerbi_00C2A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2517" y="2509845"/>
            <a:ext cx="210678" cy="21067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020556" y="2880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44" name="Text 33"/>
          <p:cNvSpPr/>
          <p:nvPr/>
        </p:nvSpPr>
        <p:spPr>
          <a:xfrm>
            <a:off x="548640" y="3246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548640" y="35661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</p:sp>
      <p:sp>
        <p:nvSpPr>
          <p:cNvPr id="46" name="Shape 35"/>
          <p:cNvSpPr/>
          <p:nvPr/>
        </p:nvSpPr>
        <p:spPr>
          <a:xfrm>
            <a:off x="1243584" y="3730752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47" name="Image 9" descr="/home/claude/urbanpulse/icons/database_00C2A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7701" y="3844869"/>
            <a:ext cx="210678" cy="21067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4008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</a:t>
            </a:r>
            <a:endParaRPr lang="en-US" sz="1050" dirty="0"/>
          </a:p>
        </p:txBody>
      </p:sp>
      <p:sp>
        <p:nvSpPr>
          <p:cNvPr id="49" name="Shape 37"/>
          <p:cNvSpPr/>
          <p:nvPr/>
        </p:nvSpPr>
        <p:spPr>
          <a:xfrm>
            <a:off x="2514600" y="35661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</p:sp>
      <p:sp>
        <p:nvSpPr>
          <p:cNvPr id="50" name="Shape 38"/>
          <p:cNvSpPr/>
          <p:nvPr/>
        </p:nvSpPr>
        <p:spPr>
          <a:xfrm>
            <a:off x="3209544" y="3730752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1" name="Image 10" descr="/home/claude/urbanpulse/icons/gear_00C2A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3661" y="3844869"/>
            <a:ext cx="210678" cy="21067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260604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</a:t>
            </a:r>
            <a:endParaRPr lang="en-US" sz="1050" dirty="0"/>
          </a:p>
        </p:txBody>
      </p:sp>
      <p:sp>
        <p:nvSpPr>
          <p:cNvPr id="53" name="Shape 40"/>
          <p:cNvSpPr/>
          <p:nvPr/>
        </p:nvSpPr>
        <p:spPr>
          <a:xfrm>
            <a:off x="4480560" y="35661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</p:sp>
      <p:sp>
        <p:nvSpPr>
          <p:cNvPr id="54" name="Shape 41"/>
          <p:cNvSpPr/>
          <p:nvPr/>
        </p:nvSpPr>
        <p:spPr>
          <a:xfrm>
            <a:off x="5175504" y="3730752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5" name="Image 11" descr="/home/claude/urbanpulse/icons/layer_00C2A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9621" y="3844869"/>
            <a:ext cx="210678" cy="21067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457200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pipeline</a:t>
            </a:r>
            <a:endParaRPr lang="en-US" sz="1050" dirty="0"/>
          </a:p>
        </p:txBody>
      </p:sp>
      <p:sp>
        <p:nvSpPr>
          <p:cNvPr id="57" name="Shape 43"/>
          <p:cNvSpPr/>
          <p:nvPr/>
        </p:nvSpPr>
        <p:spPr>
          <a:xfrm>
            <a:off x="6446520" y="35661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</p:sp>
      <p:sp>
        <p:nvSpPr>
          <p:cNvPr id="58" name="Shape 44"/>
          <p:cNvSpPr/>
          <p:nvPr/>
        </p:nvSpPr>
        <p:spPr>
          <a:xfrm>
            <a:off x="7141464" y="3730752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9" name="Image 12" descr="/home/claude/urbanpulse/icons/code_00C2A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5581" y="3844869"/>
            <a:ext cx="210678" cy="210678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653796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ETL</a:t>
            </a:r>
            <a:endParaRPr lang="en-US" sz="1050" dirty="0"/>
          </a:p>
        </p:txBody>
      </p:sp>
      <p:sp>
        <p:nvSpPr>
          <p:cNvPr id="61" name="Shape 46"/>
          <p:cNvSpPr/>
          <p:nvPr/>
        </p:nvSpPr>
        <p:spPr>
          <a:xfrm>
            <a:off x="8412480" y="35661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</p:sp>
      <p:sp>
        <p:nvSpPr>
          <p:cNvPr id="62" name="Shape 47"/>
          <p:cNvSpPr/>
          <p:nvPr/>
        </p:nvSpPr>
        <p:spPr>
          <a:xfrm>
            <a:off x="9107424" y="3730752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63" name="Image 13" descr="/home/claude/urbanpulse/icons/chart_00C2A8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1541" y="3844869"/>
            <a:ext cx="210678" cy="210678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850392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analytics</a:t>
            </a:r>
            <a:endParaRPr lang="en-US" sz="1050" dirty="0"/>
          </a:p>
        </p:txBody>
      </p:sp>
      <p:sp>
        <p:nvSpPr>
          <p:cNvPr id="65" name="Shape 49"/>
          <p:cNvSpPr/>
          <p:nvPr/>
        </p:nvSpPr>
        <p:spPr>
          <a:xfrm>
            <a:off x="10378440" y="35661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</p:sp>
      <p:sp>
        <p:nvSpPr>
          <p:cNvPr id="66" name="Shape 50"/>
          <p:cNvSpPr/>
          <p:nvPr/>
        </p:nvSpPr>
        <p:spPr>
          <a:xfrm>
            <a:off x="11073384" y="3730752"/>
            <a:ext cx="438912" cy="438912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67" name="Image 14" descr="/home/claude/urbanpulse/icons/brain_00C2A8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87501" y="3844869"/>
            <a:ext cx="210678" cy="210678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1046988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forecasting</a:t>
            </a:r>
            <a:endParaRPr lang="en-US" sz="1050" dirty="0"/>
          </a:p>
        </p:txBody>
      </p:sp>
      <p:sp>
        <p:nvSpPr>
          <p:cNvPr id="69" name="Text 52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21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&amp;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Proven Open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1947672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8" name="Image 0" descr="/home/claude/urbanpulse/icons/python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090318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6517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65960" y="17830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11" name="Shape 8"/>
          <p:cNvSpPr/>
          <p:nvPr/>
        </p:nvSpPr>
        <p:spPr>
          <a:xfrm>
            <a:off x="2340864" y="1947672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2" name="Image 1" descr="/home/claude/urbanpulse/icons/code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10" y="209031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6517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83280" y="17830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15" name="Shape 11"/>
          <p:cNvSpPr/>
          <p:nvPr/>
        </p:nvSpPr>
        <p:spPr>
          <a:xfrm>
            <a:off x="3758184" y="1947672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6" name="Image 2" descr="/home/claude/urbanpulse/icons/link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830" y="209031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29000" y="26517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00600" y="17830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19" name="Shape 14"/>
          <p:cNvSpPr/>
          <p:nvPr/>
        </p:nvSpPr>
        <p:spPr>
          <a:xfrm>
            <a:off x="5175504" y="1947672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0" name="Image 3" descr="/home/claude/urbanpulse/icons/api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50" y="2090318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46320" y="26517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48640" y="3182112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23" name="Shape 17"/>
          <p:cNvSpPr/>
          <p:nvPr/>
        </p:nvSpPr>
        <p:spPr>
          <a:xfrm>
            <a:off x="923544" y="3346704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4" name="Image 4" descr="/home/claude/urbanpulse/icons/mysql_00C2A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" y="3489350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4360" y="405079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1965960" y="3182112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27" name="Shape 20"/>
          <p:cNvSpPr/>
          <p:nvPr/>
        </p:nvSpPr>
        <p:spPr>
          <a:xfrm>
            <a:off x="2340864" y="3346704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8" name="Image 5" descr="/home/claude/urbanpulse/icons/database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510" y="3489350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011680" y="405079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383280" y="3182112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31" name="Shape 23"/>
          <p:cNvSpPr/>
          <p:nvPr/>
        </p:nvSpPr>
        <p:spPr>
          <a:xfrm>
            <a:off x="3758184" y="3346704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32" name="Image 6" descr="/home/claude/urbanpulse/icons/powerbi_00C2A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0830" y="3489350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429000" y="405079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800600" y="3182112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35" name="Shape 26"/>
          <p:cNvSpPr/>
          <p:nvPr/>
        </p:nvSpPr>
        <p:spPr>
          <a:xfrm>
            <a:off x="5175504" y="3346704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36" name="Image 7" descr="/home/claude/urbanpulse/icons/bus_00C2A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8150" y="3489350"/>
            <a:ext cx="263347" cy="263347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846320" y="405079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263640" y="1417320"/>
            <a:ext cx="5376672" cy="4572000"/>
          </a:xfrm>
          <a:prstGeom prst="roundRect">
            <a:avLst>
              <a:gd name="adj" fmla="val 1600"/>
            </a:avLst>
          </a:prstGeom>
          <a:solidFill>
            <a:srgbClr val="141B4D"/>
          </a:solidFill>
          <a:ln/>
        </p:spPr>
      </p:sp>
      <p:sp>
        <p:nvSpPr>
          <p:cNvPr id="39" name="Text 29"/>
          <p:cNvSpPr/>
          <p:nvPr/>
        </p:nvSpPr>
        <p:spPr>
          <a:xfrm>
            <a:off x="6583680" y="1691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6583680" y="20116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Warehouse. A Complete City Picture.</a:t>
            </a:r>
            <a:endParaRPr lang="en-US" sz="2000" dirty="0"/>
          </a:p>
        </p:txBody>
      </p:sp>
      <p:sp>
        <p:nvSpPr>
          <p:cNvPr id="41" name="Text 31"/>
          <p:cNvSpPr/>
          <p:nvPr/>
        </p:nvSpPr>
        <p:spPr>
          <a:xfrm>
            <a:off x="6583680" y="288036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integrates transit (GTFS) and non-transit data — ride-hailing, bike-share, weather, and demographics — into one MySQL analytical warehouse. The result is a reusable, scalable ETL pipeline that powers live Power BI dashboards today, and is ready to support forecasting and AI/ML-driven analytics as Urban Pulse grows.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6583680" y="48920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43" name="Image 8" descr="/home/claude/urbanpulse/icons/bus_00C2A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4439" y="5022799"/>
            <a:ext cx="241402" cy="24140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7242048" y="48920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45" name="Image 9" descr="/home/claude/urbanpulse/icons/taxi_00C2A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2807" y="5022799"/>
            <a:ext cx="241402" cy="241402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7900416" y="48920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47" name="Image 10" descr="/home/claude/urbanpulse/icons/bike_00C2A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1175" y="5022799"/>
            <a:ext cx="241402" cy="24140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558784" y="48920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49" name="Image 11" descr="/home/claude/urbanpulse/icons/weather_00C2A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9543" y="5022799"/>
            <a:ext cx="241402" cy="241402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9217152" y="48920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1" name="Image 12" descr="/home/claude/urbanpulse/icons/users_00C2A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47911" y="5022799"/>
            <a:ext cx="241402" cy="241402"/>
          </a:xfrm>
          <a:prstGeom prst="rect">
            <a:avLst/>
          </a:prstGeom>
        </p:spPr>
      </p:pic>
      <p:sp>
        <p:nvSpPr>
          <p:cNvPr id="52" name="Shape 37"/>
          <p:cNvSpPr/>
          <p:nvPr/>
        </p:nvSpPr>
        <p:spPr>
          <a:xfrm>
            <a:off x="9875520" y="48920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3" name="Image 13" descr="/home/claude/urbanpulse/icons/mysql_00C2A8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06279" y="5022799"/>
            <a:ext cx="241402" cy="241402"/>
          </a:xfrm>
          <a:prstGeom prst="rect">
            <a:avLst/>
          </a:prstGeom>
        </p:spPr>
      </p:pic>
      <p:sp>
        <p:nvSpPr>
          <p:cNvPr id="54" name="Shape 38"/>
          <p:cNvSpPr/>
          <p:nvPr/>
        </p:nvSpPr>
        <p:spPr>
          <a:xfrm>
            <a:off x="10533888" y="48920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55" name="Image 14" descr="/home/claude/urbanpulse/icons/powerbi_00C2A8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4647" y="5022799"/>
            <a:ext cx="241402" cy="241402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6583680" y="5532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7" name="Text 40"/>
          <p:cNvSpPr/>
          <p:nvPr/>
        </p:nvSpPr>
        <p:spPr>
          <a:xfrm>
            <a:off x="917143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| 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2026-07-27T18:55:58Z</dcterms:created>
  <dcterms:modified xsi:type="dcterms:W3CDTF">2026-07-27T18:55:58Z</dcterms:modified>
</cp:coreProperties>
</file>